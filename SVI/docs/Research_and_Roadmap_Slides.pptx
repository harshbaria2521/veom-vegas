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777240"/>
          </a:xfrm>
          <a:prstGeom prst="rect">
            <a:avLst/>
          </a:prstGeom>
          <a:noFill/>
          <a:ln w="190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2000" b="1">
                <a:solidFill>
                  <a:srgbClr val="0F172A"/>
                </a:solidFill>
                <a:latin typeface="Arial"/>
              </a:defRPr>
            </a:pPr>
            <a:r>
              <a:t>RESEARCH FOUNDATION &amp; 36-HOUR BUILD ROADMAP</a:t>
            </a:r>
          </a:p>
          <a:p>
            <a:pPr>
              <a:defRPr sz="950" b="0">
                <a:solidFill>
                  <a:srgbClr val="475569"/>
                </a:solidFill>
                <a:latin typeface="Arial"/>
              </a:defRPr>
            </a:pPr>
            <a:r>
              <a:t>Statutory Protections &amp; Multimodal Literature | Rapid Hackathon Execution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320040"/>
            <a:ext cx="1371600" cy="4572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900" b="1">
                <a:solidFill>
                  <a:srgbClr val="0D9488"/>
                </a:solidFill>
              </a:defRPr>
            </a:pPr>
            <a:r>
              <a:t>50/50 SPLIT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5532120" cy="5074920"/>
          </a:xfrm>
          <a:prstGeom prst="roundRect">
            <a:avLst/>
          </a:prstGeom>
          <a:solidFill>
            <a:srgbClr val="F8FAFC"/>
          </a:solidFill>
          <a:ln w="317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16152"/>
            <a:ext cx="5257800" cy="320040"/>
          </a:xfrm>
          <a:prstGeom prst="rect">
            <a:avLst/>
          </a:prstGeom>
          <a:noFill/>
        </p:spPr>
        <p:txBody>
          <a:bodyPr wrap="none" tIns="0" lIns="0" bIns="0" rIns="0">
            <a:spAutoFit/>
          </a:bodyPr>
          <a:lstStyle/>
          <a:p>
            <a:pPr>
              <a:defRPr b="1" sz="1150">
                <a:solidFill>
                  <a:srgbClr val="2563EB"/>
                </a:solidFill>
              </a:defRPr>
            </a:pPr>
            <a:r>
              <a:t>📚 RESEARCH, LEGAL FRAMEWORK &amp; REFERENCES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81912"/>
            <a:ext cx="2578608" cy="208483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73152" rIns="73152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🏛️ Statutory Legislation</a:t>
            </a:r>
          </a:p>
          <a:p>
            <a:pPr>
              <a:spcBef>
                <a:spcPts val="200"/>
              </a:spcBef>
            </a:pPr>
            <a:r>
              <a:rPr b="1" sz="780">
                <a:solidFill>
                  <a:srgbClr val="1E293B"/>
                </a:solidFill>
              </a:rPr>
              <a:t>• PoA Act 1989 / 2015: </a:t>
            </a:r>
            <a:r>
              <a:rPr b="0" sz="720">
                <a:solidFill>
                  <a:srgbClr val="475569"/>
                </a:solidFill>
              </a:rPr>
              <a:t>Offense taxonomy &amp; relief norms (GoI Gazette)</a:t>
            </a:r>
          </a:p>
          <a:p>
            <a:pPr>
              <a:spcBef>
                <a:spcPts val="200"/>
              </a:spcBef>
            </a:pPr>
            <a:r>
              <a:rPr b="1" sz="780">
                <a:solidFill>
                  <a:srgbClr val="1E293B"/>
                </a:solidFill>
              </a:rPr>
              <a:t>• PCR Act 1955: </a:t>
            </a:r>
            <a:r>
              <a:rPr b="0" sz="720">
                <a:solidFill>
                  <a:srgbClr val="475569"/>
                </a:solidFill>
              </a:rPr>
              <a:t>Deterrence against civil discrimination</a:t>
            </a:r>
          </a:p>
          <a:p>
            <a:pPr>
              <a:spcBef>
                <a:spcPts val="200"/>
              </a:spcBef>
            </a:pPr>
            <a:r>
              <a:rPr b="1" sz="780">
                <a:solidFill>
                  <a:srgbClr val="1E293B"/>
                </a:solidFill>
              </a:rPr>
              <a:t>• NHAA 14566: </a:t>
            </a:r>
            <a:r>
              <a:rPr b="0" sz="720">
                <a:solidFill>
                  <a:srgbClr val="475569"/>
                </a:solidFill>
              </a:rPr>
              <a:t>National helpline SOPs &amp; grievance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73552" y="1581912"/>
            <a:ext cx="2578608" cy="208483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73152" rIns="73152"/>
          <a:lstStyle/>
          <a:p>
            <a:pPr algn="ctr">
              <a:defRPr sz="950" b="1">
                <a:solidFill>
                  <a:srgbClr val="0D9488"/>
                </a:solidFill>
              </a:defRPr>
            </a:pPr>
            <a:r>
              <a:t>🏥 Clinical &amp; Privacy</a:t>
            </a:r>
          </a:p>
          <a:p>
            <a:pPr>
              <a:spcBef>
                <a:spcPts val="200"/>
              </a:spcBef>
            </a:pPr>
            <a:r>
              <a:rPr b="1" sz="780">
                <a:solidFill>
                  <a:srgbClr val="1E293B"/>
                </a:solidFill>
              </a:rPr>
              <a:t>• Tele-MANAS: </a:t>
            </a:r>
            <a:r>
              <a:rPr b="0" sz="720">
                <a:solidFill>
                  <a:srgbClr val="475569"/>
                </a:solidFill>
              </a:rPr>
              <a:t>National crisis triage &amp; referral (14416)</a:t>
            </a:r>
          </a:p>
          <a:p>
            <a:pPr>
              <a:spcBef>
                <a:spcPts val="200"/>
              </a:spcBef>
            </a:pPr>
            <a:r>
              <a:rPr b="1" sz="780">
                <a:solidFill>
                  <a:srgbClr val="1E293B"/>
                </a:solidFill>
              </a:rPr>
              <a:t>• Mental Health Act 2017: </a:t>
            </a:r>
            <a:r>
              <a:rPr b="0" sz="720">
                <a:solidFill>
                  <a:srgbClr val="475569"/>
                </a:solidFill>
              </a:rPr>
              <a:t>Sec 115 suicide decriminalization</a:t>
            </a:r>
          </a:p>
          <a:p>
            <a:pPr>
              <a:spcBef>
                <a:spcPts val="200"/>
              </a:spcBef>
            </a:pPr>
            <a:r>
              <a:rPr b="1" sz="780">
                <a:solidFill>
                  <a:srgbClr val="1E293B"/>
                </a:solidFill>
              </a:rPr>
              <a:t>• DPDP Act 2023: </a:t>
            </a:r>
            <a:r>
              <a:rPr b="0" sz="720">
                <a:solidFill>
                  <a:srgbClr val="475569"/>
                </a:solidFill>
              </a:rPr>
              <a:t>Dual consent &amp; zero voice retention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739896"/>
            <a:ext cx="2578608" cy="208483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73152" rIns="73152"/>
          <a:lstStyle/>
          <a:p>
            <a:pPr algn="ctr">
              <a:defRPr sz="950" b="1">
                <a:solidFill>
                  <a:srgbClr val="7C3AED"/>
                </a:solidFill>
              </a:defRPr>
            </a:pPr>
            <a:r>
              <a:t>🧠 NLP &amp; Clinical LLM</a:t>
            </a:r>
          </a:p>
          <a:p>
            <a:pPr>
              <a:spcBef>
                <a:spcPts val="200"/>
              </a:spcBef>
            </a:pPr>
            <a:r>
              <a:rPr b="1" sz="780">
                <a:solidFill>
                  <a:srgbClr val="1E293B"/>
                </a:solidFill>
              </a:rPr>
              <a:t>• RoBERTa / DistilBERT: </a:t>
            </a:r>
            <a:r>
              <a:rPr b="0" sz="720">
                <a:solidFill>
                  <a:srgbClr val="475569"/>
                </a:solidFill>
              </a:rPr>
              <a:t>Emotion &amp; distress text classification</a:t>
            </a:r>
          </a:p>
          <a:p>
            <a:pPr>
              <a:spcBef>
                <a:spcPts val="200"/>
              </a:spcBef>
            </a:pPr>
            <a:r>
              <a:rPr b="1" sz="780">
                <a:solidFill>
                  <a:srgbClr val="1E293B"/>
                </a:solidFill>
              </a:rPr>
              <a:t>• IndicBERT &amp; MuRIL: </a:t>
            </a:r>
            <a:r>
              <a:rPr b="0" sz="720">
                <a:solidFill>
                  <a:srgbClr val="475569"/>
                </a:solidFill>
              </a:rPr>
              <a:t>Indian multilingual embeddings</a:t>
            </a:r>
          </a:p>
          <a:p>
            <a:pPr>
              <a:spcBef>
                <a:spcPts val="200"/>
              </a:spcBef>
            </a:pPr>
            <a:r>
              <a:rPr b="1" sz="780">
                <a:solidFill>
                  <a:srgbClr val="1E293B"/>
                </a:solidFill>
              </a:rPr>
              <a:t>• MedGemma &amp; ReAct: </a:t>
            </a:r>
            <a:r>
              <a:rPr b="0" sz="720">
                <a:solidFill>
                  <a:srgbClr val="475569"/>
                </a:solidFill>
              </a:rPr>
              <a:t>Clinical grounding &amp; LangGraph SOS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3739896"/>
            <a:ext cx="2578608" cy="208483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73152" rIns="73152"/>
          <a:lstStyle/>
          <a:p>
            <a:pPr algn="ctr">
              <a:defRPr sz="950" b="1">
                <a:solidFill>
                  <a:srgbClr val="D97706"/>
                </a:solidFill>
              </a:defRPr>
            </a:pPr>
            <a:r>
              <a:t>🎙️ Speech &amp; Prosody</a:t>
            </a:r>
          </a:p>
          <a:p>
            <a:pPr>
              <a:spcBef>
                <a:spcPts val="200"/>
              </a:spcBef>
            </a:pPr>
            <a:r>
              <a:rPr b="1" sz="780">
                <a:solidFill>
                  <a:srgbClr val="1E293B"/>
                </a:solidFill>
              </a:rPr>
              <a:t>• Whisper STT: </a:t>
            </a:r>
            <a:r>
              <a:rPr b="0" sz="720">
                <a:solidFill>
                  <a:srgbClr val="475569"/>
                </a:solidFill>
              </a:rPr>
              <a:t>Noise-resilient speech transcription</a:t>
            </a:r>
          </a:p>
          <a:p>
            <a:pPr>
              <a:spcBef>
                <a:spcPts val="200"/>
              </a:spcBef>
            </a:pPr>
            <a:r>
              <a:rPr b="1" sz="780">
                <a:solidFill>
                  <a:srgbClr val="1E293B"/>
                </a:solidFill>
              </a:rPr>
              <a:t>• Librosa Biomarkers: </a:t>
            </a:r>
            <a:r>
              <a:rPr b="0" sz="720">
                <a:solidFill>
                  <a:srgbClr val="475569"/>
                </a:solidFill>
              </a:rPr>
              <a:t>Pitch (F0), jitter &amp; vocal tremor</a:t>
            </a:r>
          </a:p>
          <a:p>
            <a:pPr>
              <a:spcBef>
                <a:spcPts val="200"/>
              </a:spcBef>
            </a:pPr>
            <a:r>
              <a:rPr b="1" sz="780">
                <a:solidFill>
                  <a:srgbClr val="1E293B"/>
                </a:solidFill>
              </a:rPr>
              <a:t>• Late Fusion: </a:t>
            </a:r>
            <a:r>
              <a:rPr b="0" sz="720">
                <a:solidFill>
                  <a:srgbClr val="475569"/>
                </a:solidFill>
              </a:rPr>
              <a:t>Weighted 40% Audio + 60% NLP fusion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879592"/>
            <a:ext cx="5312664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780" b="1">
                <a:solidFill>
                  <a:srgbClr val="CBD5E1"/>
                </a:solidFill>
              </a:defRPr>
            </a:pPr>
            <a:r>
              <a:t>🛡️ Validated: 4 Statutory Acts &amp; Helplines  |  6 Peer-Reviewed AI Citations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143000"/>
            <a:ext cx="5532120" cy="5074920"/>
          </a:xfrm>
          <a:prstGeom prst="roundRect">
            <a:avLst/>
          </a:prstGeom>
          <a:solidFill>
            <a:srgbClr val="F8FAFC"/>
          </a:solidFill>
          <a:ln w="317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16152"/>
            <a:ext cx="5257800" cy="320040"/>
          </a:xfrm>
          <a:prstGeom prst="rect">
            <a:avLst/>
          </a:prstGeom>
          <a:noFill/>
        </p:spPr>
        <p:txBody>
          <a:bodyPr wrap="none" tIns="0" lIns="0" bIns="0" rIns="0">
            <a:spAutoFit/>
          </a:bodyPr>
          <a:lstStyle/>
          <a:p>
            <a:pPr>
              <a:defRPr b="1" sz="1150">
                <a:solidFill>
                  <a:srgbClr val="0D9488"/>
                </a:solidFill>
              </a:defRPr>
            </a:pPr>
            <a:r>
              <a:t>⏱️ 36-HOUR HACKATHON BUILD ROADMAP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8" y="1581912"/>
            <a:ext cx="2578608" cy="13533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bIns="36576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H 00 – 06 | Foundation &amp; Security</a:t>
            </a:r>
          </a:p>
          <a:p>
            <a:pPr>
              <a:defRPr sz="720">
                <a:solidFill>
                  <a:srgbClr val="1E293B"/>
                </a:solidFill>
              </a:defRPr>
            </a:pPr>
            <a:r>
              <a:t>• Next.js 14 + FastAPI setup</a:t>
            </a:r>
          </a:p>
          <a:p>
            <a:pPr>
              <a:defRPr sz="720">
                <a:solidFill>
                  <a:srgbClr val="1E293B"/>
                </a:solidFill>
              </a:defRPr>
            </a:pPr>
            <a:r>
              <a:t>• DPDP consent modal &amp; PII filter</a:t>
            </a:r>
          </a:p>
          <a:p>
            <a:pPr>
              <a:defRPr sz="720">
                <a:solidFill>
                  <a:srgbClr val="1E293B"/>
                </a:solidFill>
              </a:defRPr>
            </a:pPr>
            <a:r>
              <a:t>• Twilio dialer sandbox init</a:t>
            </a:r>
          </a:p>
          <a:p>
            <a:pPr algn="ctr">
              <a:defRPr sz="750" b="1">
                <a:solidFill>
                  <a:srgbClr val="2563EB"/>
                </a:solidFill>
              </a:defRPr>
            </a:pPr>
            <a:r>
              <a:t>🚩 M1: Audio Bridge Live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88552" y="1581912"/>
            <a:ext cx="2578608" cy="13533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bIns="36576"/>
          <a:lstStyle/>
          <a:p>
            <a:pPr algn="ctr">
              <a:defRPr sz="850" b="1">
                <a:solidFill>
                  <a:srgbClr val="0D9488"/>
                </a:solidFill>
              </a:defRPr>
            </a:pPr>
            <a:r>
              <a:t>H 06 – 12 | Dual AI Pipeline</a:t>
            </a:r>
          </a:p>
          <a:p>
            <a:pPr>
              <a:defRPr sz="720">
                <a:solidFill>
                  <a:srgbClr val="1E293B"/>
                </a:solidFill>
              </a:defRPr>
            </a:pPr>
            <a:r>
              <a:t>• Whisper STT speech stream</a:t>
            </a:r>
          </a:p>
          <a:p>
            <a:pPr>
              <a:defRPr sz="720">
                <a:solidFill>
                  <a:srgbClr val="1E293B"/>
                </a:solidFill>
              </a:defRPr>
            </a:pPr>
            <a:r>
              <a:t>• Librosa pitch &amp; jitter extractor</a:t>
            </a:r>
          </a:p>
          <a:p>
            <a:pPr>
              <a:defRPr sz="720">
                <a:solidFill>
                  <a:srgbClr val="1E293B"/>
                </a:solidFill>
              </a:defRPr>
            </a:pPr>
            <a:r>
              <a:t>• RoBERTa distress classifier</a:t>
            </a:r>
          </a:p>
          <a:p>
            <a:pPr algn="ctr">
              <a:defRPr sz="750" b="1">
                <a:solidFill>
                  <a:srgbClr val="0D9488"/>
                </a:solidFill>
              </a:defRPr>
            </a:pPr>
            <a:r>
              <a:t>🚩 M2: Core AI Active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3008376"/>
            <a:ext cx="2578608" cy="13533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bIns="36576"/>
          <a:lstStyle/>
          <a:p>
            <a:pPr algn="ctr">
              <a:defRPr sz="850" b="1">
                <a:solidFill>
                  <a:srgbClr val="7C3AED"/>
                </a:solidFill>
              </a:defRPr>
            </a:pPr>
            <a:r>
              <a:t>H 12 – 18 | Decision Fusion</a:t>
            </a:r>
          </a:p>
          <a:p>
            <a:pPr>
              <a:defRPr sz="720">
                <a:solidFill>
                  <a:srgbClr val="1E293B"/>
                </a:solidFill>
              </a:defRPr>
            </a:pPr>
            <a:r>
              <a:t>• Multimodal fusion (40% A + 60% T)</a:t>
            </a:r>
          </a:p>
          <a:p>
            <a:pPr>
              <a:defRPr sz="720">
                <a:solidFill>
                  <a:srgbClr val="1E293B"/>
                </a:solidFill>
              </a:defRPr>
            </a:pPr>
            <a:r>
              <a:t>• Dynamic 0-100 Trauma Index</a:t>
            </a:r>
          </a:p>
          <a:p>
            <a:pPr>
              <a:defRPr sz="720">
                <a:solidFill>
                  <a:srgbClr val="1E293B"/>
                </a:solidFill>
              </a:defRPr>
            </a:pPr>
            <a:r>
              <a:t>• Severity tier thresholding</a:t>
            </a:r>
          </a:p>
          <a:p>
            <a:pPr algn="ctr">
              <a:defRPr sz="750" b="1">
                <a:solidFill>
                  <a:srgbClr val="7C3AED"/>
                </a:solidFill>
              </a:defRPr>
            </a:pPr>
            <a:r>
              <a:t>🚩 M3: Risk Engine Tested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8552" y="3008376"/>
            <a:ext cx="2578608" cy="13533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bIns="36576"/>
          <a:lstStyle/>
          <a:p>
            <a:pPr algn="ctr">
              <a:defRPr sz="850" b="1">
                <a:solidFill>
                  <a:srgbClr val="EA580C"/>
                </a:solidFill>
              </a:defRPr>
            </a:pPr>
            <a:r>
              <a:t>H 18 – 24 | Agent &amp; Auto-SOS</a:t>
            </a:r>
          </a:p>
          <a:p>
            <a:pPr>
              <a:defRPr sz="720">
                <a:solidFill>
                  <a:srgbClr val="1E293B"/>
                </a:solidFill>
              </a:defRPr>
            </a:pPr>
            <a:r>
              <a:t>• LangGraph ReAct + MedGemma</a:t>
            </a:r>
          </a:p>
          <a:p>
            <a:pPr>
              <a:defRPr sz="720">
                <a:solidFill>
                  <a:srgbClr val="1E293B"/>
                </a:solidFill>
              </a:defRPr>
            </a:pPr>
            <a:r>
              <a:t>• Twilio 112 emergency auto-dial</a:t>
            </a:r>
          </a:p>
          <a:p>
            <a:pPr>
              <a:defRPr sz="720">
                <a:solidFill>
                  <a:srgbClr val="1E293B"/>
                </a:solidFill>
              </a:defRPr>
            </a:pPr>
            <a:r>
              <a:t>• Nearby NGO &amp; therapist lookup</a:t>
            </a:r>
          </a:p>
          <a:p>
            <a:pPr algn="ctr">
              <a:defRPr sz="750" b="1">
                <a:solidFill>
                  <a:srgbClr val="EA580C"/>
                </a:solidFill>
              </a:defRPr>
            </a:pPr>
            <a:r>
              <a:t>🚩 M4: Autonomous SOS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4434840"/>
            <a:ext cx="2578608" cy="13533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bIns="36576"/>
          <a:lstStyle/>
          <a:p>
            <a:pPr algn="ctr">
              <a:defRPr sz="850" b="1">
                <a:solidFill>
                  <a:srgbClr val="4F46E5"/>
                </a:solidFill>
              </a:defRPr>
            </a:pPr>
            <a:r>
              <a:t>H 24 – 30 | Counsellor Portal</a:t>
            </a:r>
          </a:p>
          <a:p>
            <a:pPr>
              <a:defRPr sz="720">
                <a:solidFill>
                  <a:srgbClr val="1E293B"/>
                </a:solidFill>
              </a:defRPr>
            </a:pPr>
            <a:r>
              <a:t>• Live WebSockets triage queue</a:t>
            </a:r>
          </a:p>
          <a:p>
            <a:pPr>
              <a:defRPr sz="720">
                <a:solidFill>
                  <a:srgbClr val="1E293B"/>
                </a:solidFill>
              </a:defRPr>
            </a:pPr>
            <a:r>
              <a:t>• Acoustic stress meter &amp; PoA tags</a:t>
            </a:r>
          </a:p>
          <a:p>
            <a:pPr>
              <a:defRPr sz="720">
                <a:solidFill>
                  <a:srgbClr val="1E293B"/>
                </a:solidFill>
              </a:defRPr>
            </a:pPr>
            <a:r>
              <a:t>• 1-Click counselor override</a:t>
            </a:r>
          </a:p>
          <a:p>
            <a:pPr algn="ctr">
              <a:defRPr sz="750" b="1">
                <a:solidFill>
                  <a:srgbClr val="4F46E5"/>
                </a:solidFill>
              </a:defRPr>
            </a:pPr>
            <a:r>
              <a:t>🚩 M5: Human-in-Loop UI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88552" y="4434840"/>
            <a:ext cx="2578608" cy="13533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bIns="36576"/>
          <a:lstStyle/>
          <a:p>
            <a:pPr algn="ctr">
              <a:defRPr sz="850" b="1">
                <a:solidFill>
                  <a:srgbClr val="16A34A"/>
                </a:solidFill>
              </a:defRPr>
            </a:pPr>
            <a:r>
              <a:t>H 30 – 36 | Testing &amp; Finale</a:t>
            </a:r>
          </a:p>
          <a:p>
            <a:pPr>
              <a:defRPr sz="720">
                <a:solidFill>
                  <a:srgbClr val="1E293B"/>
                </a:solidFill>
              </a:defRPr>
            </a:pPr>
            <a:r>
              <a:t>• Noisy audio stress test</a:t>
            </a:r>
          </a:p>
          <a:p>
            <a:pPr>
              <a:defRPr sz="720">
                <a:solidFill>
                  <a:srgbClr val="1E293B"/>
                </a:solidFill>
              </a:defRPr>
            </a:pPr>
            <a:r>
              <a:t>• Zero-storage DPDP privacy audit</a:t>
            </a:r>
          </a:p>
          <a:p>
            <a:pPr>
              <a:defRPr sz="720">
                <a:solidFill>
                  <a:srgbClr val="1E293B"/>
                </a:solidFill>
              </a:defRPr>
            </a:pPr>
            <a:r>
              <a:t>• Live demo rehearsal &amp; pitch</a:t>
            </a:r>
          </a:p>
          <a:p>
            <a:pPr algn="ctr">
              <a:defRPr sz="750" b="1">
                <a:solidFill>
                  <a:srgbClr val="16A34A"/>
                </a:solidFill>
              </a:defRPr>
            </a:pPr>
            <a:r>
              <a:t>🏆 M6: Grand Finale Ready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81928" y="5879592"/>
            <a:ext cx="5312664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780" b="1">
                <a:solidFill>
                  <a:srgbClr val="38BDF8"/>
                </a:solidFill>
              </a:defRPr>
            </a:pPr>
            <a:r>
              <a:t>🎯 Key Gates: H12 (Audio MVP)  •  H24 (Agent SOS)  •  H30 (Portal)  •  H36 (Pitch)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327648"/>
            <a:ext cx="112772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50" b="1">
                <a:solidFill>
                  <a:srgbClr val="CBD5E1"/>
                </a:solidFill>
              </a:defRPr>
            </a:pPr>
            <a:r>
              <a:t>SVI Production Stack: Next.js 14 • FastAPI • Whisper • Librosa • RoBERTa • MedGemma • DPDP Act 2023 Compliant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777240"/>
          </a:xfrm>
          <a:prstGeom prst="rect">
            <a:avLst/>
          </a:prstGeom>
          <a:noFill/>
          <a:ln w="190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2000" b="1">
                <a:solidFill>
                  <a:srgbClr val="0F172A"/>
                </a:solidFill>
                <a:latin typeface="Arial"/>
              </a:defRPr>
            </a:pPr>
            <a:r>
              <a:t>36-HOUR SPRINT PROGRESSION: LINE GRAPH TIMELINE</a:t>
            </a:r>
          </a:p>
          <a:p>
            <a:pPr>
              <a:defRPr sz="950" b="0">
                <a:solidFill>
                  <a:srgbClr val="475569"/>
                </a:solidFill>
                <a:latin typeface="Arial"/>
              </a:defRPr>
            </a:pPr>
            <a:r>
              <a:t>Ascending Technical Progress Curve from Monorepo Setup to Grand Finale Demo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320040"/>
            <a:ext cx="1371600" cy="4572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900" b="1">
                <a:solidFill>
                  <a:srgbClr val="0D9488"/>
                </a:solidFill>
              </a:defRPr>
            </a:pPr>
            <a:r>
              <a:t>LINE GRAPH</a:t>
            </a:r>
          </a:p>
        </p:txBody>
      </p:sp>
      <p:pic>
        <p:nvPicPr>
          <p:cNvPr id="4" name="Picture 3" descr="roadmap_line_grap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525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
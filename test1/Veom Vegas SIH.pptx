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notesSlides/notesSlide6.xml" ContentType="application/vnd.openxmlformats-officedocument.presentationml.notes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15611"/>
    <p:restoredTop sz="94610"/>
  </p:normalViewPr>
  <p:slideViewPr>
    <p:cSldViewPr snapToGrid="0" snapToObjects="1">
      <p:cViewPr varScale="1">
        <p:scale>
          <a:sx n="94" d="100"/>
          <a:sy n="94" d="100"/>
        </p:scale>
        <p:origin x="-931" y="-6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760720" y="502920"/>
            <a:ext cx="1920240" cy="2194560"/>
          </a:xfrm>
          <a:prstGeom prst="hexagon">
            <a:avLst/>
          </a:prstGeom>
          <a:solidFill>
            <a:srgbClr val="E7E7E7">
              <a:alpha val="60000"/>
            </a:srgbClr>
          </a:solidFill>
          <a:ln/>
        </p:spPr>
      </p:sp>
      <p:sp>
        <p:nvSpPr>
          <p:cNvPr id="3" name="Shape 1"/>
          <p:cNvSpPr/>
          <p:nvPr/>
        </p:nvSpPr>
        <p:spPr>
          <a:xfrm>
            <a:off x="4572000" y="2377440"/>
            <a:ext cx="1463040" cy="1691640"/>
          </a:xfrm>
          <a:prstGeom prst="hexagon">
            <a:avLst/>
          </a:prstGeom>
          <a:solidFill>
            <a:srgbClr val="E7E7E7">
              <a:alpha val="45000"/>
            </a:srgbClr>
          </a:solidFill>
          <a:ln/>
        </p:spPr>
      </p:sp>
      <p:sp>
        <p:nvSpPr>
          <p:cNvPr id="7" name="Text 5"/>
          <p:cNvSpPr txBox="1"/>
          <p:nvPr/>
        </p:nvSpPr>
        <p:spPr>
          <a:xfrm>
            <a:off x="8595360" y="4023360"/>
            <a:ext cx="2011680" cy="274320"/>
          </a:xfrm>
          <a:prstGeom prst="rect">
            <a:avLst/>
          </a:prstGeom>
          <a:noFill/>
          <a:ln/>
        </p:spPr>
        <p:txBody>
          <a:bodyPr wrap="square" lIns="0" tIns="0" rIns="0" bIns="0" rtlCol="0" anchor="ctr"/>
          <a:lstStyle/>
          <a:p>
            <a:pPr marL="0" indent="0" algn="ctr">
              <a:buNone/>
            </a:pPr>
            <a:endParaRPr lang="en-US" sz="1200" dirty="0"/>
          </a:p>
        </p:txBody>
      </p:sp>
      <p:sp>
        <p:nvSpPr>
          <p:cNvPr id="8" name="Text 6"/>
          <p:cNvSpPr txBox="1"/>
          <p:nvPr/>
        </p:nvSpPr>
        <p:spPr>
          <a:xfrm>
            <a:off x="1005840" y="320040"/>
            <a:ext cx="8778240" cy="640080"/>
          </a:xfrm>
          <a:prstGeom prst="rect">
            <a:avLst/>
          </a:prstGeom>
          <a:noFill/>
          <a:ln/>
        </p:spPr>
        <p:txBody>
          <a:bodyPr wrap="square" lIns="0" tIns="0" rIns="0" bIns="0" rtlCol="0" anchor="ctr"/>
          <a:lstStyle/>
          <a:p>
            <a:pPr marL="0" indent="0" algn="l">
              <a:buNone/>
            </a:pPr>
            <a:r>
              <a:rPr lang="en-US" sz="4000" b="1" dirty="0">
                <a:solidFill>
                  <a:schemeClr val="accent1">
                    <a:lumMod val="75000"/>
                  </a:schemeClr>
                </a:solidFill>
                <a:latin typeface="Bahnschrift Light" pitchFamily="34" charset="0"/>
                <a:ea typeface="Times New Roman" pitchFamily="34" charset="-122"/>
                <a:cs typeface="Times New Roman" pitchFamily="34" charset="-120"/>
              </a:rPr>
              <a:t>SMART INDIA HACKATHON </a:t>
            </a:r>
            <a:r>
              <a:rPr lang="en-US" sz="4000" b="1" dirty="0" smtClean="0">
                <a:solidFill>
                  <a:schemeClr val="accent1">
                    <a:lumMod val="75000"/>
                  </a:schemeClr>
                </a:solidFill>
                <a:latin typeface="Bahnschrift Light" pitchFamily="34" charset="0"/>
                <a:ea typeface="Times New Roman" pitchFamily="34" charset="-122"/>
                <a:cs typeface="Times New Roman" pitchFamily="34" charset="-120"/>
              </a:rPr>
              <a:t>2026</a:t>
            </a:r>
            <a:endParaRPr lang="en-US" sz="4000" b="1" dirty="0">
              <a:solidFill>
                <a:schemeClr val="accent1">
                  <a:lumMod val="75000"/>
                </a:schemeClr>
              </a:solidFill>
              <a:latin typeface="Bahnschrift Light" pitchFamily="34" charset="0"/>
            </a:endParaRPr>
          </a:p>
        </p:txBody>
      </p:sp>
      <p:sp>
        <p:nvSpPr>
          <p:cNvPr id="12" name="Text 10"/>
          <p:cNvSpPr txBox="1"/>
          <p:nvPr/>
        </p:nvSpPr>
        <p:spPr>
          <a:xfrm>
            <a:off x="10561320" y="896112"/>
            <a:ext cx="1005840" cy="182880"/>
          </a:xfrm>
          <a:prstGeom prst="rect">
            <a:avLst/>
          </a:prstGeom>
          <a:noFill/>
          <a:ln/>
        </p:spPr>
        <p:txBody>
          <a:bodyPr wrap="square" lIns="0" tIns="0" rIns="0" bIns="0" rtlCol="0" anchor="ctr"/>
          <a:lstStyle/>
          <a:p>
            <a:pPr marL="0" indent="0" algn="ctr">
              <a:buNone/>
            </a:pPr>
            <a:endParaRPr lang="en-US" sz="700" dirty="0"/>
          </a:p>
        </p:txBody>
      </p:sp>
      <p:sp>
        <p:nvSpPr>
          <p:cNvPr id="13" name="Text 11"/>
          <p:cNvSpPr txBox="1"/>
          <p:nvPr/>
        </p:nvSpPr>
        <p:spPr>
          <a:xfrm>
            <a:off x="11109960" y="256032"/>
            <a:ext cx="1051560" cy="777240"/>
          </a:xfrm>
          <a:prstGeom prst="rect">
            <a:avLst/>
          </a:prstGeom>
          <a:noFill/>
          <a:ln/>
        </p:spPr>
        <p:txBody>
          <a:bodyPr wrap="square" lIns="0" tIns="0" rIns="0" bIns="0" rtlCol="0" anchor="ctr"/>
          <a:lstStyle/>
          <a:p>
            <a:pPr marL="0" indent="0" algn="l">
              <a:lnSpc>
                <a:spcPct val="100000"/>
              </a:lnSpc>
              <a:buNone/>
            </a:pPr>
            <a:endParaRPr lang="en-US" sz="750" dirty="0"/>
          </a:p>
        </p:txBody>
      </p:sp>
      <p:sp>
        <p:nvSpPr>
          <p:cNvPr id="14" name="Text 12"/>
          <p:cNvSpPr txBox="1"/>
          <p:nvPr/>
        </p:nvSpPr>
        <p:spPr>
          <a:xfrm>
            <a:off x="0" y="1234440"/>
            <a:ext cx="12188952" cy="502920"/>
          </a:xfrm>
          <a:prstGeom prst="rect">
            <a:avLst/>
          </a:prstGeom>
          <a:noFill/>
          <a:ln/>
        </p:spPr>
        <p:txBody>
          <a:bodyPr wrap="square" lIns="0" tIns="0" rIns="0" bIns="0" rtlCol="0" anchor="ctr"/>
          <a:lstStyle/>
          <a:p>
            <a:pPr marL="0" indent="0" algn="ctr">
              <a:buNone/>
            </a:pPr>
            <a:r>
              <a:rPr lang="en-US" sz="2600" b="1" dirty="0">
                <a:solidFill>
                  <a:srgbClr val="000000"/>
                </a:solidFill>
                <a:latin typeface="Times New Roman" pitchFamily="34" charset="0"/>
                <a:ea typeface="Times New Roman" pitchFamily="34" charset="-122"/>
                <a:cs typeface="Times New Roman" pitchFamily="34" charset="-120"/>
              </a:rPr>
              <a:t>TITLE PAGE</a:t>
            </a:r>
            <a:endParaRPr lang="en-US" sz="2600" dirty="0"/>
          </a:p>
        </p:txBody>
      </p:sp>
      <p:sp>
        <p:nvSpPr>
          <p:cNvPr id="15" name="Text 13"/>
          <p:cNvSpPr txBox="1"/>
          <p:nvPr/>
        </p:nvSpPr>
        <p:spPr>
          <a:xfrm>
            <a:off x="685800" y="2057400"/>
            <a:ext cx="7132320" cy="4206240"/>
          </a:xfrm>
          <a:prstGeom prst="rect">
            <a:avLst/>
          </a:prstGeom>
          <a:noFill/>
          <a:ln/>
        </p:spPr>
        <p:txBody>
          <a:bodyPr wrap="square" lIns="0" tIns="0" rIns="0" bIns="0" rtlCol="0" anchor="t"/>
          <a:lstStyle/>
          <a:p>
            <a:pPr marL="342900" indent="-342900">
              <a:spcAft>
                <a:spcPts val="2200"/>
              </a:spcAft>
              <a:buSzPct val="100000"/>
              <a:buChar char="•"/>
            </a:pPr>
            <a:r>
              <a:rPr lang="en-US" sz="2000" b="1" dirty="0">
                <a:solidFill>
                  <a:srgbClr val="000000"/>
                </a:solidFill>
                <a:latin typeface="Arial" pitchFamily="34" charset="0"/>
                <a:ea typeface="Arial" pitchFamily="34" charset="-122"/>
                <a:cs typeface="Arial" pitchFamily="34" charset="-120"/>
              </a:rPr>
              <a:t>Problem Statement ID- </a:t>
            </a:r>
            <a:r>
              <a:rPr lang="en-US" sz="2000" b="1" dirty="0" smtClean="0">
                <a:solidFill>
                  <a:srgbClr val="000000"/>
                </a:solidFill>
                <a:latin typeface="Arial" pitchFamily="34" charset="0"/>
                <a:ea typeface="Arial" pitchFamily="34" charset="-122"/>
                <a:cs typeface="Arial" pitchFamily="34" charset="-120"/>
              </a:rPr>
              <a:t>SIH</a:t>
            </a:r>
            <a:r>
              <a:rPr lang="en-US" sz="2000" b="1" dirty="0" smtClean="0">
                <a:solidFill>
                  <a:srgbClr val="000000"/>
                </a:solidFill>
                <a:latin typeface="Arial" pitchFamily="34" charset="0"/>
                <a:ea typeface="Arial" pitchFamily="34" charset="-122"/>
                <a:cs typeface="Arial" pitchFamily="34" charset="-120"/>
              </a:rPr>
              <a:t>26093</a:t>
            </a:r>
            <a:endParaRPr lang="en-US" sz="2000" dirty="0"/>
          </a:p>
          <a:p>
            <a:pPr marL="342900" indent="-342900">
              <a:spcAft>
                <a:spcPts val="2200"/>
              </a:spcAft>
              <a:buSzPct val="100000"/>
              <a:buChar char="•"/>
            </a:pPr>
            <a:r>
              <a:rPr lang="en-US" sz="2000" b="1" dirty="0">
                <a:solidFill>
                  <a:srgbClr val="000000"/>
                </a:solidFill>
                <a:latin typeface="Arial" pitchFamily="34" charset="0"/>
                <a:ea typeface="Arial" pitchFamily="34" charset="-122"/>
                <a:cs typeface="Arial" pitchFamily="34" charset="-120"/>
              </a:rPr>
              <a:t>Problem Statement </a:t>
            </a:r>
            <a:r>
              <a:rPr lang="en-US" sz="2000" b="1" dirty="0" smtClean="0">
                <a:solidFill>
                  <a:srgbClr val="000000"/>
                </a:solidFill>
                <a:latin typeface="Arial" pitchFamily="34" charset="0"/>
                <a:ea typeface="Arial" pitchFamily="34" charset="-122"/>
                <a:cs typeface="Arial" pitchFamily="34" charset="-120"/>
              </a:rPr>
              <a:t>Title- AI-Based Real-Time Stress and Trauma Assessment Module for Victims/Complainants Accessing NHAA (14566) and Integrated Portal</a:t>
            </a:r>
            <a:endParaRPr lang="en-US" sz="2000" dirty="0"/>
          </a:p>
          <a:p>
            <a:pPr marL="342900" indent="-342900">
              <a:spcAft>
                <a:spcPts val="2200"/>
              </a:spcAft>
              <a:buSzPct val="100000"/>
              <a:buChar char="•"/>
            </a:pPr>
            <a:r>
              <a:rPr lang="en-US" sz="2000" b="1" dirty="0">
                <a:solidFill>
                  <a:srgbClr val="000000"/>
                </a:solidFill>
                <a:latin typeface="Arial" pitchFamily="34" charset="0"/>
                <a:ea typeface="Arial" pitchFamily="34" charset="-122"/>
                <a:cs typeface="Arial" pitchFamily="34" charset="-120"/>
              </a:rPr>
              <a:t>Theme- </a:t>
            </a:r>
            <a:r>
              <a:rPr lang="en-US" sz="2000" b="1" dirty="0" err="1" smtClean="0">
                <a:solidFill>
                  <a:srgbClr val="000000"/>
                </a:solidFill>
                <a:latin typeface="Arial" pitchFamily="34" charset="0"/>
                <a:ea typeface="Arial" pitchFamily="34" charset="-122"/>
                <a:cs typeface="Arial" pitchFamily="34" charset="-120"/>
              </a:rPr>
              <a:t>MedTech</a:t>
            </a:r>
            <a:r>
              <a:rPr lang="en-US" sz="2000" b="1" dirty="0" smtClean="0">
                <a:solidFill>
                  <a:srgbClr val="000000"/>
                </a:solidFill>
                <a:latin typeface="Arial" pitchFamily="34" charset="0"/>
                <a:ea typeface="Arial" pitchFamily="34" charset="-122"/>
                <a:cs typeface="Arial" pitchFamily="34" charset="-120"/>
              </a:rPr>
              <a:t> / </a:t>
            </a:r>
            <a:r>
              <a:rPr lang="en-US" sz="2000" b="1" dirty="0" err="1" smtClean="0">
                <a:solidFill>
                  <a:srgbClr val="000000"/>
                </a:solidFill>
                <a:latin typeface="Arial" pitchFamily="34" charset="0"/>
                <a:ea typeface="Arial" pitchFamily="34" charset="-122"/>
                <a:cs typeface="Arial" pitchFamily="34" charset="-120"/>
              </a:rPr>
              <a:t>BioTech</a:t>
            </a:r>
            <a:r>
              <a:rPr lang="en-US" sz="2000" b="1" dirty="0" smtClean="0">
                <a:solidFill>
                  <a:srgbClr val="000000"/>
                </a:solidFill>
                <a:latin typeface="Arial" pitchFamily="34" charset="0"/>
                <a:ea typeface="Arial" pitchFamily="34" charset="-122"/>
                <a:cs typeface="Arial" pitchFamily="34" charset="-120"/>
              </a:rPr>
              <a:t> / </a:t>
            </a:r>
            <a:r>
              <a:rPr lang="en-US" sz="2000" b="1" dirty="0" err="1" smtClean="0">
                <a:solidFill>
                  <a:srgbClr val="000000"/>
                </a:solidFill>
                <a:latin typeface="Arial" pitchFamily="34" charset="0"/>
                <a:ea typeface="Arial" pitchFamily="34" charset="-122"/>
                <a:cs typeface="Arial" pitchFamily="34" charset="-120"/>
              </a:rPr>
              <a:t>HealthTech</a:t>
            </a:r>
            <a:endParaRPr lang="en-US" sz="2000" dirty="0"/>
          </a:p>
          <a:p>
            <a:pPr marL="342900" indent="-342900">
              <a:spcAft>
                <a:spcPts val="2200"/>
              </a:spcAft>
              <a:buSzPct val="100000"/>
              <a:buChar char="•"/>
            </a:pPr>
            <a:r>
              <a:rPr lang="en-US" sz="2000" b="1" dirty="0">
                <a:solidFill>
                  <a:srgbClr val="000000"/>
                </a:solidFill>
                <a:latin typeface="Arial" pitchFamily="34" charset="0"/>
                <a:ea typeface="Arial" pitchFamily="34" charset="-122"/>
                <a:cs typeface="Arial" pitchFamily="34" charset="-120"/>
              </a:rPr>
              <a:t>PS Category- Software</a:t>
            </a:r>
            <a:endParaRPr lang="en-US" sz="2000" dirty="0"/>
          </a:p>
          <a:p>
            <a:pPr marL="342900" indent="-342900">
              <a:spcAft>
                <a:spcPts val="2200"/>
              </a:spcAft>
              <a:buSzPct val="100000"/>
              <a:buChar char="•"/>
            </a:pPr>
            <a:r>
              <a:rPr lang="en-US" sz="2000" b="1" dirty="0">
                <a:solidFill>
                  <a:srgbClr val="000000"/>
                </a:solidFill>
                <a:latin typeface="Arial" pitchFamily="34" charset="0"/>
                <a:ea typeface="Arial" pitchFamily="34" charset="-122"/>
                <a:cs typeface="Arial" pitchFamily="34" charset="-120"/>
              </a:rPr>
              <a:t>Team ID-</a:t>
            </a:r>
            <a:endParaRPr lang="en-US" sz="2000" dirty="0"/>
          </a:p>
          <a:p>
            <a:pPr marL="342900" indent="-342900">
              <a:spcAft>
                <a:spcPts val="2200"/>
              </a:spcAft>
              <a:buSzPct val="100000"/>
              <a:buChar char="•"/>
            </a:pPr>
            <a:r>
              <a:rPr lang="en-US" sz="2000" b="1" dirty="0">
                <a:solidFill>
                  <a:srgbClr val="000000"/>
                </a:solidFill>
                <a:latin typeface="Arial" pitchFamily="34" charset="0"/>
                <a:ea typeface="Arial" pitchFamily="34" charset="-122"/>
                <a:cs typeface="Arial" pitchFamily="34" charset="-120"/>
              </a:rPr>
              <a:t>Team Name </a:t>
            </a:r>
            <a:r>
              <a:rPr lang="en-US" sz="2000" b="1" dirty="0" smtClean="0">
                <a:solidFill>
                  <a:srgbClr val="000000"/>
                </a:solidFill>
                <a:latin typeface="Arial" pitchFamily="34" charset="0"/>
                <a:ea typeface="Arial" pitchFamily="34" charset="-122"/>
                <a:cs typeface="Arial" pitchFamily="34" charset="-120"/>
              </a:rPr>
              <a:t>– </a:t>
            </a:r>
            <a:r>
              <a:rPr lang="en-US" sz="2000" b="1" dirty="0" err="1" smtClean="0">
                <a:solidFill>
                  <a:srgbClr val="000000"/>
                </a:solidFill>
                <a:latin typeface="Arial" pitchFamily="34" charset="0"/>
                <a:ea typeface="Arial" pitchFamily="34" charset="-122"/>
                <a:cs typeface="Arial" pitchFamily="34" charset="-120"/>
              </a:rPr>
              <a:t>Veom</a:t>
            </a:r>
            <a:r>
              <a:rPr lang="en-US" sz="2000" b="1" dirty="0" smtClean="0">
                <a:solidFill>
                  <a:srgbClr val="000000"/>
                </a:solidFill>
                <a:latin typeface="Arial" pitchFamily="34" charset="0"/>
                <a:ea typeface="Arial" pitchFamily="34" charset="-122"/>
                <a:cs typeface="Arial" pitchFamily="34" charset="-120"/>
              </a:rPr>
              <a:t> Vegas</a:t>
            </a:r>
            <a:endParaRPr lang="en-US" sz="2000" dirty="0"/>
          </a:p>
        </p:txBody>
      </p:sp>
      <p:pic>
        <p:nvPicPr>
          <p:cNvPr id="16" name="Picture 15" descr="side logo.jpg"/>
          <p:cNvPicPr>
            <a:picLocks noChangeAspect="1"/>
          </p:cNvPicPr>
          <p:nvPr/>
        </p:nvPicPr>
        <p:blipFill>
          <a:blip r:embed="rId3"/>
          <a:stretch>
            <a:fillRect/>
          </a:stretch>
        </p:blipFill>
        <p:spPr>
          <a:xfrm>
            <a:off x="9006435" y="80364"/>
            <a:ext cx="3026422" cy="1154076"/>
          </a:xfrm>
          <a:prstGeom prst="rect">
            <a:avLst/>
          </a:prstGeom>
        </p:spPr>
      </p:pic>
      <p:pic>
        <p:nvPicPr>
          <p:cNvPr id="17" name="Picture 16" descr="sih-logo.jpeg"/>
          <p:cNvPicPr>
            <a:picLocks noChangeAspect="1"/>
          </p:cNvPicPr>
          <p:nvPr/>
        </p:nvPicPr>
        <p:blipFill>
          <a:blip r:embed="rId4"/>
          <a:stretch>
            <a:fillRect/>
          </a:stretch>
        </p:blipFill>
        <p:spPr>
          <a:xfrm>
            <a:off x="8092034" y="2057400"/>
            <a:ext cx="3973257" cy="3003656"/>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320040" y="274320"/>
            <a:ext cx="1005840" cy="548640"/>
          </a:xfrm>
          <a:prstGeom prst="rect">
            <a:avLst/>
          </a:prstGeom>
          <a:noFill/>
          <a:ln/>
        </p:spPr>
        <p:txBody>
          <a:bodyPr wrap="square" lIns="0" tIns="0" rIns="0" bIns="0" rtlCol="0" anchor="ctr"/>
          <a:lstStyle/>
          <a:p>
            <a:pPr marL="0" indent="0" algn="ctr">
              <a:buNone/>
            </a:pPr>
            <a:endParaRPr lang="en-US" sz="1400" dirty="0"/>
          </a:p>
        </p:txBody>
      </p:sp>
      <p:sp>
        <p:nvSpPr>
          <p:cNvPr id="7" name="Text 5"/>
          <p:cNvSpPr txBox="1"/>
          <p:nvPr/>
        </p:nvSpPr>
        <p:spPr>
          <a:xfrm>
            <a:off x="10561320" y="896112"/>
            <a:ext cx="1005840" cy="182880"/>
          </a:xfrm>
          <a:prstGeom prst="rect">
            <a:avLst/>
          </a:prstGeom>
          <a:noFill/>
          <a:ln/>
        </p:spPr>
        <p:txBody>
          <a:bodyPr wrap="square" lIns="0" tIns="0" rIns="0" bIns="0" rtlCol="0" anchor="ctr"/>
          <a:lstStyle/>
          <a:p>
            <a:pPr marL="0" indent="0" algn="ctr">
              <a:buNone/>
            </a:pPr>
            <a:endParaRPr lang="en-US" sz="700" dirty="0"/>
          </a:p>
        </p:txBody>
      </p:sp>
      <p:sp>
        <p:nvSpPr>
          <p:cNvPr id="8" name="Text 6"/>
          <p:cNvSpPr txBox="1"/>
          <p:nvPr/>
        </p:nvSpPr>
        <p:spPr>
          <a:xfrm>
            <a:off x="11109960" y="256032"/>
            <a:ext cx="1051560" cy="777240"/>
          </a:xfrm>
          <a:prstGeom prst="rect">
            <a:avLst/>
          </a:prstGeom>
          <a:noFill/>
          <a:ln/>
        </p:spPr>
        <p:txBody>
          <a:bodyPr wrap="square" lIns="0" tIns="0" rIns="0" bIns="0" rtlCol="0" anchor="ctr"/>
          <a:lstStyle/>
          <a:p>
            <a:pPr marL="0" indent="0" algn="l">
              <a:lnSpc>
                <a:spcPct val="100000"/>
              </a:lnSpc>
              <a:buNone/>
            </a:pPr>
            <a:endParaRPr lang="en-US" sz="750" dirty="0"/>
          </a:p>
        </p:txBody>
      </p:sp>
      <p:sp>
        <p:nvSpPr>
          <p:cNvPr id="9" name="Text 7"/>
          <p:cNvSpPr txBox="1"/>
          <p:nvPr/>
        </p:nvSpPr>
        <p:spPr>
          <a:xfrm>
            <a:off x="0" y="274320"/>
            <a:ext cx="12188952" cy="640080"/>
          </a:xfrm>
          <a:prstGeom prst="rect">
            <a:avLst/>
          </a:prstGeom>
          <a:noFill/>
          <a:ln/>
        </p:spPr>
        <p:txBody>
          <a:bodyPr wrap="square" lIns="0" tIns="0" rIns="0" bIns="0" rtlCol="0" anchor="ctr"/>
          <a:lstStyle/>
          <a:p>
            <a:pPr marL="0" indent="0" algn="ctr">
              <a:buNone/>
            </a:pPr>
            <a:r>
              <a:rPr lang="en-US" sz="3000" b="1" dirty="0">
                <a:solidFill>
                  <a:srgbClr val="000000"/>
                </a:solidFill>
                <a:latin typeface="Times New Roman" pitchFamily="34" charset="0"/>
                <a:ea typeface="Times New Roman" pitchFamily="34" charset="-122"/>
                <a:cs typeface="Times New Roman" pitchFamily="34" charset="-120"/>
              </a:rPr>
              <a:t>IDEA TITLE</a:t>
            </a:r>
            <a:endParaRPr lang="en-US" sz="3000" dirty="0"/>
          </a:p>
        </p:txBody>
      </p:sp>
      <p:sp>
        <p:nvSpPr>
          <p:cNvPr id="10" name="Text 8"/>
          <p:cNvSpPr txBox="1"/>
          <p:nvPr/>
        </p:nvSpPr>
        <p:spPr>
          <a:xfrm>
            <a:off x="411480" y="1051560"/>
            <a:ext cx="7680960" cy="365760"/>
          </a:xfrm>
          <a:prstGeom prst="rect">
            <a:avLst/>
          </a:prstGeom>
          <a:noFill/>
          <a:ln/>
        </p:spPr>
        <p:txBody>
          <a:bodyPr wrap="square" lIns="0" tIns="0" rIns="0" bIns="0" rtlCol="0" anchor="ctr"/>
          <a:lstStyle/>
          <a:p>
            <a:r>
              <a:rPr lang="en-US" sz="1450" b="1" dirty="0">
                <a:solidFill>
                  <a:srgbClr val="1F5FA6"/>
                </a:solidFill>
                <a:latin typeface="Arial" pitchFamily="34" charset="0"/>
                <a:ea typeface="Arial" pitchFamily="34" charset="-122"/>
                <a:cs typeface="Arial" pitchFamily="34" charset="-120"/>
              </a:rPr>
              <a:t>IDEA/SOLUTION: </a:t>
            </a:r>
            <a:r>
              <a:rPr lang="en-US" sz="1450" b="1" dirty="0" smtClean="0">
                <a:solidFill>
                  <a:srgbClr val="000000"/>
                </a:solidFill>
                <a:latin typeface="Arial" pitchFamily="34" charset="0"/>
                <a:ea typeface="Arial" pitchFamily="34" charset="-122"/>
                <a:cs typeface="Arial" pitchFamily="34" charset="-120"/>
              </a:rPr>
              <a:t> SVI — Smart Victim </a:t>
            </a:r>
            <a:r>
              <a:rPr lang="en-US" sz="1450" b="1" dirty="0" smtClean="0">
                <a:solidFill>
                  <a:srgbClr val="000000"/>
                </a:solidFill>
                <a:latin typeface="Arial" pitchFamily="34" charset="0"/>
                <a:ea typeface="Arial" pitchFamily="34" charset="-122"/>
                <a:cs typeface="Arial" pitchFamily="34" charset="-120"/>
              </a:rPr>
              <a:t>Intelligence</a:t>
            </a:r>
          </a:p>
          <a:p>
            <a:r>
              <a:rPr lang="en-US" sz="1450" b="1" dirty="0" smtClean="0">
                <a:solidFill>
                  <a:srgbClr val="000000"/>
                </a:solidFill>
                <a:latin typeface="Arial" pitchFamily="34" charset="0"/>
                <a:ea typeface="Arial" pitchFamily="34" charset="-122"/>
                <a:cs typeface="Arial" pitchFamily="34" charset="-120"/>
              </a:rPr>
              <a:t> </a:t>
            </a:r>
            <a:r>
              <a:rPr lang="en-US" sz="1450" b="1" dirty="0" smtClean="0">
                <a:solidFill>
                  <a:srgbClr val="000000"/>
                </a:solidFill>
                <a:latin typeface="Arial" pitchFamily="34" charset="0"/>
                <a:ea typeface="Arial" pitchFamily="34" charset="-122"/>
                <a:cs typeface="Arial" pitchFamily="34" charset="-120"/>
              </a:rPr>
              <a:t>                              “</a:t>
            </a:r>
            <a:r>
              <a:rPr lang="en-US" sz="1450" b="1" dirty="0" smtClean="0">
                <a:solidFill>
                  <a:srgbClr val="000000"/>
                </a:solidFill>
                <a:latin typeface="Arial" pitchFamily="34" charset="0"/>
                <a:ea typeface="Arial" pitchFamily="34" charset="-122"/>
                <a:cs typeface="Arial" pitchFamily="34" charset="-120"/>
              </a:rPr>
              <a:t>From Listening to Meaningful Support”</a:t>
            </a:r>
            <a:endParaRPr lang="en-US" sz="1450" dirty="0"/>
          </a:p>
        </p:txBody>
      </p:sp>
      <p:sp>
        <p:nvSpPr>
          <p:cNvPr id="11" name="Text 9"/>
          <p:cNvSpPr txBox="1"/>
          <p:nvPr/>
        </p:nvSpPr>
        <p:spPr>
          <a:xfrm>
            <a:off x="411480" y="1444752"/>
            <a:ext cx="7818120" cy="960120"/>
          </a:xfrm>
          <a:prstGeom prst="rect">
            <a:avLst/>
          </a:prstGeom>
          <a:noFill/>
          <a:ln/>
        </p:spPr>
        <p:txBody>
          <a:bodyPr wrap="square" lIns="0" tIns="0" rIns="0" bIns="0" rtlCol="0" anchor="ctr"/>
          <a:lstStyle/>
          <a:p>
            <a:r>
              <a:rPr lang="en-US" sz="1300" b="1" dirty="0" smtClean="0">
                <a:solidFill>
                  <a:srgbClr val="000000"/>
                </a:solidFill>
                <a:latin typeface="Arial" pitchFamily="34" charset="0"/>
                <a:ea typeface="Arial" pitchFamily="34" charset="-122"/>
                <a:cs typeface="Arial" pitchFamily="34" charset="-120"/>
              </a:rPr>
              <a:t>SVI </a:t>
            </a:r>
            <a:r>
              <a:rPr lang="en-US" sz="1300" dirty="0" smtClean="0">
                <a:solidFill>
                  <a:srgbClr val="000000"/>
                </a:solidFill>
                <a:latin typeface="Arial" pitchFamily="34" charset="0"/>
                <a:ea typeface="Arial" pitchFamily="34" charset="-122"/>
                <a:cs typeface="Arial" pitchFamily="34" charset="-120"/>
              </a:rPr>
              <a:t>is an AI-powered real-time stress and trauma assessment module integrated with NHAA (14566) and its digital access channels. It analyzes voluntary interactions such as text, voice and user responses to identify indicators of emotional distress and trauma</a:t>
            </a:r>
            <a:r>
              <a:rPr lang="en-US" sz="1300" dirty="0" smtClean="0">
                <a:solidFill>
                  <a:srgbClr val="000000"/>
                </a:solidFill>
                <a:latin typeface="Arial" pitchFamily="34" charset="0"/>
                <a:ea typeface="Arial" pitchFamily="34" charset="-122"/>
                <a:cs typeface="Arial" pitchFamily="34" charset="-120"/>
              </a:rPr>
              <a:t>.</a:t>
            </a:r>
          </a:p>
          <a:p>
            <a:r>
              <a:rPr lang="en-US" sz="1300" dirty="0" smtClean="0">
                <a:solidFill>
                  <a:srgbClr val="000000"/>
                </a:solidFill>
                <a:latin typeface="Arial" pitchFamily="34" charset="0"/>
                <a:ea typeface="Arial" pitchFamily="34" charset="-122"/>
                <a:cs typeface="Arial" pitchFamily="34" charset="-120"/>
              </a:rPr>
              <a:t>The proposed system </a:t>
            </a:r>
            <a:r>
              <a:rPr lang="en-US" sz="1300" dirty="0" smtClean="0">
                <a:solidFill>
                  <a:srgbClr val="000000"/>
                </a:solidFill>
                <a:latin typeface="Arial" pitchFamily="34" charset="0"/>
                <a:ea typeface="Arial" pitchFamily="34" charset="-122"/>
                <a:cs typeface="Arial" pitchFamily="34" charset="-120"/>
              </a:rPr>
              <a:t>will </a:t>
            </a:r>
            <a:r>
              <a:rPr lang="en-US" sz="1300" b="1" dirty="0" smtClean="0">
                <a:solidFill>
                  <a:srgbClr val="000000"/>
                </a:solidFill>
                <a:latin typeface="Arial" pitchFamily="34" charset="0"/>
                <a:ea typeface="Arial" pitchFamily="34" charset="-122"/>
                <a:cs typeface="Arial" pitchFamily="34" charset="-120"/>
              </a:rPr>
              <a:t>:</a:t>
            </a:r>
            <a:endParaRPr lang="en-US" sz="1300" b="1" dirty="0"/>
          </a:p>
        </p:txBody>
      </p:sp>
      <p:sp>
        <p:nvSpPr>
          <p:cNvPr id="12" name="Text 10"/>
          <p:cNvSpPr txBox="1"/>
          <p:nvPr/>
        </p:nvSpPr>
        <p:spPr>
          <a:xfrm>
            <a:off x="411480" y="2468880"/>
            <a:ext cx="7863840" cy="4160520"/>
          </a:xfrm>
          <a:prstGeom prst="rect">
            <a:avLst/>
          </a:prstGeom>
          <a:noFill/>
          <a:ln/>
        </p:spPr>
        <p:txBody>
          <a:bodyPr wrap="square" lIns="0" tIns="0" rIns="0" bIns="0" rtlCol="0" anchor="t"/>
          <a:lstStyle/>
          <a:p>
            <a:pPr>
              <a:spcAft>
                <a:spcPts val="800"/>
              </a:spcAft>
            </a:pPr>
            <a:r>
              <a:rPr lang="en-US" sz="1250" dirty="0" smtClean="0">
                <a:solidFill>
                  <a:srgbClr val="000000"/>
                </a:solidFill>
                <a:latin typeface="Arial" pitchFamily="34" charset="0"/>
                <a:ea typeface="Arial" pitchFamily="34" charset="-122"/>
                <a:cs typeface="Arial" pitchFamily="34" charset="-120"/>
              </a:rPr>
              <a:t> </a:t>
            </a:r>
            <a:r>
              <a:rPr lang="en-US" sz="1250" dirty="0" smtClean="0">
                <a:solidFill>
                  <a:srgbClr val="000000"/>
                </a:solidFill>
                <a:latin typeface="Arial" pitchFamily="34" charset="0"/>
                <a:ea typeface="Arial" pitchFamily="34" charset="-122"/>
                <a:cs typeface="Arial" pitchFamily="34" charset="-120"/>
              </a:rPr>
              <a:t>➤ Perform real-time stress and trauma assessment using </a:t>
            </a:r>
            <a:r>
              <a:rPr lang="en-US" sz="1250" b="1" dirty="0" smtClean="0">
                <a:solidFill>
                  <a:srgbClr val="000000"/>
                </a:solidFill>
                <a:latin typeface="Arial" pitchFamily="34" charset="0"/>
                <a:ea typeface="Arial" pitchFamily="34" charset="-122"/>
                <a:cs typeface="Arial" pitchFamily="34" charset="-120"/>
              </a:rPr>
              <a:t>AI/ML</a:t>
            </a:r>
            <a:r>
              <a:rPr lang="en-US" sz="1250" dirty="0" smtClean="0">
                <a:solidFill>
                  <a:srgbClr val="000000"/>
                </a:solidFill>
                <a:latin typeface="Arial" pitchFamily="34" charset="0"/>
                <a:ea typeface="Arial" pitchFamily="34" charset="-122"/>
                <a:cs typeface="Arial" pitchFamily="34" charset="-120"/>
              </a:rPr>
              <a:t>.</a:t>
            </a:r>
            <a:endParaRPr lang="en-US" sz="1250" dirty="0" smtClean="0"/>
          </a:p>
          <a:p>
            <a:pPr>
              <a:spcAft>
                <a:spcPts val="800"/>
              </a:spcAft>
            </a:pPr>
            <a:r>
              <a:rPr lang="en-US" sz="1250" dirty="0" smtClean="0"/>
              <a:t>➤</a:t>
            </a:r>
            <a:r>
              <a:rPr lang="en-US" sz="1250" dirty="0" smtClean="0">
                <a:solidFill>
                  <a:srgbClr val="000000"/>
                </a:solidFill>
                <a:latin typeface="Arial" pitchFamily="34" charset="0"/>
                <a:ea typeface="Arial" pitchFamily="34" charset="-122"/>
                <a:cs typeface="Arial" pitchFamily="34" charset="-120"/>
              </a:rPr>
              <a:t>  </a:t>
            </a:r>
            <a:r>
              <a:rPr lang="en-US" sz="1250" dirty="0" smtClean="0">
                <a:solidFill>
                  <a:srgbClr val="000000"/>
                </a:solidFill>
                <a:latin typeface="Arial" pitchFamily="34" charset="0"/>
                <a:ea typeface="Arial" pitchFamily="34" charset="-122"/>
                <a:cs typeface="Arial" pitchFamily="34" charset="-120"/>
              </a:rPr>
              <a:t>Analyze textual and conversational signals to identify indicators such as distress, fear, anxiety, hopelessness and emotional overload.</a:t>
            </a:r>
            <a:endParaRPr lang="en-US" sz="1250" dirty="0" smtClean="0"/>
          </a:p>
          <a:p>
            <a:pPr>
              <a:spcAft>
                <a:spcPts val="800"/>
              </a:spcAft>
            </a:pPr>
            <a:r>
              <a:rPr lang="en-US" sz="1250" dirty="0" smtClean="0"/>
              <a:t>➤</a:t>
            </a:r>
            <a:r>
              <a:rPr lang="en-US" sz="1250" dirty="0" smtClean="0">
                <a:solidFill>
                  <a:srgbClr val="000000"/>
                </a:solidFill>
                <a:latin typeface="Arial" pitchFamily="34" charset="0"/>
                <a:ea typeface="Arial" pitchFamily="34" charset="-122"/>
                <a:cs typeface="Arial" pitchFamily="34" charset="-120"/>
              </a:rPr>
              <a:t>  </a:t>
            </a:r>
            <a:r>
              <a:rPr lang="en-US" sz="1250" dirty="0" smtClean="0">
                <a:solidFill>
                  <a:srgbClr val="000000"/>
                </a:solidFill>
                <a:latin typeface="Arial" pitchFamily="34" charset="0"/>
                <a:ea typeface="Arial" pitchFamily="34" charset="-122"/>
                <a:cs typeface="Arial" pitchFamily="34" charset="-120"/>
              </a:rPr>
              <a:t>Use multimodal AI to combine linguistic, conversational and, where consented, voice-based indicators.</a:t>
            </a:r>
            <a:endParaRPr lang="en-US" sz="1250" dirty="0" smtClean="0"/>
          </a:p>
          <a:p>
            <a:pPr>
              <a:spcAft>
                <a:spcPts val="800"/>
              </a:spcAft>
            </a:pPr>
            <a:r>
              <a:rPr lang="en-US" sz="1250" dirty="0" smtClean="0"/>
              <a:t>➤</a:t>
            </a:r>
            <a:r>
              <a:rPr lang="en-US" sz="1250" dirty="0" smtClean="0">
                <a:solidFill>
                  <a:srgbClr val="000000"/>
                </a:solidFill>
                <a:latin typeface="Arial" pitchFamily="34" charset="0"/>
                <a:ea typeface="Arial" pitchFamily="34" charset="-122"/>
                <a:cs typeface="Arial" pitchFamily="34" charset="-120"/>
              </a:rPr>
              <a:t>  </a:t>
            </a:r>
            <a:r>
              <a:rPr lang="en-US" sz="1250" dirty="0" smtClean="0">
                <a:solidFill>
                  <a:srgbClr val="000000"/>
                </a:solidFill>
                <a:latin typeface="Arial" pitchFamily="34" charset="0"/>
                <a:ea typeface="Arial" pitchFamily="34" charset="-122"/>
                <a:cs typeface="Arial" pitchFamily="34" charset="-120"/>
              </a:rPr>
              <a:t>Generate a non-diagnostic stress/trauma risk score and categorize cases into appropriate severity levels.</a:t>
            </a:r>
            <a:endParaRPr lang="en-US" sz="1250" dirty="0" smtClean="0"/>
          </a:p>
          <a:p>
            <a:pPr>
              <a:spcAft>
                <a:spcPts val="800"/>
              </a:spcAft>
            </a:pPr>
            <a:r>
              <a:rPr lang="en-US" sz="1250" dirty="0" smtClean="0"/>
              <a:t>➤</a:t>
            </a:r>
            <a:r>
              <a:rPr lang="en-US" sz="1250" dirty="0" smtClean="0">
                <a:solidFill>
                  <a:srgbClr val="000000"/>
                </a:solidFill>
                <a:latin typeface="Arial" pitchFamily="34" charset="0"/>
                <a:ea typeface="Arial" pitchFamily="34" charset="-122"/>
                <a:cs typeface="Arial" pitchFamily="34" charset="-120"/>
              </a:rPr>
              <a:t>   </a:t>
            </a:r>
            <a:r>
              <a:rPr lang="en-US" sz="1250" dirty="0" smtClean="0">
                <a:solidFill>
                  <a:srgbClr val="000000"/>
                </a:solidFill>
                <a:latin typeface="Arial" pitchFamily="34" charset="0"/>
                <a:ea typeface="Arial" pitchFamily="34" charset="-122"/>
                <a:cs typeface="Arial" pitchFamily="34" charset="-120"/>
              </a:rPr>
              <a:t>Provide early alerts and priority indicators to authorized support personnel</a:t>
            </a:r>
            <a:r>
              <a:rPr lang="en-US" sz="1250" dirty="0" smtClean="0">
                <a:solidFill>
                  <a:srgbClr val="000000"/>
                </a:solidFill>
                <a:latin typeface="Arial" pitchFamily="34" charset="0"/>
                <a:ea typeface="Arial" pitchFamily="34" charset="-122"/>
                <a:cs typeface="Arial" pitchFamily="34" charset="-120"/>
              </a:rPr>
              <a:t>.</a:t>
            </a:r>
          </a:p>
          <a:p>
            <a:pPr>
              <a:spcAft>
                <a:spcPts val="800"/>
              </a:spcAft>
            </a:pPr>
            <a:r>
              <a:rPr lang="en-US" sz="1250" dirty="0" smtClean="0"/>
              <a:t>➤  </a:t>
            </a:r>
            <a:r>
              <a:rPr lang="en-US" sz="1250" dirty="0" smtClean="0">
                <a:latin typeface="Arial" pitchFamily="34" charset="0"/>
                <a:cs typeface="Arial" pitchFamily="34" charset="0"/>
              </a:rPr>
              <a:t>Recommend appropriate support pathways, such as </a:t>
            </a:r>
            <a:r>
              <a:rPr lang="en-US" sz="1250" dirty="0" err="1" smtClean="0">
                <a:latin typeface="Arial" pitchFamily="34" charset="0"/>
                <a:cs typeface="Arial" pitchFamily="34" charset="0"/>
              </a:rPr>
              <a:t>counselling</a:t>
            </a:r>
            <a:r>
              <a:rPr lang="en-US" sz="1250" dirty="0" smtClean="0">
                <a:latin typeface="Arial" pitchFamily="34" charset="0"/>
                <a:cs typeface="Arial" pitchFamily="34" charset="0"/>
              </a:rPr>
              <a:t>, human intervention or emergency escalation based </a:t>
            </a:r>
            <a:r>
              <a:rPr lang="en-US" sz="1250" dirty="0" smtClean="0">
                <a:latin typeface="Arial" pitchFamily="34" charset="0"/>
                <a:cs typeface="Arial" pitchFamily="34" charset="0"/>
              </a:rPr>
              <a:t>on </a:t>
            </a:r>
            <a:r>
              <a:rPr lang="en-US" sz="1250" dirty="0" smtClean="0">
                <a:latin typeface="Arial" pitchFamily="34" charset="0"/>
                <a:cs typeface="Arial" pitchFamily="34" charset="0"/>
              </a:rPr>
              <a:t>predefined protocols</a:t>
            </a:r>
            <a:r>
              <a:rPr lang="en-US" sz="1250" dirty="0" smtClean="0">
                <a:latin typeface="Arial" pitchFamily="34" charset="0"/>
                <a:cs typeface="Arial" pitchFamily="34" charset="0"/>
              </a:rPr>
              <a:t>.</a:t>
            </a:r>
          </a:p>
          <a:p>
            <a:pPr>
              <a:spcAft>
                <a:spcPts val="800"/>
              </a:spcAft>
            </a:pPr>
            <a:r>
              <a:rPr lang="en-US" sz="1250" dirty="0" smtClean="0">
                <a:latin typeface="Arial" pitchFamily="34" charset="0"/>
                <a:cs typeface="Arial" pitchFamily="34" charset="0"/>
              </a:rPr>
              <a:t>➤ Maintain privacy, consent and secure handling of sensitive information throughout the assessment.</a:t>
            </a:r>
            <a:endParaRPr lang="en-US" sz="1250" dirty="0">
              <a:latin typeface="Arial" pitchFamily="34" charset="0"/>
              <a:cs typeface="Arial" pitchFamily="34" charset="0"/>
            </a:endParaRPr>
          </a:p>
        </p:txBody>
      </p:sp>
      <p:sp>
        <p:nvSpPr>
          <p:cNvPr id="13" name="Shape 11"/>
          <p:cNvSpPr/>
          <p:nvPr/>
        </p:nvSpPr>
        <p:spPr>
          <a:xfrm>
            <a:off x="8391441" y="914400"/>
            <a:ext cx="3404319" cy="2011680"/>
          </a:xfrm>
          <a:prstGeom prst="rect">
            <a:avLst/>
          </a:prstGeom>
          <a:solidFill>
            <a:srgbClr val="FFFFFF"/>
          </a:solidFill>
          <a:ln w="12700">
            <a:solidFill>
              <a:srgbClr val="000000"/>
            </a:solidFill>
            <a:prstDash val="solid"/>
          </a:ln>
        </p:spPr>
      </p:sp>
      <p:sp>
        <p:nvSpPr>
          <p:cNvPr id="14" name="Text 12"/>
          <p:cNvSpPr txBox="1"/>
          <p:nvPr/>
        </p:nvSpPr>
        <p:spPr>
          <a:xfrm>
            <a:off x="8686800" y="1033272"/>
            <a:ext cx="3017520" cy="204809"/>
          </a:xfrm>
          <a:prstGeom prst="rect">
            <a:avLst/>
          </a:prstGeom>
          <a:noFill/>
          <a:ln/>
        </p:spPr>
        <p:txBody>
          <a:bodyPr wrap="square" lIns="0" tIns="0" rIns="0" bIns="0" rtlCol="0" anchor="ctr"/>
          <a:lstStyle/>
          <a:p>
            <a:pPr marL="0" indent="0">
              <a:buNone/>
            </a:pPr>
            <a:r>
              <a:rPr lang="en-US" sz="1300" b="1" dirty="0">
                <a:solidFill>
                  <a:srgbClr val="1F5FA6"/>
                </a:solidFill>
                <a:latin typeface="Arial" pitchFamily="34" charset="0"/>
                <a:ea typeface="Arial" pitchFamily="34" charset="-122"/>
                <a:cs typeface="Arial" pitchFamily="34" charset="-120"/>
              </a:rPr>
              <a:t>Problem Resolution:</a:t>
            </a:r>
            <a:endParaRPr lang="en-US" sz="1300" dirty="0"/>
          </a:p>
        </p:txBody>
      </p:sp>
      <p:sp>
        <p:nvSpPr>
          <p:cNvPr id="15" name="Text 13"/>
          <p:cNvSpPr txBox="1"/>
          <p:nvPr/>
        </p:nvSpPr>
        <p:spPr>
          <a:xfrm>
            <a:off x="8561373" y="1238081"/>
            <a:ext cx="3142947" cy="1642279"/>
          </a:xfrm>
          <a:prstGeom prst="rect">
            <a:avLst/>
          </a:prstGeom>
          <a:noFill/>
          <a:ln/>
        </p:spPr>
        <p:txBody>
          <a:bodyPr wrap="square" lIns="0" tIns="0" rIns="0" bIns="0" rtlCol="0" anchor="ctr"/>
          <a:lstStyle/>
          <a:p>
            <a:pPr marL="342900" indent="-342900">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Detects </a:t>
            </a:r>
            <a:r>
              <a:rPr lang="en-US" sz="1150" b="1" dirty="0" smtClean="0">
                <a:latin typeface="Arial" pitchFamily="34" charset="0"/>
                <a:cs typeface="Arial" pitchFamily="34" charset="0"/>
              </a:rPr>
              <a:t>emotional distress during the interaction itself</a:t>
            </a:r>
            <a:r>
              <a:rPr lang="en-US" sz="1150" b="1" dirty="0" smtClean="0">
                <a:latin typeface="Arial" pitchFamily="34" charset="0"/>
                <a:cs typeface="Arial" pitchFamily="34" charset="0"/>
              </a:rPr>
              <a:t>.</a:t>
            </a:r>
          </a:p>
          <a:p>
            <a:pPr marL="342900" indent="-342900">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Helps identify high-risk cases earlier</a:t>
            </a:r>
            <a:r>
              <a:rPr lang="en-US" sz="1150" b="1" dirty="0" smtClean="0">
                <a:latin typeface="Arial" pitchFamily="34" charset="0"/>
                <a:cs typeface="Arial" pitchFamily="34" charset="0"/>
              </a:rPr>
              <a:t>.</a:t>
            </a:r>
          </a:p>
          <a:p>
            <a:pPr marL="342900" indent="-342900">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Supports prioritization of cases requiring human attention</a:t>
            </a:r>
            <a:r>
              <a:rPr lang="en-US" sz="1150" b="1" dirty="0" smtClean="0">
                <a:latin typeface="Arial" pitchFamily="34" charset="0"/>
                <a:cs typeface="Arial" pitchFamily="34" charset="0"/>
              </a:rPr>
              <a:t>.</a:t>
            </a:r>
          </a:p>
          <a:p>
            <a:pPr marL="342900" indent="-342900">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Converts unstructured conversations into actionable assessment insights</a:t>
            </a:r>
            <a:r>
              <a:rPr lang="en-US" sz="1150" b="1" dirty="0" smtClean="0">
                <a:latin typeface="Arial" pitchFamily="34" charset="0"/>
                <a:cs typeface="Arial" pitchFamily="34" charset="0"/>
              </a:rPr>
              <a:t>.</a:t>
            </a:r>
          </a:p>
          <a:p>
            <a:pPr marL="342900" indent="-342900">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Enables consistent assessment across helpline and digital channels.</a:t>
            </a:r>
            <a:endParaRPr lang="en-US" sz="1150" b="1" dirty="0">
              <a:latin typeface="Arial" pitchFamily="34" charset="0"/>
              <a:cs typeface="Arial" pitchFamily="34" charset="0"/>
            </a:endParaRPr>
          </a:p>
        </p:txBody>
      </p:sp>
      <p:sp>
        <p:nvSpPr>
          <p:cNvPr id="16" name="Shape 14"/>
          <p:cNvSpPr/>
          <p:nvPr/>
        </p:nvSpPr>
        <p:spPr>
          <a:xfrm>
            <a:off x="8391441" y="3063240"/>
            <a:ext cx="3404319" cy="2439344"/>
          </a:xfrm>
          <a:prstGeom prst="rect">
            <a:avLst/>
          </a:prstGeom>
          <a:solidFill>
            <a:srgbClr val="FFFFFF"/>
          </a:solidFill>
          <a:ln w="12700">
            <a:solidFill>
              <a:srgbClr val="000000"/>
            </a:solidFill>
            <a:prstDash val="solid"/>
          </a:ln>
        </p:spPr>
      </p:sp>
      <p:sp>
        <p:nvSpPr>
          <p:cNvPr id="17" name="Text 15"/>
          <p:cNvSpPr txBox="1"/>
          <p:nvPr/>
        </p:nvSpPr>
        <p:spPr>
          <a:xfrm>
            <a:off x="8686800" y="3127248"/>
            <a:ext cx="3017520" cy="274320"/>
          </a:xfrm>
          <a:prstGeom prst="rect">
            <a:avLst/>
          </a:prstGeom>
          <a:noFill/>
          <a:ln/>
        </p:spPr>
        <p:txBody>
          <a:bodyPr wrap="square" lIns="0" tIns="0" rIns="0" bIns="0" rtlCol="0" anchor="ctr"/>
          <a:lstStyle/>
          <a:p>
            <a:pPr marL="0" indent="0">
              <a:buNone/>
            </a:pPr>
            <a:r>
              <a:rPr lang="en-US" sz="1300" b="1" dirty="0">
                <a:solidFill>
                  <a:srgbClr val="1F5FA6"/>
                </a:solidFill>
                <a:latin typeface="Arial" pitchFamily="34" charset="0"/>
                <a:ea typeface="Arial" pitchFamily="34" charset="-122"/>
                <a:cs typeface="Arial" pitchFamily="34" charset="-120"/>
              </a:rPr>
              <a:t>Unique Value Propositions:</a:t>
            </a:r>
            <a:endParaRPr lang="en-US" sz="1300" dirty="0"/>
          </a:p>
        </p:txBody>
      </p:sp>
      <p:sp>
        <p:nvSpPr>
          <p:cNvPr id="18" name="Text 16"/>
          <p:cNvSpPr txBox="1"/>
          <p:nvPr/>
        </p:nvSpPr>
        <p:spPr>
          <a:xfrm>
            <a:off x="8561373" y="3401568"/>
            <a:ext cx="3142947" cy="1931083"/>
          </a:xfrm>
          <a:prstGeom prst="rect">
            <a:avLst/>
          </a:prstGeom>
          <a:noFill/>
          <a:ln/>
        </p:spPr>
        <p:txBody>
          <a:bodyPr wrap="square" lIns="0" tIns="0" rIns="0" bIns="0" rtlCol="0" anchor="ctr"/>
          <a:lstStyle/>
          <a:p>
            <a:pPr marL="342900" indent="-342900">
              <a:spcAft>
                <a:spcPts val="800"/>
              </a:spcAft>
              <a:buSzPct val="100000"/>
            </a:pPr>
            <a:r>
              <a:rPr lang="en-US" sz="1150" b="1" dirty="0" smtClean="0">
                <a:latin typeface="Arial" pitchFamily="34" charset="0"/>
                <a:cs typeface="Arial" pitchFamily="34" charset="0"/>
              </a:rPr>
              <a:t>➤ Real-time AI-assisted </a:t>
            </a:r>
            <a:r>
              <a:rPr lang="en-US" sz="1150" b="1" dirty="0" smtClean="0">
                <a:latin typeface="Arial" pitchFamily="34" charset="0"/>
                <a:cs typeface="Arial" pitchFamily="34" charset="0"/>
              </a:rPr>
              <a:t>assessment.</a:t>
            </a:r>
          </a:p>
          <a:p>
            <a:pPr marL="342900" indent="-342900">
              <a:spcAft>
                <a:spcPts val="800"/>
              </a:spcAft>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Multimodal stress &amp; trauma </a:t>
            </a:r>
            <a:r>
              <a:rPr lang="en-US" sz="1150" b="1" dirty="0" smtClean="0">
                <a:latin typeface="Arial" pitchFamily="34" charset="0"/>
                <a:cs typeface="Arial" pitchFamily="34" charset="0"/>
              </a:rPr>
              <a:t>analysis.</a:t>
            </a:r>
          </a:p>
          <a:p>
            <a:pPr marL="342900" indent="-342900">
              <a:spcAft>
                <a:spcPts val="800"/>
              </a:spcAft>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Early identification of high-risk </a:t>
            </a:r>
            <a:r>
              <a:rPr lang="en-US" sz="1150" b="1" dirty="0" smtClean="0">
                <a:latin typeface="Arial" pitchFamily="34" charset="0"/>
                <a:cs typeface="Arial" pitchFamily="34" charset="0"/>
              </a:rPr>
              <a:t>cases.</a:t>
            </a:r>
          </a:p>
          <a:p>
            <a:pPr marL="342900" indent="-342900">
              <a:spcAft>
                <a:spcPts val="800"/>
              </a:spcAft>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Human-in-the-loop </a:t>
            </a:r>
            <a:r>
              <a:rPr lang="en-US" sz="1150" b="1" dirty="0" smtClean="0">
                <a:latin typeface="Arial" pitchFamily="34" charset="0"/>
                <a:cs typeface="Arial" pitchFamily="34" charset="0"/>
              </a:rPr>
              <a:t>intervention.</a:t>
            </a:r>
          </a:p>
          <a:p>
            <a:pPr marL="342900" indent="-342900">
              <a:spcAft>
                <a:spcPts val="800"/>
              </a:spcAft>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Multilingual and accessible </a:t>
            </a:r>
            <a:r>
              <a:rPr lang="en-US" sz="1150" b="1" dirty="0" smtClean="0">
                <a:latin typeface="Arial" pitchFamily="34" charset="0"/>
                <a:cs typeface="Arial" pitchFamily="34" charset="0"/>
              </a:rPr>
              <a:t>design.</a:t>
            </a:r>
          </a:p>
          <a:p>
            <a:pPr marL="342900" indent="-342900">
              <a:spcAft>
                <a:spcPts val="800"/>
              </a:spcAft>
              <a:buSzPct val="100000"/>
            </a:pPr>
            <a:r>
              <a:rPr lang="en-US" sz="1150" b="1" dirty="0" smtClean="0">
                <a:latin typeface="Arial" pitchFamily="34" charset="0"/>
                <a:cs typeface="Arial" pitchFamily="34" charset="0"/>
              </a:rPr>
              <a:t>➤ </a:t>
            </a:r>
            <a:r>
              <a:rPr lang="en-US" sz="1150" b="1" dirty="0" smtClean="0">
                <a:latin typeface="Arial" pitchFamily="34" charset="0"/>
                <a:cs typeface="Arial" pitchFamily="34" charset="0"/>
              </a:rPr>
              <a:t>Privacy-first and consent-driven architecture</a:t>
            </a:r>
            <a:endParaRPr lang="en-US" sz="1150" b="1" dirty="0">
              <a:latin typeface="Arial" pitchFamily="34" charset="0"/>
              <a:cs typeface="Arial" pitchFamily="34" charset="0"/>
            </a:endParaRPr>
          </a:p>
        </p:txBody>
      </p:sp>
      <p:pic>
        <p:nvPicPr>
          <p:cNvPr id="19" name="Picture 18" descr="side logo.jpg"/>
          <p:cNvPicPr>
            <a:picLocks noChangeAspect="1"/>
          </p:cNvPicPr>
          <p:nvPr/>
        </p:nvPicPr>
        <p:blipFill>
          <a:blip r:embed="rId3"/>
          <a:stretch>
            <a:fillRect/>
          </a:stretch>
        </p:blipFill>
        <p:spPr>
          <a:xfrm>
            <a:off x="9984702" y="0"/>
            <a:ext cx="1811058" cy="824240"/>
          </a:xfrm>
          <a:prstGeom prst="rect">
            <a:avLst/>
          </a:prstGeom>
        </p:spPr>
      </p:pic>
      <p:pic>
        <p:nvPicPr>
          <p:cNvPr id="20" name="Picture 19" descr="sage image.jpg"/>
          <p:cNvPicPr>
            <a:picLocks noChangeAspect="1"/>
          </p:cNvPicPr>
          <p:nvPr/>
        </p:nvPicPr>
        <p:blipFill>
          <a:blip r:embed="rId4"/>
          <a:stretch>
            <a:fillRect/>
          </a:stretch>
        </p:blipFill>
        <p:spPr>
          <a:xfrm>
            <a:off x="605756" y="157734"/>
            <a:ext cx="1708566" cy="452214"/>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320040" y="274320"/>
            <a:ext cx="1005840" cy="548640"/>
          </a:xfrm>
          <a:prstGeom prst="rect">
            <a:avLst/>
          </a:prstGeom>
          <a:noFill/>
          <a:ln/>
        </p:spPr>
        <p:txBody>
          <a:bodyPr wrap="square" lIns="0" tIns="0" rIns="0" bIns="0" rtlCol="0" anchor="ctr"/>
          <a:lstStyle/>
          <a:p>
            <a:pPr marL="0" indent="0" algn="ctr">
              <a:buNone/>
            </a:pPr>
            <a:endParaRPr lang="en-US" sz="1400" dirty="0"/>
          </a:p>
        </p:txBody>
      </p:sp>
      <p:sp>
        <p:nvSpPr>
          <p:cNvPr id="7" name="Text 5"/>
          <p:cNvSpPr txBox="1"/>
          <p:nvPr/>
        </p:nvSpPr>
        <p:spPr>
          <a:xfrm>
            <a:off x="10561320" y="896112"/>
            <a:ext cx="1005840" cy="182880"/>
          </a:xfrm>
          <a:prstGeom prst="rect">
            <a:avLst/>
          </a:prstGeom>
          <a:noFill/>
          <a:ln/>
        </p:spPr>
        <p:txBody>
          <a:bodyPr wrap="square" lIns="0" tIns="0" rIns="0" bIns="0" rtlCol="0" anchor="ctr"/>
          <a:lstStyle/>
          <a:p>
            <a:pPr marL="0" indent="0" algn="ctr">
              <a:buNone/>
            </a:pPr>
            <a:endParaRPr lang="en-US" sz="700" dirty="0"/>
          </a:p>
        </p:txBody>
      </p:sp>
      <p:sp>
        <p:nvSpPr>
          <p:cNvPr id="9" name="Text 7"/>
          <p:cNvSpPr txBox="1"/>
          <p:nvPr/>
        </p:nvSpPr>
        <p:spPr>
          <a:xfrm>
            <a:off x="0" y="436970"/>
            <a:ext cx="12188952" cy="477430"/>
          </a:xfrm>
          <a:prstGeom prst="rect">
            <a:avLst/>
          </a:prstGeom>
          <a:noFill/>
          <a:ln/>
        </p:spPr>
        <p:txBody>
          <a:bodyPr wrap="square" lIns="0" tIns="0" rIns="0" bIns="0" rtlCol="0" anchor="ctr"/>
          <a:lstStyle/>
          <a:p>
            <a:pPr algn="ctr"/>
            <a:r>
              <a:rPr lang="en-US" sz="3000" b="1" dirty="0" smtClean="0">
                <a:solidFill>
                  <a:srgbClr val="000000"/>
                </a:solidFill>
                <a:latin typeface="Arial" pitchFamily="34" charset="0"/>
                <a:ea typeface="Arial" pitchFamily="34" charset="-122"/>
                <a:cs typeface="Arial" pitchFamily="34" charset="0"/>
              </a:rPr>
              <a:t>Work Flow</a:t>
            </a:r>
            <a:endParaRPr lang="en-US" sz="3000" dirty="0" smtClean="0">
              <a:latin typeface="Arial" pitchFamily="34" charset="0"/>
              <a:cs typeface="Arial" pitchFamily="34" charset="0"/>
            </a:endParaRPr>
          </a:p>
          <a:p>
            <a:pPr marL="0" indent="0" algn="ctr">
              <a:buNone/>
            </a:pPr>
            <a:endParaRPr lang="en-US" sz="3000" dirty="0"/>
          </a:p>
        </p:txBody>
      </p:sp>
      <p:sp>
        <p:nvSpPr>
          <p:cNvPr id="11" name="Text 9"/>
          <p:cNvSpPr txBox="1"/>
          <p:nvPr/>
        </p:nvSpPr>
        <p:spPr>
          <a:xfrm>
            <a:off x="411480" y="1143000"/>
            <a:ext cx="4937760" cy="320040"/>
          </a:xfrm>
          <a:prstGeom prst="rect">
            <a:avLst/>
          </a:prstGeom>
          <a:noFill/>
          <a:ln/>
        </p:spPr>
        <p:txBody>
          <a:bodyPr wrap="square" lIns="0" tIns="0" rIns="0" bIns="0" rtlCol="0" anchor="ctr"/>
          <a:lstStyle/>
          <a:p>
            <a:pPr marL="0" indent="0">
              <a:buNone/>
            </a:pPr>
            <a:endParaRPr lang="en-US" sz="1500" dirty="0"/>
          </a:p>
        </p:txBody>
      </p:sp>
      <p:sp>
        <p:nvSpPr>
          <p:cNvPr id="13" name="Text 11"/>
          <p:cNvSpPr txBox="1"/>
          <p:nvPr/>
        </p:nvSpPr>
        <p:spPr>
          <a:xfrm>
            <a:off x="502920" y="1508760"/>
            <a:ext cx="4800600" cy="1051560"/>
          </a:xfrm>
          <a:prstGeom prst="rect">
            <a:avLst/>
          </a:prstGeom>
          <a:noFill/>
          <a:ln/>
        </p:spPr>
        <p:txBody>
          <a:bodyPr wrap="square" lIns="0" tIns="0" rIns="0" bIns="0" rtlCol="0" anchor="ctr"/>
          <a:lstStyle/>
          <a:p>
            <a:pPr marL="0" indent="0" algn="ctr">
              <a:buNone/>
            </a:pPr>
            <a:r>
              <a:rPr lang="en-US" sz="1300" b="1" dirty="0" smtClean="0">
                <a:solidFill>
                  <a:srgbClr val="FFFFFF"/>
                </a:solidFill>
                <a:latin typeface="Arial" pitchFamily="34" charset="0"/>
                <a:ea typeface="Arial" pitchFamily="34" charset="-122"/>
                <a:cs typeface="Arial" pitchFamily="34" charset="-120"/>
              </a:rPr>
              <a:t>Tailwind </a:t>
            </a:r>
            <a:r>
              <a:rPr lang="en-US" sz="1300" b="1" dirty="0">
                <a:solidFill>
                  <a:srgbClr val="FFFFFF"/>
                </a:solidFill>
                <a:latin typeface="Arial" pitchFamily="34" charset="0"/>
                <a:ea typeface="Arial" pitchFamily="34" charset="-122"/>
                <a:cs typeface="Arial" pitchFamily="34" charset="-120"/>
              </a:rPr>
              <a:t>CSS   •   MongoDB   •   Express   •   React   •   Node.js</a:t>
            </a:r>
            <a:endParaRPr lang="en-US" sz="1300" dirty="0"/>
          </a:p>
        </p:txBody>
      </p:sp>
      <p:sp>
        <p:nvSpPr>
          <p:cNvPr id="14" name="Text 12"/>
          <p:cNvSpPr txBox="1"/>
          <p:nvPr/>
        </p:nvSpPr>
        <p:spPr>
          <a:xfrm>
            <a:off x="411480" y="2743200"/>
            <a:ext cx="4937760" cy="320040"/>
          </a:xfrm>
          <a:prstGeom prst="rect">
            <a:avLst/>
          </a:prstGeom>
          <a:noFill/>
          <a:ln/>
        </p:spPr>
        <p:txBody>
          <a:bodyPr wrap="square" lIns="0" tIns="0" rIns="0" bIns="0" rtlCol="0" anchor="ctr"/>
          <a:lstStyle/>
          <a:p>
            <a:pPr marL="0" indent="0">
              <a:buNone/>
            </a:pPr>
            <a:endParaRPr lang="en-US" sz="1500" dirty="0"/>
          </a:p>
        </p:txBody>
      </p:sp>
      <p:sp>
        <p:nvSpPr>
          <p:cNvPr id="16" name="Text 14"/>
          <p:cNvSpPr txBox="1"/>
          <p:nvPr/>
        </p:nvSpPr>
        <p:spPr>
          <a:xfrm>
            <a:off x="502920" y="3108960"/>
            <a:ext cx="480060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PyTorch   •   Keras   •   Python   •   OpenCV</a:t>
            </a:r>
            <a:endParaRPr lang="en-US" sz="1300" dirty="0"/>
          </a:p>
        </p:txBody>
      </p:sp>
      <p:sp>
        <p:nvSpPr>
          <p:cNvPr id="17" name="Text 15"/>
          <p:cNvSpPr txBox="1"/>
          <p:nvPr/>
        </p:nvSpPr>
        <p:spPr>
          <a:xfrm>
            <a:off x="411480" y="4343400"/>
            <a:ext cx="4937760" cy="320040"/>
          </a:xfrm>
          <a:prstGeom prst="rect">
            <a:avLst/>
          </a:prstGeom>
          <a:noFill/>
          <a:ln/>
        </p:spPr>
        <p:txBody>
          <a:bodyPr wrap="square" lIns="0" tIns="0" rIns="0" bIns="0" rtlCol="0" anchor="ctr"/>
          <a:lstStyle/>
          <a:p>
            <a:pPr marL="0" indent="0">
              <a:buNone/>
            </a:pPr>
            <a:endParaRPr lang="en-US" sz="1500" dirty="0"/>
          </a:p>
        </p:txBody>
      </p:sp>
      <p:sp>
        <p:nvSpPr>
          <p:cNvPr id="19" name="Text 17"/>
          <p:cNvSpPr txBox="1"/>
          <p:nvPr/>
        </p:nvSpPr>
        <p:spPr>
          <a:xfrm>
            <a:off x="502920" y="4709160"/>
            <a:ext cx="4800600" cy="10515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Google Maps   •   GraphQL   •   AWS   •   Django</a:t>
            </a:r>
            <a:endParaRPr lang="en-US" sz="1300" dirty="0"/>
          </a:p>
        </p:txBody>
      </p:sp>
      <p:sp>
        <p:nvSpPr>
          <p:cNvPr id="20" name="Text 18"/>
          <p:cNvSpPr txBox="1"/>
          <p:nvPr/>
        </p:nvSpPr>
        <p:spPr>
          <a:xfrm>
            <a:off x="5852160" y="960120"/>
            <a:ext cx="6035040" cy="383158"/>
          </a:xfrm>
          <a:prstGeom prst="rect">
            <a:avLst/>
          </a:prstGeom>
          <a:noFill/>
          <a:ln/>
        </p:spPr>
        <p:txBody>
          <a:bodyPr wrap="square" lIns="0" tIns="0" rIns="0" bIns="0" rtlCol="0" anchor="ctr"/>
          <a:lstStyle/>
          <a:p>
            <a:pPr marL="0" indent="0" algn="ctr">
              <a:buNone/>
            </a:pPr>
            <a:endParaRPr lang="en-US" sz="3000" dirty="0"/>
          </a:p>
        </p:txBody>
      </p:sp>
      <p:pic>
        <p:nvPicPr>
          <p:cNvPr id="68" name="Picture 67" descr="side logo.jpg"/>
          <p:cNvPicPr>
            <a:picLocks noChangeAspect="1"/>
          </p:cNvPicPr>
          <p:nvPr/>
        </p:nvPicPr>
        <p:blipFill>
          <a:blip r:embed="rId3"/>
          <a:stretch>
            <a:fillRect/>
          </a:stretch>
        </p:blipFill>
        <p:spPr>
          <a:xfrm>
            <a:off x="9984702" y="0"/>
            <a:ext cx="1811058" cy="824240"/>
          </a:xfrm>
          <a:prstGeom prst="rect">
            <a:avLst/>
          </a:prstGeom>
        </p:spPr>
      </p:pic>
      <p:pic>
        <p:nvPicPr>
          <p:cNvPr id="69" name="Picture 68" descr="work flow.jpg"/>
          <p:cNvPicPr>
            <a:picLocks noChangeAspect="1"/>
          </p:cNvPicPr>
          <p:nvPr/>
        </p:nvPicPr>
        <p:blipFill>
          <a:blip r:embed="rId4"/>
          <a:stretch>
            <a:fillRect/>
          </a:stretch>
        </p:blipFill>
        <p:spPr>
          <a:xfrm>
            <a:off x="411480" y="824240"/>
            <a:ext cx="11265327" cy="5673664"/>
          </a:xfrm>
          <a:prstGeom prst="rect">
            <a:avLst/>
          </a:prstGeom>
        </p:spPr>
      </p:pic>
      <p:pic>
        <p:nvPicPr>
          <p:cNvPr id="70" name="Picture 69" descr="sage image.jpg"/>
          <p:cNvPicPr>
            <a:picLocks noChangeAspect="1"/>
          </p:cNvPicPr>
          <p:nvPr/>
        </p:nvPicPr>
        <p:blipFill>
          <a:blip r:embed="rId5"/>
          <a:stretch>
            <a:fillRect/>
          </a:stretch>
        </p:blipFill>
        <p:spPr>
          <a:xfrm>
            <a:off x="605756" y="157734"/>
            <a:ext cx="1708566" cy="452214"/>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320040" y="274320"/>
            <a:ext cx="1005840" cy="548640"/>
          </a:xfrm>
          <a:prstGeom prst="rect">
            <a:avLst/>
          </a:prstGeom>
          <a:noFill/>
          <a:ln/>
        </p:spPr>
        <p:txBody>
          <a:bodyPr wrap="square" lIns="0" tIns="0" rIns="0" bIns="0" rtlCol="0" anchor="ctr"/>
          <a:lstStyle/>
          <a:p>
            <a:pPr marL="0" indent="0" algn="ctr">
              <a:buNone/>
            </a:pPr>
            <a:endParaRPr lang="en-US" sz="1400" dirty="0"/>
          </a:p>
        </p:txBody>
      </p:sp>
      <p:sp>
        <p:nvSpPr>
          <p:cNvPr id="7" name="Text 5"/>
          <p:cNvSpPr txBox="1"/>
          <p:nvPr/>
        </p:nvSpPr>
        <p:spPr>
          <a:xfrm>
            <a:off x="10561320" y="896112"/>
            <a:ext cx="1005840" cy="182880"/>
          </a:xfrm>
          <a:prstGeom prst="rect">
            <a:avLst/>
          </a:prstGeom>
          <a:noFill/>
          <a:ln/>
        </p:spPr>
        <p:txBody>
          <a:bodyPr wrap="square" lIns="0" tIns="0" rIns="0" bIns="0" rtlCol="0" anchor="ctr"/>
          <a:lstStyle/>
          <a:p>
            <a:pPr marL="0" indent="0" algn="ctr">
              <a:buNone/>
            </a:pPr>
            <a:endParaRPr lang="en-US" sz="700" dirty="0"/>
          </a:p>
        </p:txBody>
      </p:sp>
      <p:sp>
        <p:nvSpPr>
          <p:cNvPr id="9" name="Text 7"/>
          <p:cNvSpPr txBox="1"/>
          <p:nvPr/>
        </p:nvSpPr>
        <p:spPr>
          <a:xfrm>
            <a:off x="0" y="274320"/>
            <a:ext cx="12188952" cy="640080"/>
          </a:xfrm>
          <a:prstGeom prst="rect">
            <a:avLst/>
          </a:prstGeom>
          <a:noFill/>
          <a:ln/>
        </p:spPr>
        <p:txBody>
          <a:bodyPr wrap="square" lIns="0" tIns="0" rIns="0" bIns="0" rtlCol="0" anchor="ctr"/>
          <a:lstStyle/>
          <a:p>
            <a:pPr marL="0" indent="0" algn="ctr">
              <a:buNone/>
            </a:pPr>
            <a:r>
              <a:rPr lang="en-US" sz="3000" b="1" dirty="0">
                <a:solidFill>
                  <a:srgbClr val="000000"/>
                </a:solidFill>
                <a:latin typeface="Times New Roman" pitchFamily="34" charset="0"/>
                <a:ea typeface="Times New Roman" pitchFamily="34" charset="-122"/>
                <a:cs typeface="Times New Roman" pitchFamily="34" charset="-120"/>
              </a:rPr>
              <a:t>FEASIBILITY AND VIABILITY</a:t>
            </a:r>
            <a:endParaRPr lang="en-US" sz="3000" dirty="0"/>
          </a:p>
        </p:txBody>
      </p:sp>
      <p:sp>
        <p:nvSpPr>
          <p:cNvPr id="10" name="Text 8"/>
          <p:cNvSpPr txBox="1"/>
          <p:nvPr/>
        </p:nvSpPr>
        <p:spPr>
          <a:xfrm>
            <a:off x="365760" y="1143000"/>
            <a:ext cx="5577840" cy="365760"/>
          </a:xfrm>
          <a:prstGeom prst="rect">
            <a:avLst/>
          </a:prstGeom>
          <a:noFill/>
          <a:ln/>
        </p:spPr>
        <p:txBody>
          <a:bodyPr wrap="square" lIns="0" tIns="0" rIns="0" bIns="0" rtlCol="0" anchor="ctr"/>
          <a:lstStyle/>
          <a:p>
            <a:pPr marL="0" indent="0">
              <a:buNone/>
            </a:pPr>
            <a:r>
              <a:rPr lang="en-US" sz="1600" b="1" dirty="0">
                <a:solidFill>
                  <a:srgbClr val="1F5FA6"/>
                </a:solidFill>
                <a:latin typeface="Arial" pitchFamily="34" charset="0"/>
                <a:ea typeface="Arial" pitchFamily="34" charset="-122"/>
                <a:cs typeface="Arial" pitchFamily="34" charset="-120"/>
              </a:rPr>
              <a:t>Feasibility of the Idea:</a:t>
            </a:r>
            <a:endParaRPr lang="en-US" sz="1600" dirty="0"/>
          </a:p>
        </p:txBody>
      </p:sp>
      <p:sp>
        <p:nvSpPr>
          <p:cNvPr id="11" name="Text 9"/>
          <p:cNvSpPr txBox="1"/>
          <p:nvPr/>
        </p:nvSpPr>
        <p:spPr>
          <a:xfrm>
            <a:off x="365760" y="1554480"/>
            <a:ext cx="5436229" cy="4206240"/>
          </a:xfrm>
          <a:prstGeom prst="rect">
            <a:avLst/>
          </a:prstGeom>
          <a:noFill/>
          <a:ln/>
        </p:spPr>
        <p:txBody>
          <a:bodyPr wrap="square" lIns="0" tIns="0" rIns="0" bIns="0" rtlCol="0" anchor="t"/>
          <a:lstStyle/>
          <a:p>
            <a:pPr marL="0" indent="0">
              <a:spcAft>
                <a:spcPts val="2000"/>
              </a:spcAft>
              <a:buNone/>
            </a:pPr>
            <a:r>
              <a:rPr lang="en-US" sz="1300" b="1" dirty="0">
                <a:solidFill>
                  <a:srgbClr val="000000"/>
                </a:solidFill>
                <a:latin typeface="Arial" pitchFamily="34" charset="0"/>
                <a:ea typeface="Arial" pitchFamily="34" charset="-122"/>
                <a:cs typeface="Arial" pitchFamily="34" charset="-120"/>
              </a:rPr>
              <a:t>➢  Technical  Feasibility: </a:t>
            </a:r>
            <a:r>
              <a:rPr lang="en-US" sz="1300" dirty="0" smtClean="0">
                <a:solidFill>
                  <a:srgbClr val="000000"/>
                </a:solidFill>
                <a:latin typeface="Arial" pitchFamily="34" charset="0"/>
                <a:ea typeface="Arial" pitchFamily="34" charset="-122"/>
                <a:cs typeface="Arial" pitchFamily="34" charset="-120"/>
              </a:rPr>
              <a:t>Uses </a:t>
            </a:r>
            <a:r>
              <a:rPr lang="en-US" sz="1300" dirty="0" smtClean="0">
                <a:solidFill>
                  <a:srgbClr val="000000"/>
                </a:solidFill>
                <a:latin typeface="Arial" pitchFamily="34" charset="0"/>
                <a:ea typeface="Arial" pitchFamily="34" charset="-122"/>
                <a:cs typeface="Arial" pitchFamily="34" charset="-120"/>
              </a:rPr>
              <a:t>established AI technologies including </a:t>
            </a:r>
            <a:r>
              <a:rPr lang="en-US" sz="1300" b="1" dirty="0" smtClean="0">
                <a:solidFill>
                  <a:srgbClr val="000000"/>
                </a:solidFill>
                <a:latin typeface="Arial" pitchFamily="34" charset="0"/>
                <a:ea typeface="Arial" pitchFamily="34" charset="-122"/>
                <a:cs typeface="Arial" pitchFamily="34" charset="-120"/>
              </a:rPr>
              <a:t>NLP</a:t>
            </a:r>
            <a:r>
              <a:rPr lang="en-US" sz="1300" dirty="0" smtClean="0">
                <a:solidFill>
                  <a:srgbClr val="000000"/>
                </a:solidFill>
                <a:latin typeface="Arial" pitchFamily="34" charset="0"/>
                <a:ea typeface="Arial" pitchFamily="34" charset="-122"/>
                <a:cs typeface="Arial" pitchFamily="34" charset="-120"/>
              </a:rPr>
              <a:t>, </a:t>
            </a:r>
            <a:r>
              <a:rPr lang="en-US" sz="1300" b="1" dirty="0" smtClean="0">
                <a:solidFill>
                  <a:srgbClr val="000000"/>
                </a:solidFill>
                <a:latin typeface="Arial" pitchFamily="34" charset="0"/>
                <a:ea typeface="Arial" pitchFamily="34" charset="-122"/>
                <a:cs typeface="Arial" pitchFamily="34" charset="-120"/>
              </a:rPr>
              <a:t>speech processing</a:t>
            </a:r>
            <a:r>
              <a:rPr lang="en-US" sz="1300" dirty="0" smtClean="0">
                <a:solidFill>
                  <a:srgbClr val="000000"/>
                </a:solidFill>
                <a:latin typeface="Arial" pitchFamily="34" charset="0"/>
                <a:ea typeface="Arial" pitchFamily="34" charset="-122"/>
                <a:cs typeface="Arial" pitchFamily="34" charset="-120"/>
              </a:rPr>
              <a:t>, </a:t>
            </a:r>
            <a:r>
              <a:rPr lang="en-US" sz="1300" b="1" dirty="0" smtClean="0">
                <a:solidFill>
                  <a:srgbClr val="000000"/>
                </a:solidFill>
                <a:latin typeface="Arial" pitchFamily="34" charset="0"/>
                <a:ea typeface="Arial" pitchFamily="34" charset="-122"/>
                <a:cs typeface="Arial" pitchFamily="34" charset="-120"/>
              </a:rPr>
              <a:t>transformer models </a:t>
            </a:r>
            <a:r>
              <a:rPr lang="en-US" sz="1300" dirty="0" smtClean="0">
                <a:solidFill>
                  <a:srgbClr val="000000"/>
                </a:solidFill>
                <a:latin typeface="Arial" pitchFamily="34" charset="0"/>
                <a:ea typeface="Arial" pitchFamily="34" charset="-122"/>
                <a:cs typeface="Arial" pitchFamily="34" charset="-120"/>
              </a:rPr>
              <a:t>and </a:t>
            </a:r>
            <a:r>
              <a:rPr lang="en-US" sz="1300" b="1" dirty="0" smtClean="0">
                <a:solidFill>
                  <a:srgbClr val="000000"/>
                </a:solidFill>
                <a:latin typeface="Arial" pitchFamily="34" charset="0"/>
                <a:ea typeface="Arial" pitchFamily="34" charset="-122"/>
                <a:cs typeface="Arial" pitchFamily="34" charset="-120"/>
              </a:rPr>
              <a:t>classification algorithms</a:t>
            </a:r>
            <a:r>
              <a:rPr lang="en-US" sz="1300" dirty="0" smtClean="0">
                <a:solidFill>
                  <a:srgbClr val="000000"/>
                </a:solidFill>
                <a:latin typeface="Arial" pitchFamily="34" charset="0"/>
                <a:ea typeface="Arial" pitchFamily="34" charset="-122"/>
                <a:cs typeface="Arial" pitchFamily="34" charset="-120"/>
              </a:rPr>
              <a:t>, making real-time assessment technically achievable. </a:t>
            </a:r>
            <a:endParaRPr lang="en-US" sz="1300" dirty="0" smtClean="0">
              <a:solidFill>
                <a:srgbClr val="000000"/>
              </a:solidFill>
              <a:latin typeface="Arial" pitchFamily="34" charset="0"/>
              <a:ea typeface="Arial" pitchFamily="34" charset="-122"/>
              <a:cs typeface="Arial" pitchFamily="34" charset="-120"/>
            </a:endParaRPr>
          </a:p>
          <a:p>
            <a:pPr>
              <a:spcAft>
                <a:spcPts val="2000"/>
              </a:spcAft>
            </a:pPr>
            <a:r>
              <a:rPr lang="en-US" sz="1300" b="1" dirty="0" smtClean="0">
                <a:solidFill>
                  <a:srgbClr val="000000"/>
                </a:solidFill>
                <a:latin typeface="Arial" pitchFamily="34" charset="0"/>
                <a:ea typeface="Arial" pitchFamily="34" charset="-122"/>
                <a:cs typeface="Arial" pitchFamily="34" charset="-120"/>
              </a:rPr>
              <a:t>➢  </a:t>
            </a:r>
            <a:r>
              <a:rPr lang="en-US" sz="1300" b="1" dirty="0">
                <a:solidFill>
                  <a:srgbClr val="000000"/>
                </a:solidFill>
                <a:latin typeface="Arial" pitchFamily="34" charset="0"/>
                <a:ea typeface="Arial" pitchFamily="34" charset="-122"/>
                <a:cs typeface="Arial" pitchFamily="34" charset="-120"/>
              </a:rPr>
              <a:t>Operational Feasibility</a:t>
            </a:r>
            <a:r>
              <a:rPr lang="en-US" sz="1300" b="1" dirty="0" smtClean="0">
                <a:solidFill>
                  <a:srgbClr val="000000"/>
                </a:solidFill>
                <a:latin typeface="Arial" pitchFamily="34" charset="0"/>
                <a:ea typeface="Arial" pitchFamily="34" charset="-122"/>
                <a:cs typeface="Arial" pitchFamily="34" charset="-120"/>
              </a:rPr>
              <a:t>: </a:t>
            </a:r>
            <a:r>
              <a:rPr lang="en-US" sz="1300" dirty="0" smtClean="0">
                <a:solidFill>
                  <a:srgbClr val="000000"/>
                </a:solidFill>
                <a:latin typeface="Arial" pitchFamily="34" charset="0"/>
                <a:ea typeface="Arial" pitchFamily="34" charset="-122"/>
                <a:cs typeface="Arial" pitchFamily="34" charset="-120"/>
              </a:rPr>
              <a:t>The module can operate as an assessment layer over existing </a:t>
            </a:r>
            <a:r>
              <a:rPr lang="en-US" sz="1300" b="1" dirty="0" smtClean="0">
                <a:solidFill>
                  <a:srgbClr val="000000"/>
                </a:solidFill>
                <a:latin typeface="Arial" pitchFamily="34" charset="0"/>
                <a:ea typeface="Arial" pitchFamily="34" charset="-122"/>
                <a:cs typeface="Arial" pitchFamily="34" charset="-120"/>
              </a:rPr>
              <a:t>NHAA channels</a:t>
            </a:r>
            <a:r>
              <a:rPr lang="en-US" sz="1300" dirty="0" smtClean="0">
                <a:solidFill>
                  <a:srgbClr val="000000"/>
                </a:solidFill>
                <a:latin typeface="Arial" pitchFamily="34" charset="0"/>
                <a:ea typeface="Arial" pitchFamily="34" charset="-122"/>
                <a:cs typeface="Arial" pitchFamily="34" charset="-120"/>
              </a:rPr>
              <a:t> without requiring </a:t>
            </a:r>
            <a:r>
              <a:rPr lang="en-US" sz="1300" b="1" dirty="0" smtClean="0">
                <a:solidFill>
                  <a:srgbClr val="000000"/>
                </a:solidFill>
                <a:latin typeface="Arial" pitchFamily="34" charset="0"/>
                <a:ea typeface="Arial" pitchFamily="34" charset="-122"/>
                <a:cs typeface="Arial" pitchFamily="34" charset="-120"/>
              </a:rPr>
              <a:t>complete replacement </a:t>
            </a:r>
            <a:r>
              <a:rPr lang="en-US" sz="1300" dirty="0" smtClean="0">
                <a:solidFill>
                  <a:srgbClr val="000000"/>
                </a:solidFill>
                <a:latin typeface="Arial" pitchFamily="34" charset="0"/>
                <a:ea typeface="Arial" pitchFamily="34" charset="-122"/>
                <a:cs typeface="Arial" pitchFamily="34" charset="-120"/>
              </a:rPr>
              <a:t>of the current infrastructure</a:t>
            </a:r>
            <a:r>
              <a:rPr lang="en-US" sz="1300" dirty="0" smtClean="0">
                <a:solidFill>
                  <a:srgbClr val="000000"/>
                </a:solidFill>
                <a:latin typeface="Arial" pitchFamily="34" charset="0"/>
                <a:ea typeface="Arial" pitchFamily="34" charset="-122"/>
                <a:cs typeface="Arial" pitchFamily="34" charset="-120"/>
              </a:rPr>
              <a:t>.</a:t>
            </a:r>
          </a:p>
          <a:p>
            <a:pPr>
              <a:spcAft>
                <a:spcPts val="2000"/>
              </a:spcAft>
            </a:pPr>
            <a:r>
              <a:rPr lang="en-US" sz="1300" b="1" dirty="0" smtClean="0">
                <a:solidFill>
                  <a:srgbClr val="000000"/>
                </a:solidFill>
                <a:latin typeface="Arial" pitchFamily="34" charset="0"/>
                <a:ea typeface="Arial" pitchFamily="34" charset="-122"/>
                <a:cs typeface="Arial" pitchFamily="34" charset="-120"/>
              </a:rPr>
              <a:t>➢</a:t>
            </a:r>
            <a:r>
              <a:rPr lang="en-US" sz="1300" dirty="0" smtClean="0"/>
              <a:t> </a:t>
            </a:r>
            <a:r>
              <a:rPr lang="en-US" sz="1300" b="1" dirty="0" smtClean="0">
                <a:latin typeface="Arial" pitchFamily="34" charset="0"/>
                <a:cs typeface="Arial" pitchFamily="34" charset="0"/>
              </a:rPr>
              <a:t>Scalability: </a:t>
            </a:r>
            <a:r>
              <a:rPr lang="en-US" sz="1300" dirty="0" smtClean="0">
                <a:latin typeface="Arial" pitchFamily="34" charset="0"/>
                <a:cs typeface="Arial" pitchFamily="34" charset="0"/>
              </a:rPr>
              <a:t>A </a:t>
            </a:r>
            <a:r>
              <a:rPr lang="en-US" sz="1300" dirty="0" smtClean="0">
                <a:latin typeface="Arial" pitchFamily="34" charset="0"/>
                <a:cs typeface="Arial" pitchFamily="34" charset="0"/>
              </a:rPr>
              <a:t>modular API-based architecture allows deployment across</a:t>
            </a:r>
            <a:r>
              <a:rPr lang="en-US" sz="1300" dirty="0" smtClean="0">
                <a:latin typeface="Arial" pitchFamily="34" charset="0"/>
                <a:cs typeface="Arial" pitchFamily="34" charset="0"/>
              </a:rPr>
              <a:t>:</a:t>
            </a:r>
          </a:p>
          <a:p>
            <a:pPr>
              <a:spcAft>
                <a:spcPts val="2000"/>
              </a:spcAft>
            </a:pPr>
            <a:r>
              <a:rPr lang="en-US" sz="1300" b="1" dirty="0" smtClean="0">
                <a:latin typeface="Arial" pitchFamily="34" charset="0"/>
                <a:cs typeface="Arial" pitchFamily="34" charset="0"/>
              </a:rPr>
              <a:t>14566 </a:t>
            </a:r>
            <a:r>
              <a:rPr lang="en-US" sz="1300" b="1" dirty="0" smtClean="0">
                <a:latin typeface="Arial" pitchFamily="34" charset="0"/>
                <a:cs typeface="Arial" pitchFamily="34" charset="0"/>
              </a:rPr>
              <a:t>Helpline → Web Portal → </a:t>
            </a:r>
            <a:r>
              <a:rPr lang="en-US" sz="1300" b="1" dirty="0" err="1" smtClean="0">
                <a:latin typeface="Arial" pitchFamily="34" charset="0"/>
                <a:cs typeface="Arial" pitchFamily="34" charset="0"/>
              </a:rPr>
              <a:t>Chatbot</a:t>
            </a:r>
            <a:r>
              <a:rPr lang="en-US" sz="1300" b="1" dirty="0" smtClean="0">
                <a:latin typeface="Arial" pitchFamily="34" charset="0"/>
                <a:cs typeface="Arial" pitchFamily="34" charset="0"/>
              </a:rPr>
              <a:t> → Mobile App → IVRS</a:t>
            </a:r>
            <a:endParaRPr lang="en-US" sz="1300" b="1" dirty="0">
              <a:latin typeface="Arial" pitchFamily="34" charset="0"/>
              <a:cs typeface="Arial" pitchFamily="34" charset="0"/>
            </a:endParaRPr>
          </a:p>
          <a:p>
            <a:pPr>
              <a:spcAft>
                <a:spcPts val="2000"/>
              </a:spcAft>
            </a:pPr>
            <a:r>
              <a:rPr lang="en-US" sz="1300" b="1" dirty="0">
                <a:solidFill>
                  <a:srgbClr val="000000"/>
                </a:solidFill>
                <a:latin typeface="Arial" pitchFamily="34" charset="0"/>
                <a:ea typeface="Arial" pitchFamily="34" charset="-122"/>
                <a:cs typeface="Arial" pitchFamily="34" charset="-120"/>
              </a:rPr>
              <a:t>➢  Economic Feasibility</a:t>
            </a:r>
            <a:r>
              <a:rPr lang="en-US" sz="1300" b="1" dirty="0" smtClean="0">
                <a:solidFill>
                  <a:srgbClr val="000000"/>
                </a:solidFill>
                <a:latin typeface="Arial" pitchFamily="34" charset="0"/>
                <a:ea typeface="Arial" pitchFamily="34" charset="-122"/>
                <a:cs typeface="Arial" pitchFamily="34" charset="-120"/>
              </a:rPr>
              <a:t>: </a:t>
            </a:r>
            <a:r>
              <a:rPr lang="en-US" sz="1300" dirty="0" smtClean="0">
                <a:solidFill>
                  <a:srgbClr val="000000"/>
                </a:solidFill>
                <a:latin typeface="Arial" pitchFamily="34" charset="0"/>
                <a:ea typeface="Arial" pitchFamily="34" charset="-122"/>
                <a:cs typeface="Arial" pitchFamily="34" charset="-120"/>
              </a:rPr>
              <a:t>Cloud-based deployment and modular AI services can reduce infrastructure requirements while allowing resources to scale according to </a:t>
            </a:r>
            <a:r>
              <a:rPr lang="en-US" sz="1300" dirty="0" smtClean="0">
                <a:solidFill>
                  <a:srgbClr val="000000"/>
                </a:solidFill>
                <a:latin typeface="Arial" pitchFamily="34" charset="0"/>
                <a:ea typeface="Arial" pitchFamily="34" charset="-122"/>
                <a:cs typeface="Arial" pitchFamily="34" charset="-120"/>
              </a:rPr>
              <a:t>demand.</a:t>
            </a:r>
            <a:endParaRPr lang="en-US" sz="1300" dirty="0"/>
          </a:p>
        </p:txBody>
      </p:sp>
      <p:sp>
        <p:nvSpPr>
          <p:cNvPr id="12" name="Text 10"/>
          <p:cNvSpPr txBox="1"/>
          <p:nvPr/>
        </p:nvSpPr>
        <p:spPr>
          <a:xfrm>
            <a:off x="6172200" y="1143000"/>
            <a:ext cx="5669280" cy="365760"/>
          </a:xfrm>
          <a:prstGeom prst="rect">
            <a:avLst/>
          </a:prstGeom>
          <a:noFill/>
          <a:ln/>
        </p:spPr>
        <p:txBody>
          <a:bodyPr wrap="square" lIns="0" tIns="0" rIns="0" bIns="0" rtlCol="0" anchor="ctr"/>
          <a:lstStyle/>
          <a:p>
            <a:pPr marL="0" indent="0">
              <a:buNone/>
            </a:pPr>
            <a:r>
              <a:rPr lang="en-US" sz="1600" b="1" dirty="0">
                <a:solidFill>
                  <a:srgbClr val="1F5FA6"/>
                </a:solidFill>
                <a:latin typeface="Arial" pitchFamily="34" charset="0"/>
                <a:ea typeface="Arial" pitchFamily="34" charset="-122"/>
                <a:cs typeface="Arial" pitchFamily="34" charset="-120"/>
              </a:rPr>
              <a:t>Potential Challenges, Risks and its overcomings:</a:t>
            </a:r>
            <a:endParaRPr lang="en-US" sz="1600" dirty="0"/>
          </a:p>
        </p:txBody>
      </p:sp>
      <p:sp>
        <p:nvSpPr>
          <p:cNvPr id="13" name="Text 11"/>
          <p:cNvSpPr txBox="1"/>
          <p:nvPr/>
        </p:nvSpPr>
        <p:spPr>
          <a:xfrm>
            <a:off x="6172200" y="1554479"/>
            <a:ext cx="5669280" cy="5080989"/>
          </a:xfrm>
          <a:prstGeom prst="rect">
            <a:avLst/>
          </a:prstGeom>
          <a:noFill/>
          <a:ln/>
        </p:spPr>
        <p:txBody>
          <a:bodyPr wrap="square" lIns="0" tIns="0" rIns="0" bIns="0" rtlCol="0" anchor="t"/>
          <a:lstStyle/>
          <a:p>
            <a:pPr>
              <a:spcAft>
                <a:spcPts val="600"/>
              </a:spcAft>
            </a:pPr>
            <a:r>
              <a:rPr lang="en-US" sz="1200" b="1" dirty="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AI Bias &amp; </a:t>
            </a:r>
            <a:r>
              <a:rPr lang="en-US" sz="1200" b="1" dirty="0" smtClean="0">
                <a:solidFill>
                  <a:srgbClr val="000000"/>
                </a:solidFill>
                <a:latin typeface="Arial" pitchFamily="34" charset="0"/>
                <a:ea typeface="Arial" pitchFamily="34" charset="-122"/>
                <a:cs typeface="Arial" pitchFamily="34" charset="-120"/>
              </a:rPr>
              <a:t>Accuracy:-</a:t>
            </a:r>
          </a:p>
          <a:p>
            <a:pPr>
              <a:spcAft>
                <a:spcPts val="600"/>
              </a:spcAft>
            </a:pPr>
            <a:r>
              <a:rPr lang="en-US" sz="1200" b="1" dirty="0" smtClean="0">
                <a:latin typeface="Arial" pitchFamily="34" charset="0"/>
                <a:cs typeface="Arial" pitchFamily="34" charset="0"/>
              </a:rPr>
              <a:t>Challenge:</a:t>
            </a:r>
            <a:r>
              <a:rPr lang="en-US" sz="1200" dirty="0" smtClean="0">
                <a:latin typeface="Arial" pitchFamily="34" charset="0"/>
                <a:cs typeface="Arial" pitchFamily="34" charset="0"/>
              </a:rPr>
              <a:t> Emotional expressions vary across languages, cultures and individuals</a:t>
            </a:r>
            <a:r>
              <a:rPr lang="en-US" sz="1200" dirty="0" smtClean="0">
                <a:latin typeface="Arial" pitchFamily="34" charset="0"/>
                <a:cs typeface="Arial" pitchFamily="34" charset="0"/>
              </a:rPr>
              <a:t>.</a:t>
            </a:r>
          </a:p>
          <a:p>
            <a:pPr>
              <a:spcAft>
                <a:spcPts val="600"/>
              </a:spcAft>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latin typeface="Arial" pitchFamily="34" charset="0"/>
                <a:cs typeface="Arial" pitchFamily="34" charset="0"/>
              </a:rPr>
              <a:t>Solution</a:t>
            </a:r>
            <a:r>
              <a:rPr lang="en-US" sz="1200" b="1" dirty="0" smtClean="0">
                <a:latin typeface="Arial" pitchFamily="34" charset="0"/>
                <a:cs typeface="Arial" pitchFamily="34" charset="0"/>
              </a:rPr>
              <a:t>:</a:t>
            </a:r>
            <a:r>
              <a:rPr lang="en-US" sz="1200" dirty="0" smtClean="0">
                <a:latin typeface="Arial" pitchFamily="34" charset="0"/>
                <a:cs typeface="Arial" pitchFamily="34" charset="0"/>
              </a:rPr>
              <a:t> Diverse datasets, continuous evaluation, fairness testing and human validation.</a:t>
            </a:r>
            <a:endParaRPr lang="en-US" sz="1200" dirty="0">
              <a:latin typeface="Arial" pitchFamily="34" charset="0"/>
              <a:cs typeface="Arial" pitchFamily="34" charset="0"/>
            </a:endParaRPr>
          </a:p>
          <a:p>
            <a:pPr>
              <a:spcAft>
                <a:spcPts val="600"/>
              </a:spcAft>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False </a:t>
            </a:r>
            <a:r>
              <a:rPr lang="en-US" sz="1200" b="1" dirty="0" smtClean="0">
                <a:solidFill>
                  <a:srgbClr val="000000"/>
                </a:solidFill>
                <a:latin typeface="Arial" pitchFamily="34" charset="0"/>
                <a:ea typeface="Arial" pitchFamily="34" charset="-122"/>
                <a:cs typeface="Arial" pitchFamily="34" charset="-120"/>
              </a:rPr>
              <a:t>Positives / False </a:t>
            </a:r>
            <a:r>
              <a:rPr lang="en-US" sz="1200" b="1" dirty="0" smtClean="0">
                <a:solidFill>
                  <a:srgbClr val="000000"/>
                </a:solidFill>
                <a:latin typeface="Arial" pitchFamily="34" charset="0"/>
                <a:ea typeface="Arial" pitchFamily="34" charset="-122"/>
                <a:cs typeface="Arial" pitchFamily="34" charset="-120"/>
              </a:rPr>
              <a:t>Negatives:-</a:t>
            </a:r>
          </a:p>
          <a:p>
            <a:pPr>
              <a:spcAft>
                <a:spcPts val="600"/>
              </a:spcAft>
            </a:pPr>
            <a:r>
              <a:rPr lang="en-US" sz="1200" b="1" dirty="0" smtClean="0">
                <a:solidFill>
                  <a:srgbClr val="000000"/>
                </a:solidFill>
                <a:latin typeface="Arial" pitchFamily="34" charset="0"/>
                <a:ea typeface="Arial" pitchFamily="34" charset="-122"/>
                <a:cs typeface="Arial" pitchFamily="34" charset="-120"/>
              </a:rPr>
              <a:t>Challenge</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AI may incorrectly classify emotional states</a:t>
            </a:r>
            <a:r>
              <a:rPr lang="en-US" sz="1200" dirty="0" smtClean="0">
                <a:solidFill>
                  <a:srgbClr val="000000"/>
                </a:solidFill>
                <a:latin typeface="Arial" pitchFamily="34" charset="0"/>
                <a:ea typeface="Arial" pitchFamily="34" charset="-122"/>
                <a:cs typeface="Arial" pitchFamily="34" charset="-120"/>
              </a:rPr>
              <a:t>.</a:t>
            </a:r>
          </a:p>
          <a:p>
            <a:pPr>
              <a:spcAft>
                <a:spcPts val="600"/>
              </a:spcAft>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Solution</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Use AI as a decision-support system, not an autonomous diagnostic system, with human review for high-risk cases. </a:t>
            </a:r>
            <a:endParaRPr lang="en-US" sz="1200" dirty="0" smtClean="0">
              <a:solidFill>
                <a:srgbClr val="000000"/>
              </a:solidFill>
              <a:latin typeface="Arial" pitchFamily="34" charset="0"/>
              <a:ea typeface="Arial" pitchFamily="34" charset="-122"/>
              <a:cs typeface="Arial" pitchFamily="34" charset="-120"/>
            </a:endParaRPr>
          </a:p>
          <a:p>
            <a:pPr>
              <a:spcAft>
                <a:spcPts val="600"/>
              </a:spcAft>
            </a:pPr>
            <a:r>
              <a:rPr lang="en-US" sz="1200" b="1" dirty="0" smtClean="0">
                <a:solidFill>
                  <a:srgbClr val="000000"/>
                </a:solidFill>
                <a:latin typeface="Arial" pitchFamily="34" charset="0"/>
                <a:ea typeface="Arial" pitchFamily="34" charset="-122"/>
                <a:cs typeface="Arial" pitchFamily="34" charset="-120"/>
              </a:rPr>
              <a:t> ➢ </a:t>
            </a:r>
            <a:r>
              <a:rPr lang="en-US" sz="1200" b="1" dirty="0" smtClean="0">
                <a:solidFill>
                  <a:srgbClr val="000000"/>
                </a:solidFill>
                <a:latin typeface="Arial" pitchFamily="34" charset="0"/>
                <a:ea typeface="Arial" pitchFamily="34" charset="-122"/>
                <a:cs typeface="Arial" pitchFamily="34" charset="-120"/>
              </a:rPr>
              <a:t>Privacy </a:t>
            </a:r>
            <a:r>
              <a:rPr lang="en-US" sz="1200" b="1" dirty="0" smtClean="0">
                <a:solidFill>
                  <a:srgbClr val="000000"/>
                </a:solidFill>
                <a:latin typeface="Arial" pitchFamily="34" charset="0"/>
                <a:ea typeface="Arial" pitchFamily="34" charset="-122"/>
                <a:cs typeface="Arial" pitchFamily="34" charset="-120"/>
              </a:rPr>
              <a:t>&amp; Data </a:t>
            </a:r>
            <a:r>
              <a:rPr lang="en-US" sz="1200" b="1" dirty="0" smtClean="0">
                <a:solidFill>
                  <a:srgbClr val="000000"/>
                </a:solidFill>
                <a:latin typeface="Arial" pitchFamily="34" charset="0"/>
                <a:ea typeface="Arial" pitchFamily="34" charset="-122"/>
                <a:cs typeface="Arial" pitchFamily="34" charset="-120"/>
              </a:rPr>
              <a:t>Security:-</a:t>
            </a:r>
          </a:p>
          <a:p>
            <a:pPr>
              <a:spcAft>
                <a:spcPts val="600"/>
              </a:spcAft>
            </a:pPr>
            <a:r>
              <a:rPr lang="en-US" sz="1200" b="1" dirty="0" smtClean="0">
                <a:solidFill>
                  <a:srgbClr val="000000"/>
                </a:solidFill>
                <a:latin typeface="Arial" pitchFamily="34" charset="0"/>
                <a:ea typeface="Arial" pitchFamily="34" charset="-122"/>
                <a:cs typeface="Arial" pitchFamily="34" charset="-120"/>
              </a:rPr>
              <a:t>Challenge: </a:t>
            </a:r>
            <a:r>
              <a:rPr lang="en-US" sz="1200" dirty="0" smtClean="0">
                <a:solidFill>
                  <a:srgbClr val="000000"/>
                </a:solidFill>
                <a:latin typeface="Arial" pitchFamily="34" charset="0"/>
                <a:ea typeface="Arial" pitchFamily="34" charset="-122"/>
                <a:cs typeface="Arial" pitchFamily="34" charset="-120"/>
              </a:rPr>
              <a:t>Victim conversations can contain extremely sensitive information</a:t>
            </a:r>
            <a:r>
              <a:rPr lang="en-US" sz="1200" dirty="0" smtClean="0">
                <a:solidFill>
                  <a:srgbClr val="000000"/>
                </a:solidFill>
                <a:latin typeface="Arial" pitchFamily="34" charset="0"/>
                <a:ea typeface="Arial" pitchFamily="34" charset="-122"/>
                <a:cs typeface="Arial" pitchFamily="34" charset="-120"/>
              </a:rPr>
              <a:t>.</a:t>
            </a:r>
          </a:p>
          <a:p>
            <a:pPr>
              <a:spcAft>
                <a:spcPts val="600"/>
              </a:spcAft>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Solution</a:t>
            </a:r>
            <a:r>
              <a:rPr lang="en-US" sz="1200" dirty="0" smtClean="0">
                <a:solidFill>
                  <a:srgbClr val="000000"/>
                </a:solidFill>
                <a:latin typeface="Arial" pitchFamily="34" charset="0"/>
                <a:ea typeface="Arial" pitchFamily="34" charset="-122"/>
                <a:cs typeface="Arial" pitchFamily="34" charset="-120"/>
              </a:rPr>
              <a:t>: Consent-based collection, encryption, access control, data minimization and secure storage. </a:t>
            </a:r>
            <a:endParaRPr lang="en-US" sz="1200" dirty="0" smtClean="0">
              <a:solidFill>
                <a:srgbClr val="000000"/>
              </a:solidFill>
              <a:latin typeface="Arial" pitchFamily="34" charset="0"/>
              <a:ea typeface="Arial" pitchFamily="34" charset="-122"/>
              <a:cs typeface="Arial" pitchFamily="34" charset="-120"/>
            </a:endParaRPr>
          </a:p>
          <a:p>
            <a:pPr>
              <a:spcAft>
                <a:spcPts val="600"/>
              </a:spcAft>
            </a:pPr>
            <a:r>
              <a:rPr lang="en-US" sz="1200" b="1" dirty="0" smtClean="0">
                <a:solidFill>
                  <a:srgbClr val="000000"/>
                </a:solidFill>
                <a:latin typeface="Arial" pitchFamily="34" charset="0"/>
                <a:ea typeface="Arial" pitchFamily="34" charset="-122"/>
                <a:cs typeface="Arial" pitchFamily="34" charset="-120"/>
              </a:rPr>
              <a:t>➢  Multilingual &amp; Dialect </a:t>
            </a:r>
            <a:r>
              <a:rPr lang="en-US" sz="1200" b="1" dirty="0" smtClean="0">
                <a:solidFill>
                  <a:srgbClr val="000000"/>
                </a:solidFill>
                <a:latin typeface="Arial" pitchFamily="34" charset="0"/>
                <a:ea typeface="Arial" pitchFamily="34" charset="-122"/>
                <a:cs typeface="Arial" pitchFamily="34" charset="-120"/>
              </a:rPr>
              <a:t>Variation:-</a:t>
            </a:r>
          </a:p>
          <a:p>
            <a:pPr>
              <a:spcAft>
                <a:spcPts val="600"/>
              </a:spcAft>
            </a:pPr>
            <a:r>
              <a:rPr lang="en-US" sz="1200" b="1" dirty="0" smtClean="0">
                <a:solidFill>
                  <a:srgbClr val="000000"/>
                </a:solidFill>
                <a:latin typeface="Arial" pitchFamily="34" charset="0"/>
                <a:ea typeface="Arial" pitchFamily="34" charset="-122"/>
                <a:cs typeface="Arial" pitchFamily="34" charset="-120"/>
              </a:rPr>
              <a:t>Challenge</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Users may communicate in different Indian languages and dialects</a:t>
            </a:r>
            <a:r>
              <a:rPr lang="en-US" sz="1200" dirty="0" smtClean="0">
                <a:solidFill>
                  <a:srgbClr val="000000"/>
                </a:solidFill>
                <a:latin typeface="Arial" pitchFamily="34" charset="0"/>
                <a:ea typeface="Arial" pitchFamily="34" charset="-122"/>
                <a:cs typeface="Arial" pitchFamily="34" charset="-120"/>
              </a:rPr>
              <a:t>.</a:t>
            </a:r>
          </a:p>
          <a:p>
            <a:pPr>
              <a:spcAft>
                <a:spcPts val="600"/>
              </a:spcAft>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Solution</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Multilingual NLP/STT models with language detection and continuous dataset improvement</a:t>
            </a:r>
            <a:r>
              <a:rPr lang="en-US" sz="1200" dirty="0" smtClean="0">
                <a:solidFill>
                  <a:srgbClr val="000000"/>
                </a:solidFill>
                <a:latin typeface="Arial" pitchFamily="34" charset="0"/>
                <a:ea typeface="Arial" pitchFamily="34" charset="-122"/>
                <a:cs typeface="Arial" pitchFamily="34" charset="-120"/>
              </a:rPr>
              <a:t>.</a:t>
            </a:r>
          </a:p>
          <a:p>
            <a:pPr>
              <a:spcAft>
                <a:spcPts val="600"/>
              </a:spcAft>
            </a:pPr>
            <a:r>
              <a:rPr lang="en-US" sz="1200" b="1" dirty="0" smtClean="0">
                <a:solidFill>
                  <a:srgbClr val="000000"/>
                </a:solidFill>
                <a:latin typeface="Arial" pitchFamily="34" charset="0"/>
                <a:ea typeface="Arial" pitchFamily="34" charset="-122"/>
                <a:cs typeface="Arial" pitchFamily="34" charset="0"/>
              </a:rPr>
              <a:t>➢ </a:t>
            </a:r>
            <a:r>
              <a:rPr lang="en-US" sz="1200" b="1" dirty="0" smtClean="0">
                <a:latin typeface="Arial" pitchFamily="34" charset="0"/>
                <a:cs typeface="Arial" pitchFamily="34" charset="0"/>
              </a:rPr>
              <a:t>Adversarial </a:t>
            </a:r>
            <a:r>
              <a:rPr lang="en-US" sz="1200" b="1" dirty="0" smtClean="0">
                <a:latin typeface="Arial" pitchFamily="34" charset="0"/>
                <a:cs typeface="Arial" pitchFamily="34" charset="0"/>
              </a:rPr>
              <a:t>/ Manipulated </a:t>
            </a:r>
            <a:r>
              <a:rPr lang="en-US" sz="1200" b="1" dirty="0" smtClean="0">
                <a:latin typeface="Arial" pitchFamily="34" charset="0"/>
                <a:cs typeface="Arial" pitchFamily="34" charset="0"/>
              </a:rPr>
              <a:t>Responses:-</a:t>
            </a:r>
          </a:p>
          <a:p>
            <a:pPr>
              <a:spcAft>
                <a:spcPts val="600"/>
              </a:spcAft>
            </a:pPr>
            <a:r>
              <a:rPr lang="en-US" sz="1200" b="1" dirty="0" smtClean="0">
                <a:latin typeface="Arial" pitchFamily="34" charset="0"/>
                <a:cs typeface="Arial" pitchFamily="34" charset="0"/>
              </a:rPr>
              <a:t>Challenge</a:t>
            </a:r>
            <a:r>
              <a:rPr lang="en-US" sz="1200" b="1" dirty="0" smtClean="0">
                <a:latin typeface="Arial" pitchFamily="34" charset="0"/>
                <a:cs typeface="Arial" pitchFamily="34" charset="0"/>
              </a:rPr>
              <a:t>: </a:t>
            </a:r>
            <a:r>
              <a:rPr lang="en-US" sz="1200" dirty="0" smtClean="0">
                <a:latin typeface="Arial" pitchFamily="34" charset="0"/>
                <a:cs typeface="Arial" pitchFamily="34" charset="0"/>
              </a:rPr>
              <a:t>Users may unintentionally or intentionally provide incomplete information</a:t>
            </a:r>
            <a:r>
              <a:rPr lang="en-US" sz="1200" dirty="0" smtClean="0">
                <a:latin typeface="Arial" pitchFamily="34" charset="0"/>
                <a:cs typeface="Arial" pitchFamily="34" charset="0"/>
              </a:rPr>
              <a:t>.</a:t>
            </a:r>
          </a:p>
          <a:p>
            <a:pPr>
              <a:spcAft>
                <a:spcPts val="600"/>
              </a:spcAft>
            </a:pPr>
            <a:r>
              <a:rPr lang="en-US" sz="1200" b="1" dirty="0" smtClean="0">
                <a:solidFill>
                  <a:srgbClr val="000000"/>
                </a:solidFill>
                <a:latin typeface="Arial" pitchFamily="34" charset="0"/>
                <a:ea typeface="Arial" pitchFamily="34" charset="-122"/>
                <a:cs typeface="Arial" pitchFamily="34" charset="-120"/>
              </a:rPr>
              <a:t>❖ </a:t>
            </a:r>
            <a:r>
              <a:rPr lang="en-US" sz="1200" dirty="0" smtClean="0">
                <a:latin typeface="Arial" pitchFamily="34" charset="0"/>
                <a:cs typeface="Arial" pitchFamily="34" charset="0"/>
              </a:rPr>
              <a:t>Solution</a:t>
            </a:r>
            <a:r>
              <a:rPr lang="en-US" sz="1200" dirty="0" smtClean="0"/>
              <a:t>: </a:t>
            </a:r>
            <a:r>
              <a:rPr lang="en-US" sz="1200" dirty="0" smtClean="0">
                <a:latin typeface="Arial" pitchFamily="34" charset="0"/>
                <a:cs typeface="Arial" pitchFamily="34" charset="0"/>
              </a:rPr>
              <a:t>Combine multiple interaction signals and use confidence scores instead of relying on a single response.</a:t>
            </a:r>
            <a:endParaRPr lang="en-US" sz="1200" dirty="0">
              <a:latin typeface="Arial" pitchFamily="34" charset="0"/>
              <a:cs typeface="Arial" pitchFamily="34" charset="0"/>
            </a:endParaRPr>
          </a:p>
        </p:txBody>
      </p:sp>
      <p:pic>
        <p:nvPicPr>
          <p:cNvPr id="14" name="Picture 13" descr="side logo.jpg"/>
          <p:cNvPicPr>
            <a:picLocks noChangeAspect="1"/>
          </p:cNvPicPr>
          <p:nvPr/>
        </p:nvPicPr>
        <p:blipFill>
          <a:blip r:embed="rId3"/>
          <a:stretch>
            <a:fillRect/>
          </a:stretch>
        </p:blipFill>
        <p:spPr>
          <a:xfrm>
            <a:off x="9984702" y="0"/>
            <a:ext cx="1811058" cy="824240"/>
          </a:xfrm>
          <a:prstGeom prst="rect">
            <a:avLst/>
          </a:prstGeom>
        </p:spPr>
      </p:pic>
      <p:pic>
        <p:nvPicPr>
          <p:cNvPr id="15" name="Picture 14" descr="sage image.jpg"/>
          <p:cNvPicPr>
            <a:picLocks noChangeAspect="1"/>
          </p:cNvPicPr>
          <p:nvPr/>
        </p:nvPicPr>
        <p:blipFill>
          <a:blip r:embed="rId4"/>
          <a:stretch>
            <a:fillRect/>
          </a:stretch>
        </p:blipFill>
        <p:spPr>
          <a:xfrm>
            <a:off x="605756" y="157734"/>
            <a:ext cx="1708566" cy="452214"/>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320040" y="274320"/>
            <a:ext cx="1005840" cy="548640"/>
          </a:xfrm>
          <a:prstGeom prst="rect">
            <a:avLst/>
          </a:prstGeom>
          <a:noFill/>
          <a:ln/>
        </p:spPr>
        <p:txBody>
          <a:bodyPr wrap="square" lIns="0" tIns="0" rIns="0" bIns="0" rtlCol="0" anchor="ctr"/>
          <a:lstStyle/>
          <a:p>
            <a:pPr marL="0" indent="0" algn="ctr">
              <a:buNone/>
            </a:pPr>
            <a:endParaRPr lang="en-US" sz="1400" dirty="0"/>
          </a:p>
        </p:txBody>
      </p:sp>
      <p:sp>
        <p:nvSpPr>
          <p:cNvPr id="8" name="Text 6"/>
          <p:cNvSpPr txBox="1"/>
          <p:nvPr/>
        </p:nvSpPr>
        <p:spPr>
          <a:xfrm>
            <a:off x="11109960" y="256032"/>
            <a:ext cx="1051560" cy="777240"/>
          </a:xfrm>
          <a:prstGeom prst="rect">
            <a:avLst/>
          </a:prstGeom>
          <a:noFill/>
          <a:ln/>
        </p:spPr>
        <p:txBody>
          <a:bodyPr wrap="square" lIns="0" tIns="0" rIns="0" bIns="0" rtlCol="0" anchor="ctr"/>
          <a:lstStyle/>
          <a:p>
            <a:pPr marL="0" indent="0" algn="l">
              <a:lnSpc>
                <a:spcPct val="100000"/>
              </a:lnSpc>
              <a:buNone/>
            </a:pPr>
            <a:endParaRPr lang="en-US" sz="750" dirty="0"/>
          </a:p>
        </p:txBody>
      </p:sp>
      <p:sp>
        <p:nvSpPr>
          <p:cNvPr id="9" name="Text 7"/>
          <p:cNvSpPr txBox="1"/>
          <p:nvPr/>
        </p:nvSpPr>
        <p:spPr>
          <a:xfrm>
            <a:off x="0" y="274320"/>
            <a:ext cx="12188952" cy="640080"/>
          </a:xfrm>
          <a:prstGeom prst="rect">
            <a:avLst/>
          </a:prstGeom>
          <a:noFill/>
          <a:ln/>
        </p:spPr>
        <p:txBody>
          <a:bodyPr wrap="square" lIns="0" tIns="0" rIns="0" bIns="0" rtlCol="0" anchor="ctr"/>
          <a:lstStyle/>
          <a:p>
            <a:pPr marL="0" indent="0" algn="ctr">
              <a:buNone/>
            </a:pPr>
            <a:r>
              <a:rPr lang="en-US" sz="3000" b="1" dirty="0">
                <a:solidFill>
                  <a:srgbClr val="000000"/>
                </a:solidFill>
                <a:latin typeface="Times New Roman" pitchFamily="34" charset="0"/>
                <a:ea typeface="Times New Roman" pitchFamily="34" charset="-122"/>
                <a:cs typeface="Times New Roman" pitchFamily="34" charset="-120"/>
              </a:rPr>
              <a:t>IMPACT AND BENEFITS</a:t>
            </a:r>
            <a:endParaRPr lang="en-US" sz="3000" dirty="0"/>
          </a:p>
        </p:txBody>
      </p:sp>
      <p:sp>
        <p:nvSpPr>
          <p:cNvPr id="10" name="Text 8"/>
          <p:cNvSpPr txBox="1"/>
          <p:nvPr/>
        </p:nvSpPr>
        <p:spPr>
          <a:xfrm>
            <a:off x="186117" y="1051561"/>
            <a:ext cx="5971922" cy="5341148"/>
          </a:xfrm>
          <a:prstGeom prst="rect">
            <a:avLst/>
          </a:prstGeom>
          <a:noFill/>
          <a:ln/>
        </p:spPr>
        <p:txBody>
          <a:bodyPr wrap="square" lIns="0" tIns="0" rIns="0" bIns="0" rtlCol="0" anchor="t"/>
          <a:lstStyle/>
          <a:p>
            <a:pPr>
              <a:spcAft>
                <a:spcPts val="300"/>
              </a:spcAft>
            </a:pPr>
            <a:r>
              <a:rPr lang="en-US" sz="1200" b="1" u="sng" dirty="0" smtClean="0">
                <a:solidFill>
                  <a:srgbClr val="000000"/>
                </a:solidFill>
                <a:latin typeface="Arial" pitchFamily="34" charset="0"/>
                <a:ea typeface="Arial" pitchFamily="34" charset="-122"/>
                <a:cs typeface="Arial" pitchFamily="34" charset="-120"/>
              </a:rPr>
              <a:t>Early Detection of </a:t>
            </a:r>
            <a:r>
              <a:rPr lang="en-US" sz="1200" b="1" u="sng" dirty="0" smtClean="0">
                <a:solidFill>
                  <a:srgbClr val="000000"/>
                </a:solidFill>
                <a:latin typeface="Arial" pitchFamily="34" charset="0"/>
                <a:ea typeface="Arial" pitchFamily="34" charset="-122"/>
                <a:cs typeface="Arial" pitchFamily="34" charset="-120"/>
              </a:rPr>
              <a:t>Distress</a:t>
            </a:r>
            <a:r>
              <a:rPr lang="en-US" sz="1200" b="1" dirty="0" smtClean="0">
                <a:solidFill>
                  <a:srgbClr val="000000"/>
                </a:solidFill>
                <a:latin typeface="Arial" pitchFamily="34" charset="0"/>
                <a:ea typeface="Arial" pitchFamily="34" charset="-122"/>
                <a:cs typeface="Arial" pitchFamily="34" charset="-120"/>
              </a:rPr>
              <a:t>:</a:t>
            </a:r>
          </a:p>
          <a:p>
            <a:pPr algn="just">
              <a:spcAft>
                <a:spcPts val="300"/>
              </a:spcAft>
            </a:pPr>
            <a:r>
              <a:rPr lang="en-US" sz="1200" b="1" dirty="0" smtClean="0">
                <a:solidFill>
                  <a:srgbClr val="000000"/>
                </a:solidFill>
                <a:latin typeface="Arial" pitchFamily="34" charset="0"/>
                <a:ea typeface="Arial" pitchFamily="34" charset="-122"/>
                <a:cs typeface="Arial" pitchFamily="34" charset="-120"/>
              </a:rPr>
              <a:t>➢Impact</a:t>
            </a:r>
            <a:r>
              <a:rPr lang="en-US" sz="1200" b="1" dirty="0" smtClean="0">
                <a:solidFill>
                  <a:srgbClr val="000000"/>
                </a:solidFill>
                <a:latin typeface="Arial" pitchFamily="34" charset="0"/>
                <a:ea typeface="Arial" pitchFamily="34" charset="-122"/>
                <a:cs typeface="Arial" pitchFamily="34" charset="-120"/>
              </a:rPr>
              <a:t>:</a:t>
            </a:r>
            <a:r>
              <a:rPr lang="en-US" sz="1200" dirty="0" smtClean="0">
                <a:solidFill>
                  <a:srgbClr val="000000"/>
                </a:solidFill>
                <a:latin typeface="Arial" pitchFamily="34" charset="0"/>
                <a:ea typeface="Arial" pitchFamily="34" charset="-122"/>
                <a:cs typeface="Arial" pitchFamily="34" charset="-120"/>
              </a:rPr>
              <a:t> Real-time identification of stress and trauma indicators during victim/complainant interactions</a:t>
            </a:r>
            <a:r>
              <a:rPr lang="en-US" sz="1200" dirty="0" smtClean="0">
                <a:solidFill>
                  <a:srgbClr val="000000"/>
                </a:solidFill>
                <a:latin typeface="Arial" pitchFamily="34" charset="0"/>
                <a:ea typeface="Arial" pitchFamily="34" charset="-122"/>
                <a:cs typeface="Arial" pitchFamily="34" charset="-120"/>
              </a:rPr>
              <a:t>.</a:t>
            </a:r>
          </a:p>
          <a:p>
            <a:pPr algn="just">
              <a:spcAft>
                <a:spcPts val="300"/>
              </a:spcAft>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Benefit: </a:t>
            </a:r>
            <a:r>
              <a:rPr lang="en-US" sz="1200" dirty="0" smtClean="0">
                <a:solidFill>
                  <a:srgbClr val="000000"/>
                </a:solidFill>
                <a:latin typeface="Arial" pitchFamily="34" charset="0"/>
                <a:ea typeface="Arial" pitchFamily="34" charset="-122"/>
                <a:cs typeface="Arial" pitchFamily="34" charset="-120"/>
              </a:rPr>
              <a:t>Enables earlier attention to individuals who may require additional support. </a:t>
            </a:r>
            <a:endParaRPr lang="en-US" sz="1200" dirty="0" smtClean="0">
              <a:solidFill>
                <a:srgbClr val="000000"/>
              </a:solidFill>
              <a:latin typeface="Arial" pitchFamily="34" charset="0"/>
              <a:ea typeface="Arial" pitchFamily="34" charset="-122"/>
              <a:cs typeface="Arial" pitchFamily="34" charset="-120"/>
            </a:endParaRPr>
          </a:p>
          <a:p>
            <a:pPr algn="just">
              <a:spcAft>
                <a:spcPts val="300"/>
              </a:spcAft>
            </a:pPr>
            <a:r>
              <a:rPr lang="en-US" sz="1200" b="1" u="sng" dirty="0" smtClean="0">
                <a:solidFill>
                  <a:srgbClr val="000000"/>
                </a:solidFill>
                <a:latin typeface="Arial" pitchFamily="34" charset="0"/>
                <a:ea typeface="Arial" pitchFamily="34" charset="-122"/>
                <a:cs typeface="Arial" pitchFamily="34" charset="-120"/>
              </a:rPr>
              <a:t>Prioritized Human </a:t>
            </a:r>
            <a:r>
              <a:rPr lang="en-US" sz="1200" b="1" u="sng" dirty="0" smtClean="0">
                <a:solidFill>
                  <a:srgbClr val="000000"/>
                </a:solidFill>
                <a:latin typeface="Arial" pitchFamily="34" charset="0"/>
                <a:ea typeface="Arial" pitchFamily="34" charset="-122"/>
                <a:cs typeface="Arial" pitchFamily="34" charset="-120"/>
              </a:rPr>
              <a:t>Intervention:</a:t>
            </a:r>
          </a:p>
          <a:p>
            <a:pPr algn="just">
              <a:spcAft>
                <a:spcPts val="300"/>
              </a:spcAft>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Impact</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AI-generated risk levels help authorized personnel identify cases requiring urgent attention</a:t>
            </a:r>
            <a:r>
              <a:rPr lang="en-US" sz="1200" dirty="0" smtClean="0">
                <a:solidFill>
                  <a:srgbClr val="000000"/>
                </a:solidFill>
                <a:latin typeface="Arial" pitchFamily="34" charset="0"/>
                <a:ea typeface="Arial" pitchFamily="34" charset="-122"/>
                <a:cs typeface="Arial" pitchFamily="34" charset="-120"/>
              </a:rPr>
              <a:t>.</a:t>
            </a:r>
          </a:p>
          <a:p>
            <a:pPr algn="just">
              <a:spcAft>
                <a:spcPts val="300"/>
              </a:spcAft>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Benefit</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Better allocation of limited </a:t>
            </a:r>
            <a:r>
              <a:rPr lang="en-US" sz="1200" dirty="0" err="1" smtClean="0">
                <a:solidFill>
                  <a:srgbClr val="000000"/>
                </a:solidFill>
                <a:latin typeface="Arial" pitchFamily="34" charset="0"/>
                <a:ea typeface="Arial" pitchFamily="34" charset="-122"/>
                <a:cs typeface="Arial" pitchFamily="34" charset="-120"/>
              </a:rPr>
              <a:t>counselling</a:t>
            </a:r>
            <a:r>
              <a:rPr lang="en-US" sz="1200" dirty="0" smtClean="0">
                <a:solidFill>
                  <a:srgbClr val="000000"/>
                </a:solidFill>
                <a:latin typeface="Arial" pitchFamily="34" charset="0"/>
                <a:ea typeface="Arial" pitchFamily="34" charset="-122"/>
                <a:cs typeface="Arial" pitchFamily="34" charset="-120"/>
              </a:rPr>
              <a:t> and support resources. </a:t>
            </a:r>
            <a:endParaRPr lang="en-US" sz="1200" dirty="0"/>
          </a:p>
          <a:p>
            <a:pPr marL="342900" indent="-342900" algn="just">
              <a:spcAft>
                <a:spcPts val="300"/>
              </a:spcAft>
              <a:buSzPct val="100000"/>
            </a:pPr>
            <a:r>
              <a:rPr lang="en-US" sz="1200" b="1" u="sng" dirty="0" smtClean="0">
                <a:solidFill>
                  <a:srgbClr val="000000"/>
                </a:solidFill>
                <a:latin typeface="Arial" pitchFamily="34" charset="0"/>
                <a:ea typeface="Arial" pitchFamily="34" charset="-122"/>
                <a:cs typeface="Arial" pitchFamily="34" charset="-120"/>
              </a:rPr>
              <a:t>Improved </a:t>
            </a:r>
            <a:r>
              <a:rPr lang="en-US" sz="1200" b="1" u="sng" dirty="0" smtClean="0">
                <a:solidFill>
                  <a:srgbClr val="000000"/>
                </a:solidFill>
                <a:latin typeface="Arial" pitchFamily="34" charset="0"/>
                <a:ea typeface="Arial" pitchFamily="34" charset="-122"/>
                <a:cs typeface="Arial" pitchFamily="34" charset="-120"/>
              </a:rPr>
              <a:t>Victim </a:t>
            </a:r>
            <a:r>
              <a:rPr lang="en-US" sz="1200" b="1" u="sng" dirty="0" smtClean="0">
                <a:solidFill>
                  <a:srgbClr val="000000"/>
                </a:solidFill>
                <a:latin typeface="Arial" pitchFamily="34" charset="0"/>
                <a:ea typeface="Arial" pitchFamily="34" charset="-122"/>
                <a:cs typeface="Arial" pitchFamily="34" charset="-120"/>
              </a:rPr>
              <a:t>Support:</a:t>
            </a:r>
          </a:p>
          <a:p>
            <a:pPr marL="342900" indent="-342900" algn="just">
              <a:spcAft>
                <a:spcPts val="300"/>
              </a:spcAft>
              <a:buSzPct val="100000"/>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Impact</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Converts conversational information into structured support insights</a:t>
            </a:r>
            <a:r>
              <a:rPr lang="en-US" sz="1200" dirty="0" smtClean="0">
                <a:solidFill>
                  <a:srgbClr val="000000"/>
                </a:solidFill>
                <a:latin typeface="Arial" pitchFamily="34" charset="0"/>
                <a:ea typeface="Arial" pitchFamily="34" charset="-122"/>
                <a:cs typeface="Arial" pitchFamily="34" charset="-120"/>
              </a:rPr>
              <a:t>.</a:t>
            </a:r>
          </a:p>
          <a:p>
            <a:pPr marL="342900" indent="-342900" algn="just">
              <a:spcAft>
                <a:spcPts val="300"/>
              </a:spcAft>
              <a:buSzPct val="100000"/>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Benefit</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More responsive and personalized assistance while reducing dependence on manual screening alone. </a:t>
            </a:r>
            <a:endParaRPr lang="en-US" sz="1200" dirty="0" smtClean="0">
              <a:solidFill>
                <a:srgbClr val="000000"/>
              </a:solidFill>
              <a:latin typeface="Arial" pitchFamily="34" charset="0"/>
              <a:ea typeface="Arial" pitchFamily="34" charset="-122"/>
              <a:cs typeface="Arial" pitchFamily="34" charset="-120"/>
            </a:endParaRPr>
          </a:p>
          <a:p>
            <a:pPr marL="342900" indent="-342900" algn="just">
              <a:spcAft>
                <a:spcPts val="300"/>
              </a:spcAft>
              <a:buSzPct val="100000"/>
            </a:pPr>
            <a:r>
              <a:rPr lang="en-US" sz="1200" b="1" u="sng" dirty="0" smtClean="0">
                <a:solidFill>
                  <a:srgbClr val="000000"/>
                </a:solidFill>
                <a:latin typeface="Arial" pitchFamily="34" charset="0"/>
                <a:ea typeface="Arial" pitchFamily="34" charset="-122"/>
                <a:cs typeface="Arial" pitchFamily="34" charset="-120"/>
              </a:rPr>
              <a:t>Multilingual </a:t>
            </a:r>
            <a:r>
              <a:rPr lang="en-US" sz="1200" b="1" u="sng" dirty="0" smtClean="0">
                <a:solidFill>
                  <a:srgbClr val="000000"/>
                </a:solidFill>
                <a:latin typeface="Arial" pitchFamily="34" charset="0"/>
                <a:ea typeface="Arial" pitchFamily="34" charset="-122"/>
                <a:cs typeface="Arial" pitchFamily="34" charset="-120"/>
              </a:rPr>
              <a:t>Accessibility:</a:t>
            </a:r>
          </a:p>
          <a:p>
            <a:pPr marL="342900" indent="-342900" algn="just">
              <a:spcAft>
                <a:spcPts val="300"/>
              </a:spcAft>
              <a:buSzPct val="100000"/>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Impact</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Supports interactions across diverse linguistic backgrounds</a:t>
            </a:r>
            <a:r>
              <a:rPr lang="en-US" sz="1200" dirty="0" smtClean="0">
                <a:solidFill>
                  <a:srgbClr val="000000"/>
                </a:solidFill>
                <a:latin typeface="Arial" pitchFamily="34" charset="0"/>
                <a:ea typeface="Arial" pitchFamily="34" charset="-122"/>
                <a:cs typeface="Arial" pitchFamily="34" charset="-120"/>
              </a:rPr>
              <a:t>.</a:t>
            </a:r>
          </a:p>
          <a:p>
            <a:pPr marL="342900" indent="-342900" algn="just">
              <a:spcAft>
                <a:spcPts val="300"/>
              </a:spcAft>
              <a:buSzPct val="100000"/>
            </a:pPr>
            <a:r>
              <a:rPr lang="en-US" sz="1200" b="1" dirty="0" smtClean="0">
                <a:solidFill>
                  <a:srgbClr val="000000"/>
                </a:solidFill>
                <a:latin typeface="Arial" pitchFamily="34" charset="0"/>
                <a:ea typeface="Arial" pitchFamily="34" charset="-122"/>
                <a:cs typeface="Arial" pitchFamily="34" charset="-120"/>
              </a:rPr>
              <a:t>➢</a:t>
            </a:r>
            <a:r>
              <a:rPr lang="en-US" sz="1200"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Benefit</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Makes AI-assisted assessment accessible to a wider range of complainants. </a:t>
            </a:r>
            <a:endParaRPr lang="en-US" sz="1200" dirty="0" smtClean="0">
              <a:solidFill>
                <a:srgbClr val="000000"/>
              </a:solidFill>
              <a:latin typeface="Arial" pitchFamily="34" charset="0"/>
              <a:ea typeface="Arial" pitchFamily="34" charset="-122"/>
              <a:cs typeface="Arial" pitchFamily="34" charset="-120"/>
            </a:endParaRPr>
          </a:p>
          <a:p>
            <a:pPr marL="342900" indent="-342900" algn="just">
              <a:spcAft>
                <a:spcPts val="300"/>
              </a:spcAft>
              <a:buSzPct val="100000"/>
            </a:pPr>
            <a:r>
              <a:rPr lang="en-US" sz="1200" b="1" u="sng" dirty="0" smtClean="0">
                <a:solidFill>
                  <a:srgbClr val="000000"/>
                </a:solidFill>
                <a:latin typeface="Arial" pitchFamily="34" charset="0"/>
                <a:ea typeface="Arial" pitchFamily="34" charset="-122"/>
                <a:cs typeface="Arial" pitchFamily="34" charset="-120"/>
              </a:rPr>
              <a:t>Data-Driven Decision </a:t>
            </a:r>
            <a:r>
              <a:rPr lang="en-US" sz="1200" b="1" u="sng" dirty="0" smtClean="0">
                <a:solidFill>
                  <a:srgbClr val="000000"/>
                </a:solidFill>
                <a:latin typeface="Arial" pitchFamily="34" charset="0"/>
                <a:ea typeface="Arial" pitchFamily="34" charset="-122"/>
                <a:cs typeface="Arial" pitchFamily="34" charset="-120"/>
              </a:rPr>
              <a:t>Making:</a:t>
            </a:r>
          </a:p>
          <a:p>
            <a:pPr marL="342900" indent="-342900" algn="just">
              <a:spcAft>
                <a:spcPts val="300"/>
              </a:spcAft>
              <a:buSzPct val="100000"/>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Impact</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Aggregated, privacy-preserving analytics can reveal patterns in stress and trauma indicators</a:t>
            </a:r>
            <a:r>
              <a:rPr lang="en-US" sz="1200" dirty="0" smtClean="0">
                <a:solidFill>
                  <a:srgbClr val="000000"/>
                </a:solidFill>
                <a:latin typeface="Arial" pitchFamily="34" charset="0"/>
                <a:ea typeface="Arial" pitchFamily="34" charset="-122"/>
                <a:cs typeface="Arial" pitchFamily="34" charset="-120"/>
              </a:rPr>
              <a:t>.</a:t>
            </a:r>
          </a:p>
          <a:p>
            <a:pPr marL="342900" indent="-342900" algn="just">
              <a:spcAft>
                <a:spcPts val="300"/>
              </a:spcAft>
              <a:buSzPct val="100000"/>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solidFill>
                  <a:srgbClr val="000000"/>
                </a:solidFill>
                <a:latin typeface="Arial" pitchFamily="34" charset="0"/>
                <a:ea typeface="Arial" pitchFamily="34" charset="-122"/>
                <a:cs typeface="Arial" pitchFamily="34" charset="-120"/>
              </a:rPr>
              <a:t>Benefit</a:t>
            </a:r>
            <a:r>
              <a:rPr lang="en-US" sz="1200" b="1" dirty="0" smtClean="0">
                <a:solidFill>
                  <a:srgbClr val="000000"/>
                </a:solidFill>
                <a:latin typeface="Arial" pitchFamily="34" charset="0"/>
                <a:ea typeface="Arial" pitchFamily="34" charset="-122"/>
                <a:cs typeface="Arial" pitchFamily="34" charset="-120"/>
              </a:rPr>
              <a:t>: </a:t>
            </a:r>
            <a:r>
              <a:rPr lang="en-US" sz="1200" dirty="0" smtClean="0">
                <a:solidFill>
                  <a:srgbClr val="000000"/>
                </a:solidFill>
                <a:latin typeface="Arial" pitchFamily="34" charset="0"/>
                <a:ea typeface="Arial" pitchFamily="34" charset="-122"/>
                <a:cs typeface="Arial" pitchFamily="34" charset="-120"/>
              </a:rPr>
              <a:t>Helps authorities improve support services, resource planning and intervention strategies</a:t>
            </a:r>
            <a:r>
              <a:rPr lang="en-US" sz="1200" dirty="0" smtClean="0">
                <a:solidFill>
                  <a:srgbClr val="000000"/>
                </a:solidFill>
                <a:latin typeface="Arial" pitchFamily="34" charset="0"/>
                <a:ea typeface="Arial" pitchFamily="34" charset="-122"/>
                <a:cs typeface="Arial" pitchFamily="34" charset="-120"/>
              </a:rPr>
              <a:t>.</a:t>
            </a:r>
            <a:endParaRPr lang="en-US" sz="1200" dirty="0" smtClean="0">
              <a:solidFill>
                <a:srgbClr val="000000"/>
              </a:solidFill>
              <a:latin typeface="Arial" pitchFamily="34" charset="0"/>
              <a:ea typeface="Arial" pitchFamily="34" charset="-122"/>
              <a:cs typeface="Arial" pitchFamily="34" charset="-120"/>
            </a:endParaRPr>
          </a:p>
          <a:p>
            <a:pPr marL="342900" indent="-342900" algn="just">
              <a:spcAft>
                <a:spcPts val="300"/>
              </a:spcAft>
              <a:buSzPct val="100000"/>
            </a:pPr>
            <a:r>
              <a:rPr lang="en-US" sz="1200" b="1" u="sng" dirty="0" smtClean="0">
                <a:latin typeface="Arial" pitchFamily="34" charset="0"/>
                <a:cs typeface="Arial" pitchFamily="34" charset="0"/>
              </a:rPr>
              <a:t>Scalability &amp; </a:t>
            </a:r>
            <a:r>
              <a:rPr lang="en-US" sz="1200" b="1" u="sng" dirty="0" smtClean="0">
                <a:latin typeface="Arial" pitchFamily="34" charset="0"/>
                <a:cs typeface="Arial" pitchFamily="34" charset="0"/>
              </a:rPr>
              <a:t>Integration:</a:t>
            </a:r>
          </a:p>
          <a:p>
            <a:pPr marL="342900" indent="-342900" algn="just">
              <a:spcAft>
                <a:spcPts val="300"/>
              </a:spcAft>
              <a:buSzPct val="100000"/>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latin typeface="Arial" pitchFamily="34" charset="0"/>
                <a:cs typeface="Arial" pitchFamily="34" charset="0"/>
              </a:rPr>
              <a:t>Impact</a:t>
            </a:r>
            <a:r>
              <a:rPr lang="en-US" sz="1200" b="1" dirty="0" smtClean="0">
                <a:latin typeface="Arial" pitchFamily="34" charset="0"/>
                <a:cs typeface="Arial" pitchFamily="34" charset="0"/>
              </a:rPr>
              <a:t>: </a:t>
            </a:r>
            <a:r>
              <a:rPr lang="en-US" sz="1200" dirty="0" smtClean="0">
                <a:latin typeface="Arial" pitchFamily="34" charset="0"/>
                <a:cs typeface="Arial" pitchFamily="34" charset="0"/>
              </a:rPr>
              <a:t>API-based architecture can integrate with multiple NHAA access channels</a:t>
            </a:r>
            <a:r>
              <a:rPr lang="en-US" sz="1200" dirty="0" smtClean="0">
                <a:latin typeface="Arial" pitchFamily="34" charset="0"/>
                <a:cs typeface="Arial" pitchFamily="34" charset="0"/>
              </a:rPr>
              <a:t>.</a:t>
            </a:r>
          </a:p>
          <a:p>
            <a:pPr marL="342900" indent="-342900" algn="just">
              <a:spcAft>
                <a:spcPts val="300"/>
              </a:spcAft>
              <a:buSzPct val="100000"/>
            </a:pPr>
            <a:r>
              <a:rPr lang="en-US" sz="1200" b="1" dirty="0" smtClean="0">
                <a:solidFill>
                  <a:srgbClr val="000000"/>
                </a:solidFill>
                <a:latin typeface="Arial" pitchFamily="34" charset="0"/>
                <a:ea typeface="Arial" pitchFamily="34" charset="-122"/>
                <a:cs typeface="Arial" pitchFamily="34" charset="-120"/>
              </a:rPr>
              <a:t>➢ </a:t>
            </a:r>
            <a:r>
              <a:rPr lang="en-US" sz="1200" b="1" dirty="0" smtClean="0">
                <a:latin typeface="Arial" pitchFamily="34" charset="0"/>
                <a:cs typeface="Arial" pitchFamily="34" charset="0"/>
              </a:rPr>
              <a:t>Benefit</a:t>
            </a:r>
            <a:r>
              <a:rPr lang="en-US" sz="1200" b="1" dirty="0" smtClean="0">
                <a:latin typeface="Arial" pitchFamily="34" charset="0"/>
                <a:cs typeface="Arial" pitchFamily="34" charset="0"/>
              </a:rPr>
              <a:t>: </a:t>
            </a:r>
            <a:r>
              <a:rPr lang="en-US" sz="1200" dirty="0" smtClean="0">
                <a:latin typeface="Arial" pitchFamily="34" charset="0"/>
                <a:cs typeface="Arial" pitchFamily="34" charset="0"/>
              </a:rPr>
              <a:t>A single assessment engine can support helpline, portal, </a:t>
            </a:r>
            <a:r>
              <a:rPr lang="en-US" sz="1200" dirty="0" err="1" smtClean="0">
                <a:latin typeface="Arial" pitchFamily="34" charset="0"/>
                <a:cs typeface="Arial" pitchFamily="34" charset="0"/>
              </a:rPr>
              <a:t>chatbot</a:t>
            </a:r>
            <a:r>
              <a:rPr lang="en-US" sz="1200" dirty="0" smtClean="0">
                <a:latin typeface="Arial" pitchFamily="34" charset="0"/>
                <a:cs typeface="Arial" pitchFamily="34" charset="0"/>
              </a:rPr>
              <a:t>, mobile and IVRS ecosystems.</a:t>
            </a:r>
            <a:endParaRPr lang="en-US" sz="1200" dirty="0">
              <a:latin typeface="Arial" pitchFamily="34" charset="0"/>
              <a:cs typeface="Arial" pitchFamily="34" charset="0"/>
            </a:endParaRPr>
          </a:p>
        </p:txBody>
      </p:sp>
      <p:sp>
        <p:nvSpPr>
          <p:cNvPr id="11" name="Text 9"/>
          <p:cNvSpPr txBox="1"/>
          <p:nvPr/>
        </p:nvSpPr>
        <p:spPr>
          <a:xfrm>
            <a:off x="6400800" y="1005840"/>
            <a:ext cx="5577840" cy="274320"/>
          </a:xfrm>
          <a:prstGeom prst="rect">
            <a:avLst/>
          </a:prstGeom>
          <a:noFill/>
          <a:ln/>
        </p:spPr>
        <p:txBody>
          <a:bodyPr wrap="square" lIns="0" tIns="0" rIns="0" bIns="0" rtlCol="0" anchor="ctr"/>
          <a:lstStyle/>
          <a:p>
            <a:pPr marL="0" indent="0">
              <a:buNone/>
            </a:pPr>
            <a:endParaRPr lang="en-US" sz="1200" dirty="0"/>
          </a:p>
        </p:txBody>
      </p:sp>
      <p:pic>
        <p:nvPicPr>
          <p:cNvPr id="70" name="Picture 69" descr="side logo.jpg"/>
          <p:cNvPicPr>
            <a:picLocks noChangeAspect="1"/>
          </p:cNvPicPr>
          <p:nvPr/>
        </p:nvPicPr>
        <p:blipFill>
          <a:blip r:embed="rId3"/>
          <a:stretch>
            <a:fillRect/>
          </a:stretch>
        </p:blipFill>
        <p:spPr>
          <a:xfrm>
            <a:off x="9984702" y="0"/>
            <a:ext cx="1811058" cy="824240"/>
          </a:xfrm>
          <a:prstGeom prst="rect">
            <a:avLst/>
          </a:prstGeom>
        </p:spPr>
      </p:pic>
      <p:pic>
        <p:nvPicPr>
          <p:cNvPr id="71" name="Picture 70" descr="impact chain.png"/>
          <p:cNvPicPr>
            <a:picLocks noChangeAspect="1"/>
          </p:cNvPicPr>
          <p:nvPr/>
        </p:nvPicPr>
        <p:blipFill>
          <a:blip r:embed="rId4"/>
          <a:stretch>
            <a:fillRect/>
          </a:stretch>
        </p:blipFill>
        <p:spPr>
          <a:xfrm>
            <a:off x="7153359" y="824240"/>
            <a:ext cx="4825282" cy="5806439"/>
          </a:xfrm>
          <a:prstGeom prst="rect">
            <a:avLst/>
          </a:prstGeom>
        </p:spPr>
      </p:pic>
      <p:pic>
        <p:nvPicPr>
          <p:cNvPr id="72" name="Picture 71" descr="sage image.jpg"/>
          <p:cNvPicPr>
            <a:picLocks noChangeAspect="1"/>
          </p:cNvPicPr>
          <p:nvPr/>
        </p:nvPicPr>
        <p:blipFill>
          <a:blip r:embed="rId5"/>
          <a:stretch>
            <a:fillRect/>
          </a:stretch>
        </p:blipFill>
        <p:spPr>
          <a:xfrm>
            <a:off x="605756" y="157734"/>
            <a:ext cx="1708566" cy="452214"/>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7" name="Text 5"/>
          <p:cNvSpPr txBox="1"/>
          <p:nvPr/>
        </p:nvSpPr>
        <p:spPr>
          <a:xfrm>
            <a:off x="10561320" y="896112"/>
            <a:ext cx="1005840" cy="182880"/>
          </a:xfrm>
          <a:prstGeom prst="rect">
            <a:avLst/>
          </a:prstGeom>
          <a:noFill/>
          <a:ln/>
        </p:spPr>
        <p:txBody>
          <a:bodyPr wrap="square" lIns="0" tIns="0" rIns="0" bIns="0" rtlCol="0" anchor="ctr"/>
          <a:lstStyle/>
          <a:p>
            <a:pPr marL="0" indent="0" algn="ctr">
              <a:buNone/>
            </a:pPr>
            <a:endParaRPr lang="en-US" sz="700" dirty="0"/>
          </a:p>
        </p:txBody>
      </p:sp>
      <p:sp>
        <p:nvSpPr>
          <p:cNvPr id="8" name="Text 6"/>
          <p:cNvSpPr txBox="1"/>
          <p:nvPr/>
        </p:nvSpPr>
        <p:spPr>
          <a:xfrm>
            <a:off x="11109960" y="256032"/>
            <a:ext cx="1051560" cy="777240"/>
          </a:xfrm>
          <a:prstGeom prst="rect">
            <a:avLst/>
          </a:prstGeom>
          <a:noFill/>
          <a:ln/>
        </p:spPr>
        <p:txBody>
          <a:bodyPr wrap="square" lIns="0" tIns="0" rIns="0" bIns="0" rtlCol="0" anchor="ctr"/>
          <a:lstStyle/>
          <a:p>
            <a:pPr marL="0" indent="0" algn="l">
              <a:lnSpc>
                <a:spcPct val="100000"/>
              </a:lnSpc>
              <a:buNone/>
            </a:pPr>
            <a:endParaRPr lang="en-US" sz="750" dirty="0"/>
          </a:p>
        </p:txBody>
      </p:sp>
      <p:sp>
        <p:nvSpPr>
          <p:cNvPr id="9" name="Text 7"/>
          <p:cNvSpPr txBox="1"/>
          <p:nvPr/>
        </p:nvSpPr>
        <p:spPr>
          <a:xfrm>
            <a:off x="0" y="256032"/>
            <a:ext cx="12188952" cy="375147"/>
          </a:xfrm>
          <a:prstGeom prst="rect">
            <a:avLst/>
          </a:prstGeom>
          <a:noFill/>
          <a:ln/>
        </p:spPr>
        <p:txBody>
          <a:bodyPr wrap="square" lIns="0" tIns="0" rIns="0" bIns="0" rtlCol="0" anchor="ctr"/>
          <a:lstStyle/>
          <a:p>
            <a:pPr marL="0" indent="0" algn="ctr">
              <a:buNone/>
            </a:pPr>
            <a:r>
              <a:rPr lang="en-US" sz="2800" b="1" dirty="0">
                <a:solidFill>
                  <a:srgbClr val="000000"/>
                </a:solidFill>
                <a:latin typeface="Times New Roman" pitchFamily="34" charset="0"/>
                <a:ea typeface="Times New Roman" pitchFamily="34" charset="-122"/>
                <a:cs typeface="Times New Roman" pitchFamily="34" charset="-120"/>
              </a:rPr>
              <a:t>RESEARCH  AND REFERENCES</a:t>
            </a:r>
            <a:endParaRPr lang="en-US" sz="2800" dirty="0"/>
          </a:p>
        </p:txBody>
      </p:sp>
      <p:sp>
        <p:nvSpPr>
          <p:cNvPr id="10" name="Text 8"/>
          <p:cNvSpPr txBox="1"/>
          <p:nvPr/>
        </p:nvSpPr>
        <p:spPr>
          <a:xfrm>
            <a:off x="320040" y="954117"/>
            <a:ext cx="4559457" cy="1651923"/>
          </a:xfrm>
          <a:prstGeom prst="rect">
            <a:avLst/>
          </a:prstGeom>
          <a:noFill/>
          <a:ln/>
        </p:spPr>
        <p:txBody>
          <a:bodyPr wrap="square" lIns="0" tIns="0" rIns="0" bIns="0" rtlCol="0" anchor="ctr"/>
          <a:lstStyle/>
          <a:p>
            <a:pPr marL="342900" indent="-342900">
              <a:buSzPct val="100000"/>
            </a:pPr>
            <a:r>
              <a:rPr lang="en-US" dirty="0" smtClean="0">
                <a:solidFill>
                  <a:srgbClr val="000000"/>
                </a:solidFill>
                <a:latin typeface="Arial" pitchFamily="34" charset="0"/>
                <a:ea typeface="Arial" pitchFamily="34" charset="-122"/>
                <a:cs typeface="Arial" pitchFamily="34" charset="-120"/>
              </a:rPr>
              <a:t>#  </a:t>
            </a:r>
            <a:r>
              <a:rPr lang="en-US" sz="1600" b="1" dirty="0" smtClean="0">
                <a:solidFill>
                  <a:srgbClr val="000000"/>
                </a:solidFill>
                <a:latin typeface="Arial" pitchFamily="34" charset="0"/>
                <a:ea typeface="Arial" pitchFamily="34" charset="-122"/>
                <a:cs typeface="Arial" pitchFamily="34" charset="-120"/>
              </a:rPr>
              <a:t>Problem </a:t>
            </a:r>
            <a:r>
              <a:rPr lang="en-US" sz="1600" b="1" dirty="0" smtClean="0">
                <a:solidFill>
                  <a:srgbClr val="000000"/>
                </a:solidFill>
                <a:latin typeface="Arial" pitchFamily="34" charset="0"/>
                <a:ea typeface="Arial" pitchFamily="34" charset="-122"/>
                <a:cs typeface="Arial" pitchFamily="34" charset="-120"/>
              </a:rPr>
              <a:t>&amp; Domain </a:t>
            </a:r>
            <a:r>
              <a:rPr lang="en-US" sz="1600" b="1" dirty="0" smtClean="0">
                <a:solidFill>
                  <a:srgbClr val="000000"/>
                </a:solidFill>
                <a:latin typeface="Arial" pitchFamily="34" charset="0"/>
                <a:ea typeface="Arial" pitchFamily="34" charset="-122"/>
                <a:cs typeface="Arial" pitchFamily="34" charset="-120"/>
              </a:rPr>
              <a:t>Research:</a:t>
            </a:r>
            <a:endParaRPr lang="en-US" b="1" dirty="0" smtClean="0">
              <a:solidFill>
                <a:srgbClr val="000000"/>
              </a:solidFill>
              <a:latin typeface="Arial" pitchFamily="34" charset="0"/>
              <a:ea typeface="Arial" pitchFamily="34" charset="-122"/>
              <a:cs typeface="Arial" pitchFamily="34" charset="-120"/>
            </a:endParaRPr>
          </a:p>
          <a:p>
            <a:pPr marL="342900" indent="-342900">
              <a:spcAft>
                <a:spcPts val="600"/>
              </a:spcAft>
              <a:buSzPct val="100000"/>
            </a:pPr>
            <a:r>
              <a:rPr lang="en-US" sz="1200" dirty="0" smtClean="0">
                <a:latin typeface="Arial" pitchFamily="34" charset="0"/>
                <a:cs typeface="Arial" pitchFamily="34" charset="0"/>
              </a:rPr>
              <a:t>➤ </a:t>
            </a:r>
            <a:r>
              <a:rPr lang="en-US" sz="1200" dirty="0" smtClean="0">
                <a:latin typeface="Arial" pitchFamily="34" charset="0"/>
                <a:cs typeface="Arial" pitchFamily="34" charset="0"/>
              </a:rPr>
              <a:t>National </a:t>
            </a:r>
            <a:r>
              <a:rPr lang="en-US" sz="1200" dirty="0" smtClean="0">
                <a:latin typeface="Arial" pitchFamily="34" charset="0"/>
                <a:cs typeface="Arial" pitchFamily="34" charset="0"/>
              </a:rPr>
              <a:t>Helpline Against Atrocities (14566) resources</a:t>
            </a:r>
          </a:p>
          <a:p>
            <a:pPr marL="342900" indent="-342900">
              <a:spcAft>
                <a:spcPts val="600"/>
              </a:spcAft>
              <a:buSzPct val="100000"/>
            </a:pPr>
            <a:r>
              <a:rPr lang="en-US" sz="1200" dirty="0" smtClean="0">
                <a:latin typeface="Arial" pitchFamily="34" charset="0"/>
                <a:cs typeface="Arial" pitchFamily="34" charset="0"/>
              </a:rPr>
              <a:t>➤ Ministry of Social Justice &amp; Empowerment resources</a:t>
            </a:r>
          </a:p>
          <a:p>
            <a:pPr marL="342900" indent="-342900">
              <a:spcAft>
                <a:spcPts val="600"/>
              </a:spcAft>
              <a:buSzPct val="100000"/>
            </a:pPr>
            <a:r>
              <a:rPr lang="en-US" sz="1200" dirty="0" smtClean="0">
                <a:latin typeface="Arial" pitchFamily="34" charset="0"/>
                <a:cs typeface="Arial" pitchFamily="34" charset="0"/>
              </a:rPr>
              <a:t>➤ Government resources related to SC/ST protection and grievance </a:t>
            </a:r>
            <a:r>
              <a:rPr lang="en-US" sz="1200" dirty="0" err="1" smtClean="0">
                <a:latin typeface="Arial" pitchFamily="34" charset="0"/>
                <a:cs typeface="Arial" pitchFamily="34" charset="0"/>
              </a:rPr>
              <a:t>redressal</a:t>
            </a:r>
            <a:endParaRPr lang="en-US" sz="1200" dirty="0" smtClean="0">
              <a:latin typeface="Arial" pitchFamily="34" charset="0"/>
              <a:cs typeface="Arial" pitchFamily="34" charset="0"/>
            </a:endParaRPr>
          </a:p>
          <a:p>
            <a:pPr marL="342900" indent="-342900">
              <a:spcAft>
                <a:spcPts val="600"/>
              </a:spcAft>
              <a:buSzPct val="100000"/>
            </a:pPr>
            <a:r>
              <a:rPr lang="en-US" sz="1200" dirty="0" smtClean="0">
                <a:latin typeface="Arial" pitchFamily="34" charset="0"/>
                <a:cs typeface="Arial" pitchFamily="34" charset="0"/>
              </a:rPr>
              <a:t>➤ Research on psychological impact of violence, discrimination and trauma</a:t>
            </a:r>
          </a:p>
          <a:p>
            <a:pPr marL="342900" indent="-342900">
              <a:buSzPct val="100000"/>
              <a:buChar char="•"/>
            </a:pPr>
            <a:endParaRPr lang="en-US" sz="1200" dirty="0" smtClean="0">
              <a:solidFill>
                <a:srgbClr val="000000"/>
              </a:solidFill>
              <a:latin typeface="Arial" pitchFamily="34" charset="0"/>
              <a:ea typeface="Arial" pitchFamily="34" charset="-122"/>
              <a:cs typeface="Arial" pitchFamily="34" charset="-120"/>
            </a:endParaRPr>
          </a:p>
          <a:p>
            <a:pPr marL="342900" indent="-342900">
              <a:buSzPct val="100000"/>
              <a:buChar char="•"/>
            </a:pPr>
            <a:endParaRPr lang="en-US" sz="1200" dirty="0"/>
          </a:p>
        </p:txBody>
      </p:sp>
      <p:sp>
        <p:nvSpPr>
          <p:cNvPr id="11" name="Text 9"/>
          <p:cNvSpPr txBox="1"/>
          <p:nvPr/>
        </p:nvSpPr>
        <p:spPr>
          <a:xfrm>
            <a:off x="8867454" y="3543300"/>
            <a:ext cx="2839091" cy="685800"/>
          </a:xfrm>
          <a:prstGeom prst="rect">
            <a:avLst/>
          </a:prstGeom>
          <a:noFill/>
          <a:ln/>
        </p:spPr>
        <p:txBody>
          <a:bodyPr wrap="square" lIns="0" tIns="0" rIns="0" bIns="0" rtlCol="0" anchor="ctr"/>
          <a:lstStyle/>
          <a:p>
            <a:pPr marL="342900" indent="-342900">
              <a:spcAft>
                <a:spcPts val="600"/>
              </a:spcAft>
              <a:buSzPct val="100000"/>
            </a:pPr>
            <a:endParaRPr lang="en-US" sz="1200" b="1" dirty="0">
              <a:latin typeface="Arial" pitchFamily="34" charset="0"/>
              <a:cs typeface="Arial" pitchFamily="34" charset="0"/>
            </a:endParaRPr>
          </a:p>
        </p:txBody>
      </p:sp>
      <p:sp>
        <p:nvSpPr>
          <p:cNvPr id="12" name="Text 10"/>
          <p:cNvSpPr txBox="1"/>
          <p:nvPr/>
        </p:nvSpPr>
        <p:spPr>
          <a:xfrm>
            <a:off x="320040" y="2606040"/>
            <a:ext cx="4114800" cy="1554480"/>
          </a:xfrm>
          <a:prstGeom prst="rect">
            <a:avLst/>
          </a:prstGeom>
          <a:noFill/>
          <a:ln/>
        </p:spPr>
        <p:txBody>
          <a:bodyPr wrap="square" lIns="0" tIns="0" rIns="0" bIns="0" rtlCol="0" anchor="ctr"/>
          <a:lstStyle/>
          <a:p>
            <a:pPr marL="342900" indent="-342900">
              <a:buSzPct val="100000"/>
            </a:pPr>
            <a:r>
              <a:rPr lang="en-US" dirty="0" smtClean="0">
                <a:solidFill>
                  <a:srgbClr val="000000"/>
                </a:solidFill>
                <a:latin typeface="Arial" pitchFamily="34" charset="0"/>
                <a:ea typeface="Arial" pitchFamily="34" charset="-122"/>
                <a:cs typeface="Arial" pitchFamily="34" charset="-120"/>
              </a:rPr>
              <a:t>#  </a:t>
            </a:r>
            <a:r>
              <a:rPr lang="en-US" sz="1600" b="1" dirty="0" smtClean="0">
                <a:solidFill>
                  <a:srgbClr val="000000"/>
                </a:solidFill>
                <a:latin typeface="Arial" pitchFamily="34" charset="0"/>
                <a:ea typeface="Arial" pitchFamily="34" charset="-122"/>
                <a:cs typeface="Arial" pitchFamily="34" charset="-120"/>
              </a:rPr>
              <a:t>AI </a:t>
            </a:r>
            <a:r>
              <a:rPr lang="en-US" sz="1600" b="1" dirty="0" smtClean="0">
                <a:solidFill>
                  <a:srgbClr val="000000"/>
                </a:solidFill>
                <a:latin typeface="Arial" pitchFamily="34" charset="0"/>
                <a:ea typeface="Arial" pitchFamily="34" charset="-122"/>
                <a:cs typeface="Arial" pitchFamily="34" charset="-120"/>
              </a:rPr>
              <a:t>/ ML </a:t>
            </a:r>
            <a:r>
              <a:rPr lang="en-US" sz="1600" b="1" dirty="0" smtClean="0">
                <a:solidFill>
                  <a:srgbClr val="000000"/>
                </a:solidFill>
                <a:latin typeface="Arial" pitchFamily="34" charset="0"/>
                <a:ea typeface="Arial" pitchFamily="34" charset="-122"/>
                <a:cs typeface="Arial" pitchFamily="34" charset="-120"/>
              </a:rPr>
              <a:t>Research:</a:t>
            </a:r>
            <a:endParaRPr lang="en-US" b="1" dirty="0" smtClean="0">
              <a:solidFill>
                <a:srgbClr val="000000"/>
              </a:solidFill>
              <a:latin typeface="Arial" pitchFamily="34" charset="0"/>
              <a:ea typeface="Arial" pitchFamily="34" charset="-122"/>
              <a:cs typeface="Arial" pitchFamily="34" charset="-120"/>
            </a:endParaRPr>
          </a:p>
          <a:p>
            <a:pPr marL="342900" indent="-342900">
              <a:buSzPct val="100000"/>
            </a:pPr>
            <a:r>
              <a:rPr lang="en-US" sz="1200" dirty="0" smtClean="0">
                <a:latin typeface="Arial" pitchFamily="34" charset="0"/>
                <a:cs typeface="Arial" pitchFamily="34" charset="0"/>
              </a:rPr>
              <a:t>➤ Transformer-based </a:t>
            </a:r>
            <a:r>
              <a:rPr lang="en-US" sz="1200" dirty="0" smtClean="0">
                <a:latin typeface="Arial" pitchFamily="34" charset="0"/>
                <a:cs typeface="Arial" pitchFamily="34" charset="0"/>
              </a:rPr>
              <a:t>NLP </a:t>
            </a:r>
            <a:r>
              <a:rPr lang="en-US" sz="1200" dirty="0" smtClean="0">
                <a:latin typeface="Arial" pitchFamily="34" charset="0"/>
                <a:cs typeface="Arial" pitchFamily="34" charset="0"/>
              </a:rPr>
              <a:t>models</a:t>
            </a:r>
          </a:p>
          <a:p>
            <a:pPr marL="342900" indent="-342900">
              <a:buSzPct val="100000"/>
            </a:pPr>
            <a:r>
              <a:rPr lang="en-US" sz="1200" dirty="0" smtClean="0">
                <a:latin typeface="Arial" pitchFamily="34" charset="0"/>
                <a:cs typeface="Arial" pitchFamily="34" charset="0"/>
              </a:rPr>
              <a:t>➤ </a:t>
            </a:r>
            <a:r>
              <a:rPr lang="en-US" sz="1200" dirty="0" smtClean="0">
                <a:latin typeface="Arial" pitchFamily="34" charset="0"/>
                <a:cs typeface="Arial" pitchFamily="34" charset="0"/>
              </a:rPr>
              <a:t>Emotion and sentiment </a:t>
            </a:r>
            <a:r>
              <a:rPr lang="en-US" sz="1200" dirty="0" smtClean="0">
                <a:latin typeface="Arial" pitchFamily="34" charset="0"/>
                <a:cs typeface="Arial" pitchFamily="34" charset="0"/>
              </a:rPr>
              <a:t>recognition</a:t>
            </a:r>
          </a:p>
          <a:p>
            <a:pPr marL="342900" indent="-342900">
              <a:buSzPct val="100000"/>
            </a:pPr>
            <a:r>
              <a:rPr lang="en-US" sz="1200" dirty="0" smtClean="0">
                <a:latin typeface="Arial" pitchFamily="34" charset="0"/>
                <a:cs typeface="Arial" pitchFamily="34" charset="0"/>
              </a:rPr>
              <a:t>➤ </a:t>
            </a:r>
            <a:r>
              <a:rPr lang="en-US" sz="1200" dirty="0" smtClean="0">
                <a:latin typeface="Arial" pitchFamily="34" charset="0"/>
                <a:cs typeface="Arial" pitchFamily="34" charset="0"/>
              </a:rPr>
              <a:t>Stress detection from conversational </a:t>
            </a:r>
            <a:r>
              <a:rPr lang="en-US" sz="1200" dirty="0" smtClean="0">
                <a:latin typeface="Arial" pitchFamily="34" charset="0"/>
                <a:cs typeface="Arial" pitchFamily="34" charset="0"/>
              </a:rPr>
              <a:t>data</a:t>
            </a:r>
          </a:p>
          <a:p>
            <a:pPr marL="342900" indent="-342900">
              <a:buSzPct val="100000"/>
            </a:pPr>
            <a:r>
              <a:rPr lang="en-US" sz="1200" dirty="0" smtClean="0">
                <a:latin typeface="Arial" pitchFamily="34" charset="0"/>
                <a:cs typeface="Arial" pitchFamily="34" charset="0"/>
              </a:rPr>
              <a:t>➤ </a:t>
            </a:r>
            <a:r>
              <a:rPr lang="en-US" sz="1200" dirty="0" smtClean="0">
                <a:latin typeface="Arial" pitchFamily="34" charset="0"/>
                <a:cs typeface="Arial" pitchFamily="34" charset="0"/>
              </a:rPr>
              <a:t>Speech emotion </a:t>
            </a:r>
            <a:r>
              <a:rPr lang="en-US" sz="1200" dirty="0" smtClean="0">
                <a:latin typeface="Arial" pitchFamily="34" charset="0"/>
                <a:cs typeface="Arial" pitchFamily="34" charset="0"/>
              </a:rPr>
              <a:t>recognition</a:t>
            </a:r>
          </a:p>
          <a:p>
            <a:pPr marL="342900" indent="-342900">
              <a:buSzPct val="100000"/>
            </a:pPr>
            <a:r>
              <a:rPr lang="en-US" sz="1200" dirty="0" smtClean="0">
                <a:latin typeface="Arial" pitchFamily="34" charset="0"/>
                <a:cs typeface="Arial" pitchFamily="34" charset="0"/>
              </a:rPr>
              <a:t>➤ </a:t>
            </a:r>
            <a:r>
              <a:rPr lang="en-US" sz="1200" dirty="0" smtClean="0">
                <a:latin typeface="Arial" pitchFamily="34" charset="0"/>
                <a:cs typeface="Arial" pitchFamily="34" charset="0"/>
              </a:rPr>
              <a:t>Multimodal affective </a:t>
            </a:r>
            <a:r>
              <a:rPr lang="en-US" sz="1200" dirty="0" smtClean="0">
                <a:latin typeface="Arial" pitchFamily="34" charset="0"/>
                <a:cs typeface="Arial" pitchFamily="34" charset="0"/>
              </a:rPr>
              <a:t>computing</a:t>
            </a:r>
          </a:p>
          <a:p>
            <a:pPr marL="342900" indent="-342900">
              <a:buSzPct val="100000"/>
            </a:pPr>
            <a:r>
              <a:rPr lang="en-US" sz="1200" dirty="0" smtClean="0">
                <a:latin typeface="Arial" pitchFamily="34" charset="0"/>
                <a:cs typeface="Arial" pitchFamily="34" charset="0"/>
              </a:rPr>
              <a:t>➤ </a:t>
            </a:r>
            <a:r>
              <a:rPr lang="en-US" sz="1200" dirty="0" smtClean="0">
                <a:latin typeface="Arial" pitchFamily="34" charset="0"/>
                <a:cs typeface="Arial" pitchFamily="34" charset="0"/>
              </a:rPr>
              <a:t>Risk classification and human-in-the-loop AI</a:t>
            </a:r>
            <a:endParaRPr lang="en-US" sz="1200" dirty="0">
              <a:latin typeface="Arial" pitchFamily="34" charset="0"/>
              <a:cs typeface="Arial" pitchFamily="34" charset="0"/>
            </a:endParaRPr>
          </a:p>
        </p:txBody>
      </p:sp>
      <p:sp>
        <p:nvSpPr>
          <p:cNvPr id="13" name="Text 11"/>
          <p:cNvSpPr txBox="1"/>
          <p:nvPr/>
        </p:nvSpPr>
        <p:spPr>
          <a:xfrm>
            <a:off x="320040" y="4290524"/>
            <a:ext cx="3474720" cy="2158828"/>
          </a:xfrm>
          <a:prstGeom prst="rect">
            <a:avLst/>
          </a:prstGeom>
          <a:noFill/>
          <a:ln/>
        </p:spPr>
        <p:txBody>
          <a:bodyPr wrap="square" lIns="0" tIns="0" rIns="0" bIns="0" rtlCol="0" anchor="ctr"/>
          <a:lstStyle/>
          <a:p>
            <a:pPr marL="342900" indent="-342900">
              <a:spcAft>
                <a:spcPts val="600"/>
              </a:spcAft>
              <a:buSzPct val="100000"/>
            </a:pPr>
            <a:r>
              <a:rPr lang="en-US" sz="1600" b="1" dirty="0" smtClean="0">
                <a:latin typeface="Arial" pitchFamily="34" charset="0"/>
                <a:cs typeface="Arial" pitchFamily="34" charset="0"/>
              </a:rPr>
              <a:t>#Technology Research:</a:t>
            </a:r>
          </a:p>
          <a:p>
            <a:pPr marL="342900" indent="-342900">
              <a:spcAft>
                <a:spcPts val="600"/>
              </a:spcAft>
              <a:buSzPct val="100000"/>
            </a:pPr>
            <a:r>
              <a:rPr lang="en-US" sz="1200" dirty="0" smtClean="0">
                <a:latin typeface="Arial" pitchFamily="34" charset="0"/>
                <a:cs typeface="Arial" pitchFamily="34" charset="0"/>
              </a:rPr>
              <a:t>➤ Python</a:t>
            </a:r>
          </a:p>
          <a:p>
            <a:pPr marL="342900" indent="-342900">
              <a:spcAft>
                <a:spcPts val="600"/>
              </a:spcAft>
              <a:buSzPct val="100000"/>
            </a:pPr>
            <a:r>
              <a:rPr lang="en-US" sz="1200" dirty="0" smtClean="0">
                <a:latin typeface="Arial" pitchFamily="34" charset="0"/>
                <a:cs typeface="Arial" pitchFamily="34" charset="0"/>
              </a:rPr>
              <a:t>➤ </a:t>
            </a:r>
            <a:r>
              <a:rPr lang="en-US" sz="1200" dirty="0" err="1" smtClean="0">
                <a:latin typeface="Arial" pitchFamily="34" charset="0"/>
                <a:cs typeface="Arial" pitchFamily="34" charset="0"/>
              </a:rPr>
              <a:t>PyTorch</a:t>
            </a:r>
            <a:r>
              <a:rPr lang="en-US" sz="1200" dirty="0" smtClean="0">
                <a:latin typeface="Arial" pitchFamily="34" charset="0"/>
                <a:cs typeface="Arial" pitchFamily="34" charset="0"/>
              </a:rPr>
              <a:t> / </a:t>
            </a:r>
            <a:r>
              <a:rPr lang="en-US" sz="1200" dirty="0" err="1" smtClean="0">
                <a:latin typeface="Arial" pitchFamily="34" charset="0"/>
                <a:cs typeface="Arial" pitchFamily="34" charset="0"/>
              </a:rPr>
              <a:t>TensorFlow</a:t>
            </a:r>
            <a:endParaRPr lang="en-US" sz="1200" dirty="0" smtClean="0">
              <a:latin typeface="Arial" pitchFamily="34" charset="0"/>
              <a:cs typeface="Arial" pitchFamily="34" charset="0"/>
            </a:endParaRPr>
          </a:p>
          <a:p>
            <a:pPr marL="342900" indent="-342900">
              <a:spcAft>
                <a:spcPts val="600"/>
              </a:spcAft>
              <a:buSzPct val="100000"/>
            </a:pPr>
            <a:r>
              <a:rPr lang="en-US" sz="1200" dirty="0" smtClean="0">
                <a:latin typeface="Arial" pitchFamily="34" charset="0"/>
                <a:cs typeface="Arial" pitchFamily="34" charset="0"/>
              </a:rPr>
              <a:t>➤ </a:t>
            </a:r>
            <a:r>
              <a:rPr lang="en-US" sz="1200" dirty="0" smtClean="0">
                <a:latin typeface="Arial" pitchFamily="34" charset="0"/>
                <a:cs typeface="Arial" pitchFamily="34" charset="0"/>
              </a:rPr>
              <a:t>Hugging </a:t>
            </a:r>
            <a:r>
              <a:rPr lang="en-US" sz="1200" dirty="0" smtClean="0">
                <a:latin typeface="Arial" pitchFamily="34" charset="0"/>
                <a:cs typeface="Arial" pitchFamily="34" charset="0"/>
              </a:rPr>
              <a:t>Face</a:t>
            </a:r>
          </a:p>
          <a:p>
            <a:pPr marL="342900" indent="-342900">
              <a:spcAft>
                <a:spcPts val="600"/>
              </a:spcAft>
              <a:buSzPct val="100000"/>
            </a:pPr>
            <a:r>
              <a:rPr lang="en-US" sz="1200" dirty="0" smtClean="0">
                <a:latin typeface="Arial" pitchFamily="34" charset="0"/>
                <a:cs typeface="Arial" pitchFamily="34" charset="0"/>
              </a:rPr>
              <a:t>➤ </a:t>
            </a:r>
            <a:r>
              <a:rPr lang="en-US" sz="1200" dirty="0" err="1" smtClean="0">
                <a:latin typeface="Arial" pitchFamily="34" charset="0"/>
                <a:cs typeface="Arial" pitchFamily="34" charset="0"/>
              </a:rPr>
              <a:t>FastAPI</a:t>
            </a:r>
            <a:r>
              <a:rPr lang="en-US" sz="1200" dirty="0" smtClean="0">
                <a:latin typeface="Arial" pitchFamily="34" charset="0"/>
                <a:cs typeface="Arial" pitchFamily="34" charset="0"/>
              </a:rPr>
              <a:t> / </a:t>
            </a:r>
            <a:r>
              <a:rPr lang="en-US" sz="1200" dirty="0" smtClean="0">
                <a:latin typeface="Arial" pitchFamily="34" charset="0"/>
                <a:cs typeface="Arial" pitchFamily="34" charset="0"/>
              </a:rPr>
              <a:t>Node.js</a:t>
            </a:r>
          </a:p>
          <a:p>
            <a:pPr marL="342900" indent="-342900">
              <a:spcAft>
                <a:spcPts val="600"/>
              </a:spcAft>
              <a:buSzPct val="100000"/>
            </a:pPr>
            <a:r>
              <a:rPr lang="en-US" sz="1200" dirty="0" smtClean="0">
                <a:latin typeface="Arial" pitchFamily="34" charset="0"/>
                <a:cs typeface="Arial" pitchFamily="34" charset="0"/>
              </a:rPr>
              <a:t>➤ </a:t>
            </a:r>
            <a:r>
              <a:rPr lang="en-US" sz="1200" dirty="0" smtClean="0">
                <a:latin typeface="Arial" pitchFamily="34" charset="0"/>
                <a:cs typeface="Arial" pitchFamily="34" charset="0"/>
              </a:rPr>
              <a:t>React / </a:t>
            </a:r>
            <a:r>
              <a:rPr lang="en-US" sz="1200" dirty="0" smtClean="0">
                <a:latin typeface="Arial" pitchFamily="34" charset="0"/>
                <a:cs typeface="Arial" pitchFamily="34" charset="0"/>
              </a:rPr>
              <a:t>Next.js</a:t>
            </a:r>
          </a:p>
          <a:p>
            <a:pPr marL="342900" indent="-342900">
              <a:spcAft>
                <a:spcPts val="600"/>
              </a:spcAft>
              <a:buSzPct val="100000"/>
            </a:pPr>
            <a:r>
              <a:rPr lang="en-US" sz="1200" dirty="0" smtClean="0">
                <a:latin typeface="Arial" pitchFamily="34" charset="0"/>
                <a:cs typeface="Arial" pitchFamily="34" charset="0"/>
              </a:rPr>
              <a:t>➤ </a:t>
            </a:r>
            <a:r>
              <a:rPr lang="en-US" sz="1200" dirty="0" err="1" smtClean="0">
                <a:latin typeface="Arial" pitchFamily="34" charset="0"/>
                <a:cs typeface="Arial" pitchFamily="34" charset="0"/>
              </a:rPr>
              <a:t>PostgreSQL</a:t>
            </a:r>
            <a:endParaRPr lang="en-US" sz="1200" dirty="0" smtClean="0">
              <a:latin typeface="Arial" pitchFamily="34" charset="0"/>
              <a:cs typeface="Arial" pitchFamily="34" charset="0"/>
            </a:endParaRPr>
          </a:p>
          <a:p>
            <a:pPr marL="342900" indent="-342900">
              <a:spcAft>
                <a:spcPts val="600"/>
              </a:spcAft>
              <a:buSzPct val="100000"/>
            </a:pPr>
            <a:r>
              <a:rPr lang="en-US" sz="1200" dirty="0" smtClean="0">
                <a:latin typeface="Arial" pitchFamily="34" charset="0"/>
                <a:cs typeface="Arial" pitchFamily="34" charset="0"/>
              </a:rPr>
              <a:t>➤ </a:t>
            </a:r>
            <a:r>
              <a:rPr lang="en-US" sz="1200" dirty="0" smtClean="0">
                <a:latin typeface="Arial" pitchFamily="34" charset="0"/>
                <a:cs typeface="Arial" pitchFamily="34" charset="0"/>
              </a:rPr>
              <a:t>Cloud infrastructure</a:t>
            </a:r>
            <a:endParaRPr lang="en-US" sz="1200" dirty="0">
              <a:latin typeface="Arial" pitchFamily="34" charset="0"/>
              <a:cs typeface="Arial" pitchFamily="34" charset="0"/>
            </a:endParaRPr>
          </a:p>
        </p:txBody>
      </p:sp>
      <p:sp>
        <p:nvSpPr>
          <p:cNvPr id="15" name="Text 13"/>
          <p:cNvSpPr txBox="1"/>
          <p:nvPr/>
        </p:nvSpPr>
        <p:spPr>
          <a:xfrm>
            <a:off x="7452360" y="3246120"/>
            <a:ext cx="1005840" cy="640080"/>
          </a:xfrm>
          <a:prstGeom prst="rect">
            <a:avLst/>
          </a:prstGeom>
          <a:noFill/>
          <a:ln/>
        </p:spPr>
        <p:txBody>
          <a:bodyPr wrap="square" lIns="0" tIns="0" rIns="0" bIns="0" rtlCol="0" anchor="ctr"/>
          <a:lstStyle/>
          <a:p>
            <a:pPr marL="0" indent="0" algn="ctr">
              <a:buNone/>
            </a:pPr>
            <a:endParaRPr lang="en-US" sz="800" dirty="0"/>
          </a:p>
        </p:txBody>
      </p:sp>
      <p:sp>
        <p:nvSpPr>
          <p:cNvPr id="17" name="Text 15"/>
          <p:cNvSpPr txBox="1"/>
          <p:nvPr/>
        </p:nvSpPr>
        <p:spPr>
          <a:xfrm>
            <a:off x="7452360" y="2057400"/>
            <a:ext cx="1005840" cy="548640"/>
          </a:xfrm>
          <a:prstGeom prst="rect">
            <a:avLst/>
          </a:prstGeom>
          <a:noFill/>
          <a:ln/>
        </p:spPr>
        <p:txBody>
          <a:bodyPr wrap="square" lIns="0" tIns="0" rIns="0" bIns="0" rtlCol="0" anchor="ctr"/>
          <a:lstStyle/>
          <a:p>
            <a:pPr marL="0" indent="0" algn="ctr">
              <a:buNone/>
            </a:pPr>
            <a:endParaRPr lang="en-US" sz="800" dirty="0"/>
          </a:p>
        </p:txBody>
      </p:sp>
      <p:sp>
        <p:nvSpPr>
          <p:cNvPr id="19" name="Text 17"/>
          <p:cNvSpPr txBox="1"/>
          <p:nvPr/>
        </p:nvSpPr>
        <p:spPr>
          <a:xfrm>
            <a:off x="8626382" y="2910377"/>
            <a:ext cx="1005840" cy="548640"/>
          </a:xfrm>
          <a:prstGeom prst="rect">
            <a:avLst/>
          </a:prstGeom>
          <a:noFill/>
          <a:ln/>
        </p:spPr>
        <p:txBody>
          <a:bodyPr wrap="square" lIns="0" tIns="0" rIns="0" bIns="0" rtlCol="0" anchor="ctr"/>
          <a:lstStyle/>
          <a:p>
            <a:pPr marL="0" indent="0" algn="ctr">
              <a:buNone/>
            </a:pPr>
            <a:endParaRPr lang="en-US" sz="800" dirty="0"/>
          </a:p>
        </p:txBody>
      </p:sp>
      <p:sp>
        <p:nvSpPr>
          <p:cNvPr id="21" name="Text 19"/>
          <p:cNvSpPr txBox="1"/>
          <p:nvPr/>
        </p:nvSpPr>
        <p:spPr>
          <a:xfrm>
            <a:off x="8177946" y="4290523"/>
            <a:ext cx="1005840" cy="548640"/>
          </a:xfrm>
          <a:prstGeom prst="rect">
            <a:avLst/>
          </a:prstGeom>
          <a:noFill/>
          <a:ln/>
        </p:spPr>
        <p:txBody>
          <a:bodyPr wrap="square" lIns="0" tIns="0" rIns="0" bIns="0" rtlCol="0" anchor="ctr"/>
          <a:lstStyle/>
          <a:p>
            <a:pPr marL="0" indent="0" algn="ctr">
              <a:buNone/>
            </a:pPr>
            <a:endParaRPr lang="en-US" sz="800" dirty="0"/>
          </a:p>
        </p:txBody>
      </p:sp>
      <p:sp>
        <p:nvSpPr>
          <p:cNvPr id="23" name="Text 21"/>
          <p:cNvSpPr txBox="1"/>
          <p:nvPr/>
        </p:nvSpPr>
        <p:spPr>
          <a:xfrm>
            <a:off x="6726774" y="4290523"/>
            <a:ext cx="1005840" cy="548640"/>
          </a:xfrm>
          <a:prstGeom prst="rect">
            <a:avLst/>
          </a:prstGeom>
          <a:noFill/>
          <a:ln/>
        </p:spPr>
        <p:txBody>
          <a:bodyPr wrap="square" lIns="0" tIns="0" rIns="0" bIns="0" rtlCol="0" anchor="ctr"/>
          <a:lstStyle/>
          <a:p>
            <a:pPr marL="0" indent="0" algn="ctr">
              <a:buNone/>
            </a:pPr>
            <a:endParaRPr lang="en-US" sz="800" dirty="0"/>
          </a:p>
        </p:txBody>
      </p:sp>
      <p:sp>
        <p:nvSpPr>
          <p:cNvPr id="25" name="Text 23"/>
          <p:cNvSpPr txBox="1"/>
          <p:nvPr/>
        </p:nvSpPr>
        <p:spPr>
          <a:xfrm>
            <a:off x="6278338" y="2910377"/>
            <a:ext cx="1005840" cy="548640"/>
          </a:xfrm>
          <a:prstGeom prst="rect">
            <a:avLst/>
          </a:prstGeom>
          <a:noFill/>
          <a:ln/>
        </p:spPr>
        <p:txBody>
          <a:bodyPr wrap="square" lIns="0" tIns="0" rIns="0" bIns="0" rtlCol="0" anchor="ctr"/>
          <a:lstStyle/>
          <a:p>
            <a:pPr marL="0" indent="0" algn="ctr">
              <a:buNone/>
            </a:pPr>
            <a:endParaRPr lang="en-US" sz="800" dirty="0"/>
          </a:p>
        </p:txBody>
      </p:sp>
      <p:sp>
        <p:nvSpPr>
          <p:cNvPr id="26" name="Text 24"/>
          <p:cNvSpPr txBox="1"/>
          <p:nvPr/>
        </p:nvSpPr>
        <p:spPr>
          <a:xfrm>
            <a:off x="9464040" y="3291840"/>
            <a:ext cx="822960" cy="274320"/>
          </a:xfrm>
          <a:prstGeom prst="rect">
            <a:avLst/>
          </a:prstGeom>
          <a:noFill/>
          <a:ln/>
        </p:spPr>
        <p:txBody>
          <a:bodyPr wrap="square" lIns="0" tIns="0" rIns="0" bIns="0" rtlCol="0" anchor="ctr"/>
          <a:lstStyle/>
          <a:p>
            <a:pPr marL="0" indent="0">
              <a:buNone/>
            </a:pPr>
            <a:endParaRPr lang="en-US" sz="1100" dirty="0"/>
          </a:p>
        </p:txBody>
      </p:sp>
      <p:sp>
        <p:nvSpPr>
          <p:cNvPr id="27" name="Text 25"/>
          <p:cNvSpPr txBox="1"/>
          <p:nvPr/>
        </p:nvSpPr>
        <p:spPr>
          <a:xfrm>
            <a:off x="6947214" y="1033272"/>
            <a:ext cx="3614106" cy="451211"/>
          </a:xfrm>
          <a:prstGeom prst="rect">
            <a:avLst/>
          </a:prstGeom>
          <a:noFill/>
          <a:ln/>
        </p:spPr>
        <p:txBody>
          <a:bodyPr wrap="square" lIns="0" tIns="0" rIns="0" bIns="0" rtlCol="0" anchor="t"/>
          <a:lstStyle/>
          <a:p>
            <a:pPr>
              <a:spcAft>
                <a:spcPts val="1000"/>
              </a:spcAft>
            </a:pPr>
            <a:r>
              <a:rPr lang="en-US" b="1" dirty="0" smtClean="0">
                <a:solidFill>
                  <a:srgbClr val="000000"/>
                </a:solidFill>
                <a:latin typeface="Arial" pitchFamily="34" charset="0"/>
                <a:ea typeface="Arial" pitchFamily="34" charset="-122"/>
                <a:cs typeface="Arial" pitchFamily="34" charset="0"/>
              </a:rPr>
              <a:t>TECHNICAL </a:t>
            </a:r>
            <a:r>
              <a:rPr lang="en-US" b="1" dirty="0" smtClean="0">
                <a:solidFill>
                  <a:srgbClr val="000000"/>
                </a:solidFill>
                <a:latin typeface="Arial" pitchFamily="34" charset="0"/>
                <a:ea typeface="Arial" pitchFamily="34" charset="-122"/>
                <a:cs typeface="Arial" pitchFamily="34" charset="0"/>
              </a:rPr>
              <a:t>APPROACH</a:t>
            </a:r>
          </a:p>
          <a:p>
            <a:pPr>
              <a:spcAft>
                <a:spcPts val="1000"/>
              </a:spcAft>
            </a:pPr>
            <a:endParaRPr lang="en-US" b="1" dirty="0">
              <a:latin typeface="Arial" pitchFamily="34" charset="0"/>
              <a:cs typeface="Arial" pitchFamily="34" charset="0"/>
            </a:endParaRPr>
          </a:p>
        </p:txBody>
      </p:sp>
      <p:pic>
        <p:nvPicPr>
          <p:cNvPr id="28" name="Picture 27" descr="side logo.jpg"/>
          <p:cNvPicPr>
            <a:picLocks noChangeAspect="1"/>
          </p:cNvPicPr>
          <p:nvPr/>
        </p:nvPicPr>
        <p:blipFill>
          <a:blip r:embed="rId3"/>
          <a:stretch>
            <a:fillRect/>
          </a:stretch>
        </p:blipFill>
        <p:spPr>
          <a:xfrm>
            <a:off x="9984702" y="0"/>
            <a:ext cx="1811058" cy="824240"/>
          </a:xfrm>
          <a:prstGeom prst="rect">
            <a:avLst/>
          </a:prstGeom>
        </p:spPr>
      </p:pic>
      <p:pic>
        <p:nvPicPr>
          <p:cNvPr id="34" name="Picture 33" descr="sage image.jpg"/>
          <p:cNvPicPr>
            <a:picLocks noChangeAspect="1"/>
          </p:cNvPicPr>
          <p:nvPr/>
        </p:nvPicPr>
        <p:blipFill>
          <a:blip r:embed="rId4"/>
          <a:stretch>
            <a:fillRect/>
          </a:stretch>
        </p:blipFill>
        <p:spPr>
          <a:xfrm>
            <a:off x="605756" y="157734"/>
            <a:ext cx="1708566" cy="452214"/>
          </a:xfrm>
          <a:prstGeom prst="rect">
            <a:avLst/>
          </a:prstGeom>
        </p:spPr>
      </p:pic>
      <p:sp>
        <p:nvSpPr>
          <p:cNvPr id="36" name="TextBox 35"/>
          <p:cNvSpPr txBox="1"/>
          <p:nvPr/>
        </p:nvSpPr>
        <p:spPr>
          <a:xfrm>
            <a:off x="5614392" y="1484483"/>
            <a:ext cx="3011990" cy="307777"/>
          </a:xfrm>
          <a:prstGeom prst="rect">
            <a:avLst/>
          </a:prstGeom>
          <a:noFill/>
        </p:spPr>
        <p:txBody>
          <a:bodyPr wrap="square" rtlCol="0">
            <a:spAutoFit/>
          </a:bodyPr>
          <a:lstStyle/>
          <a:p>
            <a:pPr algn="ctr"/>
            <a:r>
              <a:rPr lang="en-US" sz="1400" b="1" dirty="0" smtClean="0"/>
              <a:t>AI /ML TECHNOLOGIES</a:t>
            </a:r>
            <a:endParaRPr lang="en-US" sz="1400" b="1" dirty="0"/>
          </a:p>
        </p:txBody>
      </p:sp>
      <p:sp>
        <p:nvSpPr>
          <p:cNvPr id="37" name="TextBox 36"/>
          <p:cNvSpPr txBox="1"/>
          <p:nvPr/>
        </p:nvSpPr>
        <p:spPr>
          <a:xfrm>
            <a:off x="6026543" y="1792260"/>
            <a:ext cx="4711588" cy="577081"/>
          </a:xfrm>
          <a:prstGeom prst="rect">
            <a:avLst/>
          </a:prstGeom>
          <a:noFill/>
          <a:ln>
            <a:solidFill>
              <a:schemeClr val="tx1"/>
            </a:solidFill>
          </a:ln>
        </p:spPr>
        <p:txBody>
          <a:bodyPr wrap="square" rtlCol="0">
            <a:spAutoFit/>
          </a:bodyPr>
          <a:lstStyle/>
          <a:p>
            <a:pPr algn="ctr"/>
            <a:r>
              <a:rPr lang="en-US" sz="1050" dirty="0" smtClean="0"/>
              <a:t>   </a:t>
            </a:r>
            <a:r>
              <a:rPr lang="en-US" sz="1050" b="1" dirty="0" smtClean="0">
                <a:latin typeface="Arial" pitchFamily="34" charset="0"/>
                <a:cs typeface="Arial" pitchFamily="34" charset="0"/>
              </a:rPr>
              <a:t>NLP / LLM</a:t>
            </a:r>
          </a:p>
          <a:p>
            <a:pPr algn="ctr"/>
            <a:r>
              <a:rPr lang="en-US" sz="1050" dirty="0" smtClean="0">
                <a:latin typeface="Arial" pitchFamily="34" charset="0"/>
                <a:cs typeface="Arial" pitchFamily="34" charset="0"/>
              </a:rPr>
              <a:t>Transformer-based language models • LLM-based conversational analysis</a:t>
            </a:r>
          </a:p>
          <a:p>
            <a:pPr algn="ctr"/>
            <a:r>
              <a:rPr lang="en-US" sz="1050" dirty="0" smtClean="0">
                <a:latin typeface="Arial" pitchFamily="34" charset="0"/>
                <a:cs typeface="Arial" pitchFamily="34" charset="0"/>
              </a:rPr>
              <a:t>Sentiment &amp; emotion analysis • Context-aware distress </a:t>
            </a:r>
            <a:r>
              <a:rPr lang="en-US" sz="1050" dirty="0" smtClean="0">
                <a:latin typeface="Arial" pitchFamily="34" charset="0"/>
                <a:cs typeface="Arial" pitchFamily="34" charset="0"/>
              </a:rPr>
              <a:t>detection</a:t>
            </a:r>
            <a:endParaRPr lang="en-US" dirty="0"/>
          </a:p>
        </p:txBody>
      </p:sp>
      <p:sp>
        <p:nvSpPr>
          <p:cNvPr id="38" name="TextBox 37"/>
          <p:cNvSpPr txBox="1"/>
          <p:nvPr/>
        </p:nvSpPr>
        <p:spPr>
          <a:xfrm>
            <a:off x="6026543" y="2495467"/>
            <a:ext cx="4711588" cy="530915"/>
          </a:xfrm>
          <a:prstGeom prst="rect">
            <a:avLst/>
          </a:prstGeom>
          <a:noFill/>
          <a:ln>
            <a:solidFill>
              <a:schemeClr val="tx1"/>
            </a:solidFill>
          </a:ln>
        </p:spPr>
        <p:txBody>
          <a:bodyPr wrap="square" rtlCol="0">
            <a:spAutoFit/>
          </a:bodyPr>
          <a:lstStyle/>
          <a:p>
            <a:r>
              <a:rPr lang="en-US" b="1" dirty="0" smtClean="0"/>
              <a:t>                                 </a:t>
            </a:r>
            <a:r>
              <a:rPr lang="en-US" sz="1050" b="1" dirty="0" smtClean="0">
                <a:latin typeface="Arial" pitchFamily="34" charset="0"/>
                <a:cs typeface="Arial" pitchFamily="34" charset="0"/>
              </a:rPr>
              <a:t>SPEECH AI</a:t>
            </a:r>
            <a:endParaRPr lang="en-US" sz="1050" dirty="0" smtClean="0">
              <a:latin typeface="Arial" pitchFamily="34" charset="0"/>
              <a:cs typeface="Arial" pitchFamily="34" charset="0"/>
            </a:endParaRPr>
          </a:p>
          <a:p>
            <a:pPr algn="ctr"/>
            <a:r>
              <a:rPr lang="en-US" sz="1050" dirty="0" smtClean="0">
                <a:latin typeface="Arial" pitchFamily="34" charset="0"/>
                <a:cs typeface="Arial" pitchFamily="34" charset="0"/>
              </a:rPr>
              <a:t>Speech-to-Text • Voice feature extraction • Prosodic/emotional indicators</a:t>
            </a:r>
            <a:endParaRPr lang="en-US" sz="1050" dirty="0">
              <a:latin typeface="Arial" pitchFamily="34" charset="0"/>
              <a:cs typeface="Arial" pitchFamily="34" charset="0"/>
            </a:endParaRPr>
          </a:p>
        </p:txBody>
      </p:sp>
      <p:sp>
        <p:nvSpPr>
          <p:cNvPr id="39" name="TextBox 38"/>
          <p:cNvSpPr txBox="1"/>
          <p:nvPr/>
        </p:nvSpPr>
        <p:spPr>
          <a:xfrm>
            <a:off x="6026543" y="3221801"/>
            <a:ext cx="4787451" cy="661720"/>
          </a:xfrm>
          <a:prstGeom prst="rect">
            <a:avLst/>
          </a:prstGeom>
          <a:noFill/>
          <a:ln>
            <a:solidFill>
              <a:schemeClr val="tx1"/>
            </a:solidFill>
          </a:ln>
        </p:spPr>
        <p:txBody>
          <a:bodyPr wrap="square" rtlCol="0">
            <a:spAutoFit/>
          </a:bodyPr>
          <a:lstStyle/>
          <a:p>
            <a:r>
              <a:rPr lang="en-US" sz="1600" b="1" dirty="0" smtClean="0">
                <a:latin typeface="Arial" pitchFamily="34" charset="0"/>
                <a:cs typeface="Arial" pitchFamily="34" charset="0"/>
              </a:rPr>
              <a:t>                    </a:t>
            </a:r>
            <a:r>
              <a:rPr lang="en-US" sz="1050" b="1" dirty="0" smtClean="0">
                <a:latin typeface="Arial" pitchFamily="34" charset="0"/>
                <a:cs typeface="Arial" pitchFamily="34" charset="0"/>
              </a:rPr>
              <a:t>MACHINE </a:t>
            </a:r>
            <a:r>
              <a:rPr lang="en-US" sz="1050" b="1" dirty="0" smtClean="0">
                <a:latin typeface="Arial" pitchFamily="34" charset="0"/>
                <a:cs typeface="Arial" pitchFamily="34" charset="0"/>
              </a:rPr>
              <a:t>LEARNING</a:t>
            </a:r>
            <a:endParaRPr lang="en-US" sz="1050" dirty="0" smtClean="0">
              <a:latin typeface="Arial" pitchFamily="34" charset="0"/>
              <a:cs typeface="Arial" pitchFamily="34" charset="0"/>
            </a:endParaRPr>
          </a:p>
          <a:p>
            <a:pPr algn="ctr"/>
            <a:r>
              <a:rPr lang="en-US" sz="1050" dirty="0" smtClean="0">
                <a:latin typeface="Arial" pitchFamily="34" charset="0"/>
                <a:cs typeface="Arial" pitchFamily="34" charset="0"/>
              </a:rPr>
              <a:t>Stress classification • Trauma-risk classification</a:t>
            </a:r>
          </a:p>
          <a:p>
            <a:pPr algn="ctr"/>
            <a:r>
              <a:rPr lang="en-US" sz="1050" dirty="0" smtClean="0">
                <a:latin typeface="Arial" pitchFamily="34" charset="0"/>
                <a:cs typeface="Arial" pitchFamily="34" charset="0"/>
              </a:rPr>
              <a:t>Risk scoring • Anomaly/high-risk </a:t>
            </a:r>
            <a:r>
              <a:rPr lang="en-US" sz="1050" dirty="0" smtClean="0">
                <a:latin typeface="Arial" pitchFamily="34" charset="0"/>
                <a:cs typeface="Arial" pitchFamily="34" charset="0"/>
              </a:rPr>
              <a:t>detection</a:t>
            </a:r>
            <a:endParaRPr lang="en-US" dirty="0"/>
          </a:p>
        </p:txBody>
      </p:sp>
      <p:cxnSp>
        <p:nvCxnSpPr>
          <p:cNvPr id="41" name="Straight Connector 40"/>
          <p:cNvCxnSpPr/>
          <p:nvPr/>
        </p:nvCxnSpPr>
        <p:spPr>
          <a:xfrm flipV="1">
            <a:off x="5614392" y="3989373"/>
            <a:ext cx="5649721" cy="1"/>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6026543" y="3989374"/>
            <a:ext cx="3699541" cy="1384995"/>
          </a:xfrm>
          <a:prstGeom prst="rect">
            <a:avLst/>
          </a:prstGeom>
          <a:noFill/>
        </p:spPr>
        <p:txBody>
          <a:bodyPr wrap="square" rtlCol="0">
            <a:spAutoFit/>
          </a:bodyPr>
          <a:lstStyle/>
          <a:p>
            <a:r>
              <a:rPr lang="en-US" sz="1050" b="1" dirty="0" smtClean="0">
                <a:latin typeface="Arial" pitchFamily="34" charset="0"/>
                <a:cs typeface="Arial" pitchFamily="34" charset="0"/>
              </a:rPr>
              <a:t>APPLICATION </a:t>
            </a:r>
            <a:r>
              <a:rPr lang="en-US" sz="1050" b="1" dirty="0" smtClean="0">
                <a:latin typeface="Arial" pitchFamily="34" charset="0"/>
                <a:cs typeface="Arial" pitchFamily="34" charset="0"/>
              </a:rPr>
              <a:t>TECHNOLOGIES</a:t>
            </a:r>
            <a:endParaRPr lang="en-US" sz="1050" dirty="0" smtClean="0">
              <a:latin typeface="Arial" pitchFamily="34" charset="0"/>
              <a:cs typeface="Arial" pitchFamily="34" charset="0"/>
            </a:endParaRPr>
          </a:p>
          <a:p>
            <a:r>
              <a:rPr lang="en-US" sz="1050" b="1" dirty="0" smtClean="0">
                <a:latin typeface="Arial" pitchFamily="34" charset="0"/>
                <a:cs typeface="Arial" pitchFamily="34" charset="0"/>
              </a:rPr>
              <a:t>Frontend:</a:t>
            </a:r>
            <a:r>
              <a:rPr lang="en-US" sz="1050" dirty="0" smtClean="0">
                <a:latin typeface="Arial" pitchFamily="34" charset="0"/>
                <a:cs typeface="Arial" pitchFamily="34" charset="0"/>
              </a:rPr>
              <a:t> React / Next.js</a:t>
            </a:r>
          </a:p>
          <a:p>
            <a:r>
              <a:rPr lang="en-US" sz="1050" b="1" dirty="0" smtClean="0">
                <a:latin typeface="Arial" pitchFamily="34" charset="0"/>
                <a:cs typeface="Arial" pitchFamily="34" charset="0"/>
              </a:rPr>
              <a:t>Backend:</a:t>
            </a:r>
            <a:r>
              <a:rPr lang="en-US" sz="1050" dirty="0" smtClean="0">
                <a:latin typeface="Arial" pitchFamily="34" charset="0"/>
                <a:cs typeface="Arial" pitchFamily="34" charset="0"/>
              </a:rPr>
              <a:t> </a:t>
            </a:r>
            <a:r>
              <a:rPr lang="en-US" sz="1050" dirty="0" err="1" smtClean="0">
                <a:latin typeface="Arial" pitchFamily="34" charset="0"/>
                <a:cs typeface="Arial" pitchFamily="34" charset="0"/>
              </a:rPr>
              <a:t>FastAPI</a:t>
            </a:r>
            <a:r>
              <a:rPr lang="en-US" sz="1050" dirty="0" smtClean="0">
                <a:latin typeface="Arial" pitchFamily="34" charset="0"/>
                <a:cs typeface="Arial" pitchFamily="34" charset="0"/>
              </a:rPr>
              <a:t> / Node.js</a:t>
            </a:r>
          </a:p>
          <a:p>
            <a:r>
              <a:rPr lang="en-US" sz="1050" b="1" dirty="0" smtClean="0">
                <a:latin typeface="Arial" pitchFamily="34" charset="0"/>
                <a:cs typeface="Arial" pitchFamily="34" charset="0"/>
              </a:rPr>
              <a:t>Database:</a:t>
            </a:r>
            <a:r>
              <a:rPr lang="en-US" sz="1050" dirty="0" smtClean="0">
                <a:latin typeface="Arial" pitchFamily="34" charset="0"/>
                <a:cs typeface="Arial" pitchFamily="34" charset="0"/>
              </a:rPr>
              <a:t> </a:t>
            </a:r>
            <a:r>
              <a:rPr lang="en-US" sz="1050" dirty="0" err="1" smtClean="0">
                <a:latin typeface="Arial" pitchFamily="34" charset="0"/>
                <a:cs typeface="Arial" pitchFamily="34" charset="0"/>
              </a:rPr>
              <a:t>PostgreSQL</a:t>
            </a:r>
            <a:endParaRPr lang="en-US" sz="1050" dirty="0" smtClean="0">
              <a:latin typeface="Arial" pitchFamily="34" charset="0"/>
              <a:cs typeface="Arial" pitchFamily="34" charset="0"/>
            </a:endParaRPr>
          </a:p>
          <a:p>
            <a:r>
              <a:rPr lang="en-US" sz="1050" b="1" dirty="0" smtClean="0">
                <a:latin typeface="Arial" pitchFamily="34" charset="0"/>
                <a:cs typeface="Arial" pitchFamily="34" charset="0"/>
              </a:rPr>
              <a:t>Authentication:</a:t>
            </a:r>
            <a:r>
              <a:rPr lang="en-US" sz="1050" dirty="0" smtClean="0">
                <a:latin typeface="Arial" pitchFamily="34" charset="0"/>
                <a:cs typeface="Arial" pitchFamily="34" charset="0"/>
              </a:rPr>
              <a:t> Secure role-based access</a:t>
            </a:r>
          </a:p>
          <a:p>
            <a:r>
              <a:rPr lang="en-US" sz="1050" b="1" dirty="0" smtClean="0">
                <a:latin typeface="Arial" pitchFamily="34" charset="0"/>
                <a:cs typeface="Arial" pitchFamily="34" charset="0"/>
              </a:rPr>
              <a:t>API Layer:</a:t>
            </a:r>
            <a:r>
              <a:rPr lang="en-US" sz="1050" dirty="0" smtClean="0">
                <a:latin typeface="Arial" pitchFamily="34" charset="0"/>
                <a:cs typeface="Arial" pitchFamily="34" charset="0"/>
              </a:rPr>
              <a:t> REST APIs</a:t>
            </a:r>
          </a:p>
          <a:p>
            <a:r>
              <a:rPr lang="en-US" sz="1050" b="1" dirty="0" smtClean="0">
                <a:latin typeface="Arial" pitchFamily="34" charset="0"/>
                <a:cs typeface="Arial" pitchFamily="34" charset="0"/>
              </a:rPr>
              <a:t>Deployment:</a:t>
            </a:r>
            <a:r>
              <a:rPr lang="en-US" sz="1050" dirty="0" smtClean="0">
                <a:latin typeface="Arial" pitchFamily="34" charset="0"/>
                <a:cs typeface="Arial" pitchFamily="34" charset="0"/>
              </a:rPr>
              <a:t> Cloud infrastructure</a:t>
            </a:r>
          </a:p>
          <a:p>
            <a:endParaRPr lang="en-US" sz="1050" dirty="0">
              <a:latin typeface="Arial" pitchFamily="34" charset="0"/>
              <a:cs typeface="Arial" pitchFamily="34" charset="0"/>
            </a:endParaRPr>
          </a:p>
        </p:txBody>
      </p:sp>
      <p:cxnSp>
        <p:nvCxnSpPr>
          <p:cNvPr id="47" name="Straight Connector 46"/>
          <p:cNvCxnSpPr/>
          <p:nvPr/>
        </p:nvCxnSpPr>
        <p:spPr>
          <a:xfrm>
            <a:off x="5614392" y="5204767"/>
            <a:ext cx="5819654" cy="1588"/>
          </a:xfrm>
          <a:prstGeom prst="line">
            <a:avLst/>
          </a:prstGeom>
          <a:ln>
            <a:solidFill>
              <a:schemeClr val="tx2">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6026543" y="5374369"/>
            <a:ext cx="4260457" cy="900246"/>
          </a:xfrm>
          <a:prstGeom prst="rect">
            <a:avLst/>
          </a:prstGeom>
          <a:noFill/>
        </p:spPr>
        <p:txBody>
          <a:bodyPr wrap="square" rtlCol="0">
            <a:spAutoFit/>
          </a:bodyPr>
          <a:lstStyle/>
          <a:p>
            <a:r>
              <a:rPr lang="en-US" sz="1050" b="1" dirty="0" smtClean="0">
                <a:latin typeface="Arial" pitchFamily="34" charset="0"/>
                <a:cs typeface="Arial" pitchFamily="34" charset="0"/>
              </a:rPr>
              <a:t>ADDITIONAL TECHNOLOGIES</a:t>
            </a:r>
            <a:endParaRPr lang="en-US" sz="1050" dirty="0" smtClean="0">
              <a:latin typeface="Arial" pitchFamily="34" charset="0"/>
              <a:cs typeface="Arial" pitchFamily="34" charset="0"/>
            </a:endParaRPr>
          </a:p>
          <a:p>
            <a:r>
              <a:rPr lang="en-US" sz="1050" dirty="0" smtClean="0">
                <a:latin typeface="Arial" pitchFamily="34" charset="0"/>
                <a:cs typeface="Arial" pitchFamily="34" charset="0"/>
              </a:rPr>
              <a:t>Python • </a:t>
            </a:r>
            <a:r>
              <a:rPr lang="en-US" sz="1050" dirty="0" err="1" smtClean="0">
                <a:latin typeface="Arial" pitchFamily="34" charset="0"/>
                <a:cs typeface="Arial" pitchFamily="34" charset="0"/>
              </a:rPr>
              <a:t>PyTorch</a:t>
            </a:r>
            <a:r>
              <a:rPr lang="en-US" sz="1050" dirty="0" smtClean="0">
                <a:latin typeface="Arial" pitchFamily="34" charset="0"/>
                <a:cs typeface="Arial" pitchFamily="34" charset="0"/>
              </a:rPr>
              <a:t> / </a:t>
            </a:r>
            <a:r>
              <a:rPr lang="en-US" sz="1050" dirty="0" err="1" smtClean="0">
                <a:latin typeface="Arial" pitchFamily="34" charset="0"/>
                <a:cs typeface="Arial" pitchFamily="34" charset="0"/>
              </a:rPr>
              <a:t>TensorFlow</a:t>
            </a:r>
            <a:r>
              <a:rPr lang="en-US" sz="1050" dirty="0" smtClean="0">
                <a:latin typeface="Arial" pitchFamily="34" charset="0"/>
                <a:cs typeface="Arial" pitchFamily="34" charset="0"/>
              </a:rPr>
              <a:t> • Hugging Face</a:t>
            </a:r>
          </a:p>
          <a:p>
            <a:r>
              <a:rPr lang="en-US" sz="1050" dirty="0" err="1" smtClean="0">
                <a:latin typeface="Arial" pitchFamily="34" charset="0"/>
                <a:cs typeface="Arial" pitchFamily="34" charset="0"/>
              </a:rPr>
              <a:t>OpenAI</a:t>
            </a:r>
            <a:r>
              <a:rPr lang="en-US" sz="1050" dirty="0" smtClean="0">
                <a:latin typeface="Arial" pitchFamily="34" charset="0"/>
                <a:cs typeface="Arial" pitchFamily="34" charset="0"/>
              </a:rPr>
              <a:t>-compatible </a:t>
            </a:r>
            <a:r>
              <a:rPr lang="en-US" sz="1050" dirty="0" smtClean="0">
                <a:latin typeface="Arial" pitchFamily="34" charset="0"/>
                <a:cs typeface="Arial" pitchFamily="34" charset="0"/>
              </a:rPr>
              <a:t>LLM/API layer (if used) • Speech-to-Text model</a:t>
            </a:r>
          </a:p>
          <a:p>
            <a:r>
              <a:rPr lang="en-US" sz="1050" dirty="0" smtClean="0">
                <a:latin typeface="Arial" pitchFamily="34" charset="0"/>
                <a:cs typeface="Arial" pitchFamily="34" charset="0"/>
              </a:rPr>
              <a:t>Encryption • Secure logging • Analytics dashboard</a:t>
            </a:r>
          </a:p>
          <a:p>
            <a:endParaRPr lang="en-US" sz="1050"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387</TotalTime>
  <Words>1038</Words>
  <Application>Microsoft Office PowerPoint</Application>
  <PresentationFormat>Custom</PresentationFormat>
  <Paragraphs>127</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dell</cp:lastModifiedBy>
  <cp:revision>37</cp:revision>
  <dcterms:created xsi:type="dcterms:W3CDTF">2026-09-04T07:51:02Z</dcterms:created>
  <dcterms:modified xsi:type="dcterms:W3CDTF">2026-09-04T14:23:29Z</dcterms:modified>
</cp:coreProperties>
</file>
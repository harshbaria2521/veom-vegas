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 id="262" r:id="rId13"/>
    <p:sldId id="263"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11"/>
    <p:restoredTop sz="94610"/>
  </p:normalViewPr>
  <p:slideViewPr>
    <p:cSldViewPr snapToGrid="0" snapToObjects="1">
      <p:cViewPr varScale="1">
        <p:scale>
          <a:sx n="94" d="100"/>
          <a:sy n="94" d="100"/>
        </p:scale>
        <p:origin x="-931" y="-6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eg"/><Relationship Id="rId4" Type="http://schemas.openxmlformats.org/officeDocument/2006/relationships/image" Target="../media/image4.jpeg"/><Relationship Id="rId5"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eg"/><Relationship Id="rId4" Type="http://schemas.openxmlformats.org/officeDocument/2006/relationships/image" Target="../media/image5.png"/><Relationship Id="rId5"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60720" y="502920"/>
            <a:ext cx="1920240" cy="2194560"/>
          </a:xfrm>
          <a:prstGeom prst="hexagon">
            <a:avLst/>
          </a:prstGeom>
          <a:solidFill>
            <a:srgbClr val="E7E7E7">
              <a:alpha val="60000"/>
            </a:srgbClr>
          </a:solidFill>
          <a:ln/>
        </p:spPr>
        <p:txBody>
          <a:bodyPr/>
          <a:p/>
        </p:txBody>
      </p:sp>
      <p:sp>
        <p:nvSpPr>
          <p:cNvPr id="3" name="Shape 1"/>
          <p:cNvSpPr/>
          <p:nvPr/>
        </p:nvSpPr>
        <p:spPr>
          <a:xfrm>
            <a:off x="4572000" y="2377440"/>
            <a:ext cx="1463040" cy="1691640"/>
          </a:xfrm>
          <a:prstGeom prst="hexagon">
            <a:avLst/>
          </a:prstGeom>
          <a:solidFill>
            <a:srgbClr val="E7E7E7">
              <a:alpha val="45000"/>
            </a:srgbClr>
          </a:solidFill>
          <a:ln/>
        </p:spPr>
        <p:txBody>
          <a:bodyPr/>
          <a:p/>
        </p:txBody>
      </p:sp>
      <p:sp>
        <p:nvSpPr>
          <p:cNvPr id="7" name="Text 5"/>
          <p:cNvSpPr txBox="1"/>
          <p:nvPr/>
        </p:nvSpPr>
        <p:spPr>
          <a:xfrm>
            <a:off x="8595360" y="4023360"/>
            <a:ext cx="2011680" cy="274320"/>
          </a:xfrm>
          <a:prstGeom prst="rect">
            <a:avLst/>
          </a:prstGeom>
          <a:noFill/>
          <a:ln/>
        </p:spPr>
        <p:txBody>
          <a:bodyPr wrap="square" lIns="0" tIns="0" rIns="0" bIns="0" rtlCol="0" anchor="ctr"/>
          <a:lstStyle/>
          <a:p>
            <a:pPr marL="0" indent="0" algn="ctr">
              <a:buNone/>
            </a:pPr>
            <a:endParaRPr lang="en-US" sz="1200" dirty="0"/>
          </a:p>
        </p:txBody>
      </p:sp>
      <p:sp>
        <p:nvSpPr>
          <p:cNvPr id="8" name="Text 6"/>
          <p:cNvSpPr txBox="1"/>
          <p:nvPr/>
        </p:nvSpPr>
        <p:spPr>
          <a:xfrm>
            <a:off x="1005840" y="320040"/>
            <a:ext cx="8778240" cy="640080"/>
          </a:xfrm>
          <a:prstGeom prst="rect">
            <a:avLst/>
          </a:prstGeom>
          <a:noFill/>
          <a:ln/>
        </p:spPr>
        <p:txBody>
          <a:bodyPr wrap="square" lIns="0" tIns="0" rIns="0" bIns="0" rtlCol="0" anchor="ctr"/>
          <a:lstStyle/>
          <a:p>
            <a:pPr marL="0" indent="0" algn="l">
              <a:buNone/>
            </a:pPr>
            <a:r>
              <a:rPr lang="en-US" sz="4000" b="1" dirty="0">
                <a:solidFill>
                  <a:schemeClr val="accent1">
                    <a:lumMod val="75000"/>
                  </a:schemeClr>
                </a:solidFill>
                <a:latin typeface="Bahnschrift Light" pitchFamily="34" charset="0"/>
                <a:ea typeface="Times New Roman" pitchFamily="34" charset="-122"/>
                <a:cs typeface="Times New Roman" pitchFamily="34" charset="-120"/>
              </a:rPr>
              <a:t>SMART INDIA HACKATHON </a:t>
            </a:r>
            <a:r>
              <a:rPr lang="en-US" sz="4000" b="1" dirty="0" smtClean="0">
                <a:solidFill>
                  <a:schemeClr val="accent1">
                    <a:lumMod val="75000"/>
                  </a:schemeClr>
                </a:solidFill>
                <a:latin typeface="Bahnschrift Light" pitchFamily="34" charset="0"/>
                <a:ea typeface="Times New Roman" pitchFamily="34" charset="-122"/>
                <a:cs typeface="Times New Roman" pitchFamily="34" charset="-120"/>
              </a:rPr>
              <a:t>2026</a:t>
            </a:r>
            <a:endParaRPr lang="en-US" sz="4000" b="1" dirty="0">
              <a:solidFill>
                <a:schemeClr val="accent1">
                  <a:lumMod val="75000"/>
                </a:schemeClr>
              </a:solidFill>
              <a:latin typeface="Bahnschrift Light" pitchFamily="34" charset="0"/>
            </a:endParaRPr>
          </a:p>
        </p:txBody>
      </p:sp>
      <p:sp>
        <p:nvSpPr>
          <p:cNvPr id="12" name="Text 10"/>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13" name="Text 11"/>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14" name="Text 12"/>
          <p:cNvSpPr txBox="1"/>
          <p:nvPr/>
        </p:nvSpPr>
        <p:spPr>
          <a:xfrm>
            <a:off x="0" y="1234440"/>
            <a:ext cx="12188952" cy="502920"/>
          </a:xfrm>
          <a:prstGeom prst="rect">
            <a:avLst/>
          </a:prstGeom>
          <a:noFill/>
          <a:ln/>
        </p:spPr>
        <p:txBody>
          <a:bodyPr wrap="square" lIns="0" tIns="0" rIns="0" bIns="0" rtlCol="0" anchor="ctr"/>
          <a:lstStyle/>
          <a:p>
            <a:pPr marL="0" indent="0" algn="ctr">
              <a:buNone/>
            </a:pPr>
            <a:r>
              <a:rPr lang="en-US" sz="2600" b="1" dirty="0">
                <a:solidFill>
                  <a:srgbClr val="000000"/>
                </a:solidFill>
                <a:latin typeface="Times New Roman" pitchFamily="34" charset="0"/>
                <a:ea typeface="Times New Roman" pitchFamily="34" charset="-122"/>
                <a:cs typeface="Times New Roman" pitchFamily="34" charset="-120"/>
              </a:rPr>
              <a:t>TITLE PAGE</a:t>
            </a:r>
            <a:endParaRPr lang="en-US" sz="2600" dirty="0"/>
          </a:p>
        </p:txBody>
      </p:sp>
      <p:sp>
        <p:nvSpPr>
          <p:cNvPr id="15" name="Text 13"/>
          <p:cNvSpPr txBox="1"/>
          <p:nvPr/>
        </p:nvSpPr>
        <p:spPr>
          <a:xfrm>
            <a:off x="685800" y="2057400"/>
            <a:ext cx="7132320" cy="4206240"/>
          </a:xfrm>
          <a:prstGeom prst="rect">
            <a:avLst/>
          </a:prstGeom>
          <a:noFill/>
          <a:ln/>
        </p:spPr>
        <p:txBody>
          <a:bodyPr wrap="square" lIns="0" tIns="0" rIns="0" bIns="0" rtlCol="0" anchor="t"/>
          <a:lstStyle/>
          <a:p>
            <a:pPr marL="342900" indent="-342900">
              <a:spcAft>
                <a:spcPts val="600"/>
              </a:spcAft>
              <a:buSzPct val="100000"/>
              <a:buChar char="•"/>
              <a:defRPr sz="1500" b="1">
                <a:solidFill>
                  <a:srgbClr val="1A202C"/>
                </a:solidFill>
              </a:defRPr>
            </a:pPr>
            <a:r>
              <a:t>•  Problem Statement ID — SIH26093</a:t>
            </a:r>
            <a:endParaRPr lang="en-US" sz="2000" dirty="0"/>
          </a:p>
          <a:p>
            <a:pPr>
              <a:spcAft>
                <a:spcPts val="600"/>
              </a:spcAft>
              <a:defRPr sz="1300" b="1">
                <a:solidFill>
                  <a:srgbClr val="1A202C"/>
                </a:solidFill>
              </a:defRPr>
            </a:pPr>
            <a:r>
              <a:t>•  Problem Statement Title — AI-Based Real-Time Stress &amp; Trauma Assessment Module for Victims Accessing NHAA (14566) &amp; Integrated Portal</a:t>
            </a:r>
          </a:p>
          <a:p>
            <a:pPr>
              <a:spcAft>
                <a:spcPts val="600"/>
              </a:spcAft>
              <a:defRPr sz="1300" b="1">
                <a:solidFill>
                  <a:srgbClr val="2B6CB0"/>
                </a:solidFill>
              </a:defRPr>
            </a:pPr>
            <a:r>
              <a:t>•  Theme — MedTech / BioTech / HealthTech    |    Category — Software</a:t>
            </a:r>
          </a:p>
          <a:p>
            <a:pPr>
              <a:spcAft>
                <a:spcPts val="600"/>
              </a:spcAft>
              <a:defRPr sz="1300" b="1">
                <a:solidFill>
                  <a:srgbClr val="1A202C"/>
                </a:solidFill>
              </a:defRPr>
            </a:pPr>
            <a:r>
              <a:t>•  Team ID — [Team ID / e.g. 12345]    |    Team Name — Veom Vegas</a:t>
            </a:r>
          </a:p>
          <a:p>
            <a:pPr>
              <a:spcAft>
                <a:spcPts val="1000"/>
              </a:spcAft>
              <a:defRPr sz="1300" b="1">
                <a:solidFill>
                  <a:srgbClr val="2D3748"/>
                </a:solidFill>
              </a:defRPr>
            </a:pPr>
            <a:r>
              <a:t>•  Institution — SAGE University, Indore</a:t>
            </a:r>
          </a:p>
          <a:p>
            <a:pPr>
              <a:spcAft>
                <a:spcPts val="300"/>
              </a:spcAft>
              <a:defRPr sz="1300" b="1">
                <a:solidFill>
                  <a:srgbClr val="1A365D"/>
                </a:solidFill>
              </a:defRPr>
            </a:pPr>
            <a:r>
              <a:t>👥 Team Members &amp; Roles:</a:t>
            </a:r>
          </a:p>
          <a:p>
            <a:pPr>
              <a:spcAft>
                <a:spcPts val="200"/>
              </a:spcAft>
              <a:defRPr sz="1100">
                <a:solidFill>
                  <a:srgbClr val="4A5568"/>
                </a:solidFill>
              </a:defRPr>
            </a:pPr>
            <a:r>
              <a:t>    1. [Member 1 (Team Leader)] — AI/ML &amp; System Architecture</a:t>
            </a:r>
          </a:p>
          <a:p>
            <a:pPr>
              <a:spcAft>
                <a:spcPts val="200"/>
              </a:spcAft>
              <a:defRPr sz="1100">
                <a:solidFill>
                  <a:srgbClr val="4A5568"/>
                </a:solidFill>
              </a:defRPr>
            </a:pPr>
            <a:r>
              <a:t>    2. [Member 2] — Full-Stack &amp; FastAPI Backend Engineer</a:t>
            </a:r>
          </a:p>
          <a:p>
            <a:pPr>
              <a:spcAft>
                <a:spcPts val="200"/>
              </a:spcAft>
              <a:defRPr sz="1100">
                <a:solidFill>
                  <a:srgbClr val="4A5568"/>
                </a:solidFill>
              </a:defRPr>
            </a:pPr>
            <a:r>
              <a:t>    3. [Member 3] — Frontend &amp; UI/UX Specialist</a:t>
            </a:r>
          </a:p>
          <a:p>
            <a:pPr>
              <a:spcAft>
                <a:spcPts val="200"/>
              </a:spcAft>
              <a:defRPr sz="1100">
                <a:solidFill>
                  <a:srgbClr val="4A5568"/>
                </a:solidFill>
              </a:defRPr>
            </a:pPr>
            <a:r>
              <a:t>    4. [Member 4] — Speech Processing &amp; NLP Engineer</a:t>
            </a:r>
          </a:p>
          <a:p>
            <a:pPr>
              <a:spcAft>
                <a:spcPts val="200"/>
              </a:spcAft>
              <a:defRPr sz="1100">
                <a:solidFill>
                  <a:srgbClr val="4A5568"/>
                </a:solidFill>
              </a:defRPr>
            </a:pPr>
            <a:r>
              <a:t>    5. [Member 5] — Security, DB &amp; Cloud Infrastructure</a:t>
            </a:r>
          </a:p>
          <a:p>
            <a:pPr>
              <a:spcAft>
                <a:spcPts val="200"/>
              </a:spcAft>
              <a:defRPr sz="1100">
                <a:solidFill>
                  <a:srgbClr val="4A5568"/>
                </a:solidFill>
              </a:defRPr>
            </a:pPr>
            <a:r>
              <a:t>    6. [Member 6 (Female)] — Data Analyst &amp; Ethics/Compliance</a:t>
            </a:r>
          </a:p>
          <a:p>
            <a:pPr>
              <a:spcBef>
                <a:spcPts val="600"/>
              </a:spcBef>
              <a:defRPr sz="1200" b="1">
                <a:solidFill>
                  <a:srgbClr val="2C5282"/>
                </a:solidFill>
              </a:defRPr>
            </a:pPr>
            <a:r>
              <a:t>🎓 Mentor: [Mentor Name] — Faculty / Domain Expert, SAGE University</a:t>
            </a:r>
          </a:p>
        </p:txBody>
      </p:sp>
      <p:pic>
        <p:nvPicPr>
          <p:cNvPr id="16" name="Picture 15" descr="side logo.jpg"/>
          <p:cNvPicPr>
            <a:picLocks noChangeAspect="1"/>
          </p:cNvPicPr>
          <p:nvPr/>
        </p:nvPicPr>
        <p:blipFill>
          <a:blip r:embed="rId3"/>
          <a:stretch>
            <a:fillRect/>
          </a:stretch>
        </p:blipFill>
        <p:spPr>
          <a:xfrm>
            <a:off x="9006435" y="80364"/>
            <a:ext cx="3026422" cy="1154076"/>
          </a:xfrm>
          <a:prstGeom prst="rect">
            <a:avLst/>
          </a:prstGeom>
        </p:spPr>
      </p:pic>
      <p:pic>
        <p:nvPicPr>
          <p:cNvPr id="17" name="Picture 16" descr="sih-logo.jpeg"/>
          <p:cNvPicPr>
            <a:picLocks noChangeAspect="1"/>
          </p:cNvPicPr>
          <p:nvPr/>
        </p:nvPicPr>
        <p:blipFill>
          <a:blip r:embed="rId4"/>
          <a:stretch>
            <a:fillRect/>
          </a:stretch>
        </p:blipFill>
        <p:spPr>
          <a:xfrm>
            <a:off x="8092034" y="2057400"/>
            <a:ext cx="3973257" cy="300365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8" name="Text 6"/>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9" name="Text 7"/>
          <p:cNvSpPr txBox="1"/>
          <p:nvPr/>
        </p:nvSpPr>
        <p:spPr>
          <a:xfrm>
            <a:off x="0" y="274320"/>
            <a:ext cx="12188952" cy="640080"/>
          </a:xfrm>
          <a:prstGeom prst="rect">
            <a:avLst/>
          </a:prstGeom>
          <a:noFill/>
          <a:ln/>
        </p:spPr>
        <p:txBody>
          <a:bodyPr wrap="square" lIns="0" tIns="0" rIns="0" bIns="0" rtlCol="0" anchor="ctr"/>
          <a:lstStyle/>
          <a:p>
            <a:pPr marL="0" indent="0" algn="ctr">
              <a:buNone/>
            </a:pPr>
            <a:r>
              <a:rPr lang="en-US" sz="3000" b="1" dirty="0">
                <a:solidFill>
                  <a:srgbClr val="000000"/>
                </a:solidFill>
                <a:latin typeface="Times New Roman" pitchFamily="34" charset="0"/>
                <a:ea typeface="Times New Roman" pitchFamily="34" charset="-122"/>
                <a:cs typeface="Times New Roman" pitchFamily="34" charset="-120"/>
              </a:rPr>
              <a:t>IDEA TITLE</a:t>
            </a:r>
            <a:endParaRPr lang="en-US" sz="3000" dirty="0"/>
          </a:p>
        </p:txBody>
      </p:sp>
      <p:sp>
        <p:nvSpPr>
          <p:cNvPr id="10" name="Text 8"/>
          <p:cNvSpPr txBox="1"/>
          <p:nvPr/>
        </p:nvSpPr>
        <p:spPr>
          <a:xfrm>
            <a:off x="411480" y="1051560"/>
            <a:ext cx="7680960" cy="365760"/>
          </a:xfrm>
          <a:prstGeom prst="rect">
            <a:avLst/>
          </a:prstGeom>
          <a:noFill/>
          <a:ln/>
        </p:spPr>
        <p:txBody>
          <a:bodyPr wrap="square" lIns="0" tIns="0" rIns="0" bIns="0" rtlCol="0" anchor="ctr"/>
          <a:lstStyle/>
          <a:p>
            <a:r>
              <a:rPr lang="en-US" sz="1450" b="1" dirty="0">
                <a:solidFill>
                  <a:srgbClr val="1F5FA6"/>
                </a:solidFill>
                <a:latin typeface="Arial" pitchFamily="34" charset="0"/>
                <a:ea typeface="Arial" pitchFamily="34" charset="-122"/>
                <a:cs typeface="Arial" pitchFamily="34" charset="-120"/>
              </a:rPr>
              <a:t>IDEA/SOLUTION: </a:t>
            </a:r>
            <a:r>
              <a:rPr lang="en-US" sz="1450" b="1" dirty="0" smtClean="0">
                <a:solidFill>
                  <a:srgbClr val="000000"/>
                </a:solidFill>
                <a:latin typeface="Arial" pitchFamily="34" charset="0"/>
                <a:ea typeface="Arial" pitchFamily="34" charset="-122"/>
                <a:cs typeface="Arial" pitchFamily="34" charset="-120"/>
              </a:rPr>
              <a:t> SVI — Smart Victim </a:t>
            </a:r>
            <a:r>
              <a:rPr lang="en-US" sz="1450" b="1" dirty="0" smtClean="0">
                <a:solidFill>
                  <a:srgbClr val="000000"/>
                </a:solidFill>
                <a:latin typeface="Arial" pitchFamily="34" charset="0"/>
                <a:ea typeface="Arial" pitchFamily="34" charset="-122"/>
                <a:cs typeface="Arial" pitchFamily="34" charset="-120"/>
              </a:rPr>
              <a:t>Intelligence</a:t>
            </a:r>
          </a:p>
          <a:p>
            <a:r>
              <a:rPr lang="en-US" sz="1450" b="1" dirty="0" smtClean="0">
                <a:solidFill>
                  <a:srgbClr val="000000"/>
                </a:solidFill>
                <a:latin typeface="Arial" pitchFamily="34" charset="0"/>
                <a:ea typeface="Arial" pitchFamily="34" charset="-122"/>
                <a:cs typeface="Arial" pitchFamily="34" charset="-120"/>
              </a:rPr>
              <a:t> </a:t>
            </a:r>
            <a:r>
              <a:rPr lang="en-US" sz="1450" b="1" dirty="0" smtClean="0">
                <a:solidFill>
                  <a:srgbClr val="000000"/>
                </a:solidFill>
                <a:latin typeface="Arial" pitchFamily="34" charset="0"/>
                <a:ea typeface="Arial" pitchFamily="34" charset="-122"/>
                <a:cs typeface="Arial" pitchFamily="34" charset="-120"/>
              </a:rPr>
              <a:t>                              “</a:t>
            </a:r>
            <a:r>
              <a:rPr lang="en-US" sz="1450" b="1" dirty="0" smtClean="0">
                <a:solidFill>
                  <a:srgbClr val="000000"/>
                </a:solidFill>
                <a:latin typeface="Arial" pitchFamily="34" charset="0"/>
                <a:ea typeface="Arial" pitchFamily="34" charset="-122"/>
                <a:cs typeface="Arial" pitchFamily="34" charset="-120"/>
              </a:rPr>
              <a:t>From Listening to Meaningful Support”</a:t>
            </a:r>
            <a:endParaRPr lang="en-US" sz="1450" dirty="0"/>
          </a:p>
        </p:txBody>
      </p:sp>
      <p:sp>
        <p:nvSpPr>
          <p:cNvPr id="11" name="Text 9"/>
          <p:cNvSpPr txBox="1"/>
          <p:nvPr/>
        </p:nvSpPr>
        <p:spPr>
          <a:xfrm>
            <a:off x="411480" y="1444752"/>
            <a:ext cx="7818120" cy="960120"/>
          </a:xfrm>
          <a:prstGeom prst="rect">
            <a:avLst/>
          </a:prstGeom>
          <a:noFill/>
          <a:ln/>
        </p:spPr>
        <p:txBody>
          <a:bodyPr wrap="square" lIns="0" tIns="0" rIns="0" bIns="0" rtlCol="0" anchor="ctr"/>
          <a:lstStyle/>
          <a:p>
            <a:r>
              <a:rPr lang="en-US" sz="1300" b="1" dirty="0" smtClean="0">
                <a:solidFill>
                  <a:srgbClr val="000000"/>
                </a:solidFill>
                <a:latin typeface="Arial" pitchFamily="34" charset="0"/>
                <a:ea typeface="Arial" pitchFamily="34" charset="-122"/>
                <a:cs typeface="Arial" pitchFamily="34" charset="-120"/>
              </a:rPr>
              <a:t>SVI </a:t>
            </a:r>
            <a:r>
              <a:rPr lang="en-US" sz="1300" dirty="0" smtClean="0">
                <a:solidFill>
                  <a:srgbClr val="000000"/>
                </a:solidFill>
                <a:latin typeface="Arial" pitchFamily="34" charset="0"/>
                <a:ea typeface="Arial" pitchFamily="34" charset="-122"/>
                <a:cs typeface="Arial" pitchFamily="34" charset="-120"/>
              </a:rPr>
              <a:t>is an AI-powered real-time stress and trauma assessment module integrated with NHAA (14566) and its digital access channels. It analyzes voluntary interactions such as text, voice and user responses to identify indicators of emotional distress and trauma</a:t>
            </a:r>
            <a:r>
              <a:rPr lang="en-US" sz="1300" dirty="0" smtClean="0">
                <a:solidFill>
                  <a:srgbClr val="000000"/>
                </a:solidFill>
                <a:latin typeface="Arial" pitchFamily="34" charset="0"/>
                <a:ea typeface="Arial" pitchFamily="34" charset="-122"/>
                <a:cs typeface="Arial" pitchFamily="34" charset="-120"/>
              </a:rPr>
              <a:t>.</a:t>
            </a:r>
          </a:p>
          <a:p>
            <a:r>
              <a:rPr lang="en-US" sz="1300" dirty="0" smtClean="0">
                <a:solidFill>
                  <a:srgbClr val="000000"/>
                </a:solidFill>
                <a:latin typeface="Arial" pitchFamily="34" charset="0"/>
                <a:ea typeface="Arial" pitchFamily="34" charset="-122"/>
                <a:cs typeface="Arial" pitchFamily="34" charset="-120"/>
              </a:rPr>
              <a:t>The proposed system </a:t>
            </a:r>
            <a:r>
              <a:rPr lang="en-US" sz="1300" dirty="0" smtClean="0">
                <a:solidFill>
                  <a:srgbClr val="000000"/>
                </a:solidFill>
                <a:latin typeface="Arial" pitchFamily="34" charset="0"/>
                <a:ea typeface="Arial" pitchFamily="34" charset="-122"/>
                <a:cs typeface="Arial" pitchFamily="34" charset="-120"/>
              </a:rPr>
              <a:t>will </a:t>
            </a:r>
            <a:r>
              <a:rPr lang="en-US" sz="1300" b="1" dirty="0" smtClean="0">
                <a:solidFill>
                  <a:srgbClr val="000000"/>
                </a:solidFill>
                <a:latin typeface="Arial" pitchFamily="34" charset="0"/>
                <a:ea typeface="Arial" pitchFamily="34" charset="-122"/>
                <a:cs typeface="Arial" pitchFamily="34" charset="-120"/>
              </a:rPr>
              <a:t>:</a:t>
            </a:r>
            <a:endParaRPr lang="en-US" sz="1300" b="1" dirty="0"/>
          </a:p>
        </p:txBody>
      </p:sp>
      <p:sp>
        <p:nvSpPr>
          <p:cNvPr id="12" name="Text 10"/>
          <p:cNvSpPr txBox="1"/>
          <p:nvPr/>
        </p:nvSpPr>
        <p:spPr>
          <a:xfrm>
            <a:off x="411480" y="2468880"/>
            <a:ext cx="7863840" cy="4160520"/>
          </a:xfrm>
          <a:prstGeom prst="rect">
            <a:avLst/>
          </a:prstGeom>
          <a:noFill/>
          <a:ln/>
        </p:spPr>
        <p:txBody>
          <a:bodyPr wrap="square" lIns="0" tIns="0" rIns="0" bIns="0" rtlCol="0" anchor="t"/>
          <a:lstStyle/>
          <a:p>
            <a:pPr>
              <a:spcAft>
                <a:spcPts val="800"/>
              </a:spcAft>
            </a:pP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 Perform real-time stress and trauma assessment using </a:t>
            </a:r>
            <a:r>
              <a:rPr lang="en-US" sz="1250" b="1" dirty="0" smtClean="0">
                <a:solidFill>
                  <a:srgbClr val="000000"/>
                </a:solidFill>
                <a:latin typeface="Arial" pitchFamily="34" charset="0"/>
                <a:ea typeface="Arial" pitchFamily="34" charset="-122"/>
                <a:cs typeface="Arial" pitchFamily="34" charset="-120"/>
              </a:rPr>
              <a:t>AI/ML</a:t>
            </a:r>
            <a:r>
              <a:rPr lang="en-US" sz="1250" dirty="0" smtClean="0">
                <a:solidFill>
                  <a:srgbClr val="000000"/>
                </a:solidFill>
                <a:latin typeface="Arial" pitchFamily="34" charset="0"/>
                <a:ea typeface="Arial" pitchFamily="34" charset="-122"/>
                <a:cs typeface="Arial" pitchFamily="34" charset="-120"/>
              </a:rPr>
              <a:t>.</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Analyze textual and conversational signals to identify indicators such as distress, fear, anxiety, hopelessness and emotional overload.</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Use multimodal AI to combine linguistic, conversational and, where consented, voice-based indicators.</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Generate a non-diagnostic stress/trauma risk score and categorize cases into appropriate severity levels.</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Provide early alerts and priority indicators to authorized support personnel</a:t>
            </a:r>
            <a:r>
              <a:rPr lang="en-US" sz="1250" dirty="0" smtClean="0">
                <a:solidFill>
                  <a:srgbClr val="000000"/>
                </a:solidFill>
                <a:latin typeface="Arial" pitchFamily="34" charset="0"/>
                <a:ea typeface="Arial" pitchFamily="34" charset="-122"/>
                <a:cs typeface="Arial" pitchFamily="34" charset="-120"/>
              </a:rPr>
              <a:t>.</a:t>
            </a:r>
          </a:p>
          <a:p>
            <a:pPr>
              <a:spcAft>
                <a:spcPts val="800"/>
              </a:spcAft>
            </a:pPr>
            <a:r>
              <a:rPr lang="en-US" sz="1250" dirty="0" smtClean="0"/>
              <a:t>➤  </a:t>
            </a:r>
            <a:r>
              <a:rPr lang="en-US" sz="1250" dirty="0" smtClean="0">
                <a:latin typeface="Arial" pitchFamily="34" charset="0"/>
                <a:cs typeface="Arial" pitchFamily="34" charset="0"/>
              </a:rPr>
              <a:t>Recommend appropriate support pathways, such as </a:t>
            </a:r>
            <a:r>
              <a:rPr lang="en-US" sz="1250" dirty="0" err="1" smtClean="0">
                <a:latin typeface="Arial" pitchFamily="34" charset="0"/>
                <a:cs typeface="Arial" pitchFamily="34" charset="0"/>
              </a:rPr>
              <a:t>counselling</a:t>
            </a:r>
            <a:r>
              <a:rPr lang="en-US" sz="1250" dirty="0" smtClean="0">
                <a:latin typeface="Arial" pitchFamily="34" charset="0"/>
                <a:cs typeface="Arial" pitchFamily="34" charset="0"/>
              </a:rPr>
              <a:t>, human intervention or emergency escalation based </a:t>
            </a:r>
            <a:r>
              <a:rPr lang="en-US" sz="1250" dirty="0" smtClean="0">
                <a:latin typeface="Arial" pitchFamily="34" charset="0"/>
                <a:cs typeface="Arial" pitchFamily="34" charset="0"/>
              </a:rPr>
              <a:t>on </a:t>
            </a:r>
            <a:r>
              <a:rPr lang="en-US" sz="1250" dirty="0" smtClean="0">
                <a:latin typeface="Arial" pitchFamily="34" charset="0"/>
                <a:cs typeface="Arial" pitchFamily="34" charset="0"/>
              </a:rPr>
              <a:t>predefined protocols</a:t>
            </a:r>
            <a:r>
              <a:rPr lang="en-US" sz="1250" dirty="0" smtClean="0">
                <a:latin typeface="Arial" pitchFamily="34" charset="0"/>
                <a:cs typeface="Arial" pitchFamily="34" charset="0"/>
              </a:rPr>
              <a:t>.</a:t>
            </a:r>
          </a:p>
          <a:p>
            <a:pPr>
              <a:spcAft>
                <a:spcPts val="800"/>
              </a:spcAft>
            </a:pPr>
            <a:r>
              <a:rPr lang="en-US" sz="1250" dirty="0" smtClean="0">
                <a:latin typeface="Arial" pitchFamily="34" charset="0"/>
                <a:cs typeface="Arial" pitchFamily="34" charset="0"/>
              </a:rPr>
              <a:t>➤ Maintain privacy, consent and secure handling of sensitive information throughout the assessment.</a:t>
            </a:r>
            <a:endParaRPr lang="en-US" sz="1250" dirty="0">
              <a:latin typeface="Arial" pitchFamily="34" charset="0"/>
              <a:cs typeface="Arial" pitchFamily="34" charset="0"/>
            </a:endParaRPr>
          </a:p>
        </p:txBody>
      </p:sp>
      <p:sp>
        <p:nvSpPr>
          <p:cNvPr id="13" name="Shape 11"/>
          <p:cNvSpPr/>
          <p:nvPr/>
        </p:nvSpPr>
        <p:spPr>
          <a:xfrm>
            <a:off x="8391441" y="914400"/>
            <a:ext cx="3404319" cy="2011680"/>
          </a:xfrm>
          <a:prstGeom prst="rect">
            <a:avLst/>
          </a:prstGeom>
          <a:solidFill>
            <a:srgbClr val="FFFFFF"/>
          </a:solidFill>
          <a:ln w="12700">
            <a:solidFill>
              <a:srgbClr val="000000"/>
            </a:solidFill>
            <a:prstDash val="solid"/>
          </a:ln>
        </p:spPr>
      </p:sp>
      <p:sp>
        <p:nvSpPr>
          <p:cNvPr id="14" name="Text 12"/>
          <p:cNvSpPr txBox="1"/>
          <p:nvPr/>
        </p:nvSpPr>
        <p:spPr>
          <a:xfrm>
            <a:off x="8686800" y="1033272"/>
            <a:ext cx="3017520" cy="204809"/>
          </a:xfrm>
          <a:prstGeom prst="rect">
            <a:avLst/>
          </a:prstGeom>
          <a:noFill/>
          <a:ln/>
        </p:spPr>
        <p:txBody>
          <a:bodyPr wrap="square" lIns="0" tIns="0" rIns="0" bIns="0" rtlCol="0" anchor="ctr"/>
          <a:lstStyle/>
          <a:p>
            <a:pPr marL="0" indent="0">
              <a:buNone/>
            </a:pPr>
            <a:r>
              <a:rPr lang="en-US" sz="1300" b="1" dirty="0">
                <a:solidFill>
                  <a:srgbClr val="1F5FA6"/>
                </a:solidFill>
                <a:latin typeface="Arial" pitchFamily="34" charset="0"/>
                <a:ea typeface="Arial" pitchFamily="34" charset="-122"/>
                <a:cs typeface="Arial" pitchFamily="34" charset="-120"/>
              </a:rPr>
              <a:t>Problem Resolution:</a:t>
            </a:r>
            <a:endParaRPr lang="en-US" sz="1300" dirty="0"/>
          </a:p>
        </p:txBody>
      </p:sp>
      <p:sp>
        <p:nvSpPr>
          <p:cNvPr id="15" name="Text 13"/>
          <p:cNvSpPr txBox="1"/>
          <p:nvPr/>
        </p:nvSpPr>
        <p:spPr>
          <a:xfrm>
            <a:off x="8561373" y="1238081"/>
            <a:ext cx="3142947" cy="1642279"/>
          </a:xfrm>
          <a:prstGeom prst="rect">
            <a:avLst/>
          </a:prstGeom>
          <a:noFill/>
          <a:ln/>
        </p:spPr>
        <p:txBody>
          <a:bodyPr wrap="square" lIns="0" tIns="0" rIns="0" bIns="0" rtlCol="0" anchor="ctr"/>
          <a:lstStyle/>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Detects </a:t>
            </a:r>
            <a:r>
              <a:rPr lang="en-US" sz="1150" b="1" dirty="0" smtClean="0">
                <a:latin typeface="Arial" pitchFamily="34" charset="0"/>
                <a:cs typeface="Arial" pitchFamily="34" charset="0"/>
              </a:rPr>
              <a:t>emotional distress during the interaction itself</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Helps identify high-risk cases earlier</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Supports prioritization of cases requiring human attention</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Converts unstructured conversations into actionable assessment insights</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Enables consistent assessment across helpline and digital channels.</a:t>
            </a:r>
            <a:endParaRPr lang="en-US" sz="1150" b="1" dirty="0">
              <a:latin typeface="Arial" pitchFamily="34" charset="0"/>
              <a:cs typeface="Arial" pitchFamily="34" charset="0"/>
            </a:endParaRPr>
          </a:p>
        </p:txBody>
      </p:sp>
      <p:sp>
        <p:nvSpPr>
          <p:cNvPr id="16" name="Shape 14"/>
          <p:cNvSpPr/>
          <p:nvPr/>
        </p:nvSpPr>
        <p:spPr>
          <a:xfrm>
            <a:off x="8391441" y="3063240"/>
            <a:ext cx="3404319" cy="2439344"/>
          </a:xfrm>
          <a:prstGeom prst="rect">
            <a:avLst/>
          </a:prstGeom>
          <a:solidFill>
            <a:srgbClr val="FFFFFF"/>
          </a:solidFill>
          <a:ln w="12700">
            <a:solidFill>
              <a:srgbClr val="000000"/>
            </a:solidFill>
            <a:prstDash val="solid"/>
          </a:ln>
        </p:spPr>
      </p:sp>
      <p:sp>
        <p:nvSpPr>
          <p:cNvPr id="17" name="Text 15"/>
          <p:cNvSpPr txBox="1"/>
          <p:nvPr/>
        </p:nvSpPr>
        <p:spPr>
          <a:xfrm>
            <a:off x="8686800" y="3127248"/>
            <a:ext cx="3017520" cy="274320"/>
          </a:xfrm>
          <a:prstGeom prst="rect">
            <a:avLst/>
          </a:prstGeom>
          <a:noFill/>
          <a:ln/>
        </p:spPr>
        <p:txBody>
          <a:bodyPr wrap="square" lIns="0" tIns="0" rIns="0" bIns="0" rtlCol="0" anchor="ctr"/>
          <a:lstStyle/>
          <a:p>
            <a:pPr marL="0" indent="0">
              <a:buNone/>
            </a:pPr>
            <a:r>
              <a:rPr lang="en-US" sz="1300" b="1" dirty="0">
                <a:solidFill>
                  <a:srgbClr val="1F5FA6"/>
                </a:solidFill>
                <a:latin typeface="Arial" pitchFamily="34" charset="0"/>
                <a:ea typeface="Arial" pitchFamily="34" charset="-122"/>
                <a:cs typeface="Arial" pitchFamily="34" charset="-120"/>
              </a:rPr>
              <a:t>Unique Value Propositions:</a:t>
            </a:r>
            <a:endParaRPr lang="en-US" sz="1300" dirty="0"/>
          </a:p>
        </p:txBody>
      </p:sp>
      <p:sp>
        <p:nvSpPr>
          <p:cNvPr id="18" name="Text 16"/>
          <p:cNvSpPr txBox="1"/>
          <p:nvPr/>
        </p:nvSpPr>
        <p:spPr>
          <a:xfrm>
            <a:off x="8561373" y="3401568"/>
            <a:ext cx="3142947" cy="1931083"/>
          </a:xfrm>
          <a:prstGeom prst="rect">
            <a:avLst/>
          </a:prstGeom>
          <a:noFill/>
          <a:ln/>
        </p:spPr>
        <p:txBody>
          <a:bodyPr wrap="square" lIns="0" tIns="0" rIns="0" bIns="0" rtlCol="0" anchor="ctr"/>
          <a:lstStyle/>
          <a:p>
            <a:pPr marL="342900" indent="-342900">
              <a:spcAft>
                <a:spcPts val="800"/>
              </a:spcAft>
              <a:buSzPct val="100000"/>
            </a:pPr>
            <a:r>
              <a:rPr lang="en-US" sz="1150" b="1" dirty="0" smtClean="0">
                <a:latin typeface="Arial" pitchFamily="34" charset="0"/>
                <a:cs typeface="Arial" pitchFamily="34" charset="0"/>
              </a:rPr>
              <a:t>➤ Real-time AI-assisted </a:t>
            </a:r>
            <a:r>
              <a:rPr lang="en-US" sz="1150" b="1" dirty="0" smtClean="0">
                <a:latin typeface="Arial" pitchFamily="34" charset="0"/>
                <a:cs typeface="Arial" pitchFamily="34" charset="0"/>
              </a:rPr>
              <a:t>assessment.</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Multimodal stress &amp; trauma </a:t>
            </a:r>
            <a:r>
              <a:rPr lang="en-US" sz="1150" b="1" dirty="0" smtClean="0">
                <a:latin typeface="Arial" pitchFamily="34" charset="0"/>
                <a:cs typeface="Arial" pitchFamily="34" charset="0"/>
              </a:rPr>
              <a:t>analysis.</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Early identification of high-risk </a:t>
            </a:r>
            <a:r>
              <a:rPr lang="en-US" sz="1150" b="1" dirty="0" smtClean="0">
                <a:latin typeface="Arial" pitchFamily="34" charset="0"/>
                <a:cs typeface="Arial" pitchFamily="34" charset="0"/>
              </a:rPr>
              <a:t>cases.</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Human-in-the-loop </a:t>
            </a:r>
            <a:r>
              <a:rPr lang="en-US" sz="1150" b="1" dirty="0" smtClean="0">
                <a:latin typeface="Arial" pitchFamily="34" charset="0"/>
                <a:cs typeface="Arial" pitchFamily="34" charset="0"/>
              </a:rPr>
              <a:t>intervention.</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Multilingual and accessible </a:t>
            </a:r>
            <a:r>
              <a:rPr lang="en-US" sz="1150" b="1" dirty="0" smtClean="0">
                <a:latin typeface="Arial" pitchFamily="34" charset="0"/>
                <a:cs typeface="Arial" pitchFamily="34" charset="0"/>
              </a:rPr>
              <a:t>design.</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Privacy-first and consent-driven architecture</a:t>
            </a:r>
            <a:endParaRPr lang="en-US" sz="1150" b="1" dirty="0">
              <a:latin typeface="Arial" pitchFamily="34" charset="0"/>
              <a:cs typeface="Arial" pitchFamily="34" charset="0"/>
            </a:endParaRPr>
          </a:p>
        </p:txBody>
      </p:sp>
      <p:pic>
        <p:nvPicPr>
          <p:cNvPr id="19" name="Picture 18" descr="side logo.jpg"/>
          <p:cNvPicPr>
            <a:picLocks noChangeAspect="1"/>
          </p:cNvPicPr>
          <p:nvPr/>
        </p:nvPicPr>
        <p:blipFill>
          <a:blip r:embed="rId3"/>
          <a:stretch>
            <a:fillRect/>
          </a:stretch>
        </p:blipFill>
        <p:spPr>
          <a:xfrm>
            <a:off x="9984702" y="0"/>
            <a:ext cx="1811058" cy="824240"/>
          </a:xfrm>
          <a:prstGeom prst="rect">
            <a:avLst/>
          </a:prstGeom>
        </p:spPr>
      </p:pic>
      <p:pic>
        <p:nvPicPr>
          <p:cNvPr id="20" name="Picture 19" descr="sage image.jpg"/>
          <p:cNvPicPr>
            <a:picLocks noChangeAspect="1"/>
          </p:cNvPicPr>
          <p:nvPr/>
        </p:nvPicPr>
        <p:blipFill>
          <a:blip r:embed="rId4"/>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9" name="Text 7"/>
          <p:cNvSpPr txBox="1"/>
          <p:nvPr/>
        </p:nvSpPr>
        <p:spPr>
          <a:xfrm>
            <a:off x="0" y="436970"/>
            <a:ext cx="12188952" cy="477430"/>
          </a:xfrm>
          <a:prstGeom prst="rect">
            <a:avLst/>
          </a:prstGeom>
          <a:noFill/>
          <a:ln/>
        </p:spPr>
        <p:txBody>
          <a:bodyPr wrap="square" lIns="0" tIns="0" rIns="0" bIns="0" rtlCol="0" anchor="ctr"/>
          <a:lstStyle/>
          <a:p>
            <a:pPr algn="ctr"/>
            <a:r>
              <a:rPr lang="en-US" sz="3000" b="1" dirty="0" smtClean="0">
                <a:solidFill>
                  <a:srgbClr val="000000"/>
                </a:solidFill>
                <a:latin typeface="Arial" pitchFamily="34" charset="0"/>
                <a:ea typeface="Arial" pitchFamily="34" charset="-122"/>
                <a:cs typeface="Arial" pitchFamily="34" charset="0"/>
              </a:rPr>
              <a:t>Work Flow</a:t>
            </a:r>
            <a:endParaRPr lang="en-US" sz="3000" dirty="0" smtClean="0">
              <a:latin typeface="Arial" pitchFamily="34" charset="0"/>
              <a:cs typeface="Arial" pitchFamily="34" charset="0"/>
            </a:endParaRPr>
          </a:p>
          <a:p>
            <a:pPr marL="0" indent="0" algn="ctr">
              <a:buNone/>
            </a:pPr>
            <a:endParaRPr lang="en-US" sz="3000" dirty="0"/>
          </a:p>
        </p:txBody>
      </p:sp>
      <p:sp>
        <p:nvSpPr>
          <p:cNvPr id="11" name="Text 9"/>
          <p:cNvSpPr txBox="1"/>
          <p:nvPr/>
        </p:nvSpPr>
        <p:spPr>
          <a:xfrm>
            <a:off x="411480" y="1143000"/>
            <a:ext cx="4937760" cy="320040"/>
          </a:xfrm>
          <a:prstGeom prst="rect">
            <a:avLst/>
          </a:prstGeom>
          <a:noFill/>
          <a:ln/>
        </p:spPr>
        <p:txBody>
          <a:bodyPr wrap="square" lIns="0" tIns="0" rIns="0" bIns="0" rtlCol="0" anchor="ctr"/>
          <a:lstStyle/>
          <a:p>
            <a:pPr marL="0" indent="0">
              <a:buNone/>
            </a:pPr>
            <a:endParaRPr lang="en-US" sz="1500" dirty="0"/>
          </a:p>
        </p:txBody>
      </p:sp>
      <p:sp>
        <p:nvSpPr>
          <p:cNvPr id="13" name="Text 11"/>
          <p:cNvSpPr txBox="1"/>
          <p:nvPr/>
        </p:nvSpPr>
        <p:spPr>
          <a:xfrm>
            <a:off x="502920" y="1508760"/>
            <a:ext cx="4800600" cy="1051560"/>
          </a:xfrm>
          <a:prstGeom prst="rect">
            <a:avLst/>
          </a:prstGeom>
          <a:noFill/>
          <a:ln/>
        </p:spPr>
        <p:txBody>
          <a:bodyPr wrap="square" lIns="0" tIns="0" rIns="0" bIns="0" rtlCol="0" anchor="ctr"/>
          <a:lstStyle/>
          <a:p>
            <a:pPr marL="0" indent="0" algn="ctr">
              <a:buNone/>
            </a:pPr>
            <a:r>
              <a:rPr lang="en-US" sz="1300" b="1" dirty="0" smtClean="0">
                <a:solidFill>
                  <a:srgbClr val="FFFFFF"/>
                </a:solidFill>
                <a:latin typeface="Arial" pitchFamily="34" charset="0"/>
                <a:ea typeface="Arial" pitchFamily="34" charset="-122"/>
                <a:cs typeface="Arial" pitchFamily="34" charset="-120"/>
              </a:rPr>
              <a:t>Tailwind </a:t>
            </a:r>
            <a:r>
              <a:rPr lang="en-US" sz="1300" b="1" dirty="0">
                <a:solidFill>
                  <a:srgbClr val="FFFFFF"/>
                </a:solidFill>
                <a:latin typeface="Arial" pitchFamily="34" charset="0"/>
                <a:ea typeface="Arial" pitchFamily="34" charset="-122"/>
                <a:cs typeface="Arial" pitchFamily="34" charset="-120"/>
              </a:rPr>
              <a:t>CSS   •   MongoDB   •   Express   •   React   •   Node.js</a:t>
            </a:r>
            <a:endParaRPr lang="en-US" sz="1300" dirty="0"/>
          </a:p>
        </p:txBody>
      </p:sp>
      <p:sp>
        <p:nvSpPr>
          <p:cNvPr id="14" name="Text 12"/>
          <p:cNvSpPr txBox="1"/>
          <p:nvPr/>
        </p:nvSpPr>
        <p:spPr>
          <a:xfrm>
            <a:off x="411480" y="2743200"/>
            <a:ext cx="4937760" cy="320040"/>
          </a:xfrm>
          <a:prstGeom prst="rect">
            <a:avLst/>
          </a:prstGeom>
          <a:noFill/>
          <a:ln/>
        </p:spPr>
        <p:txBody>
          <a:bodyPr wrap="square" lIns="0" tIns="0" rIns="0" bIns="0" rtlCol="0" anchor="ctr"/>
          <a:lstStyle/>
          <a:p>
            <a:pPr marL="0" indent="0">
              <a:buNone/>
            </a:pPr>
            <a:endParaRPr lang="en-US" sz="1500" dirty="0"/>
          </a:p>
        </p:txBody>
      </p:sp>
      <p:sp>
        <p:nvSpPr>
          <p:cNvPr id="16" name="Text 14"/>
          <p:cNvSpPr txBox="1"/>
          <p:nvPr/>
        </p:nvSpPr>
        <p:spPr>
          <a:xfrm>
            <a:off x="502920" y="3108960"/>
            <a:ext cx="480060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PyTorch   •   Keras   •   Python   •   OpenCV</a:t>
            </a:r>
            <a:endParaRPr lang="en-US" sz="1300" dirty="0"/>
          </a:p>
        </p:txBody>
      </p:sp>
      <p:sp>
        <p:nvSpPr>
          <p:cNvPr id="17" name="Text 15"/>
          <p:cNvSpPr txBox="1"/>
          <p:nvPr/>
        </p:nvSpPr>
        <p:spPr>
          <a:xfrm>
            <a:off x="411480" y="4343400"/>
            <a:ext cx="4937760" cy="320040"/>
          </a:xfrm>
          <a:prstGeom prst="rect">
            <a:avLst/>
          </a:prstGeom>
          <a:noFill/>
          <a:ln/>
        </p:spPr>
        <p:txBody>
          <a:bodyPr wrap="square" lIns="0" tIns="0" rIns="0" bIns="0" rtlCol="0" anchor="ctr"/>
          <a:lstStyle/>
          <a:p>
            <a:pPr marL="0" indent="0">
              <a:buNone/>
            </a:pPr>
            <a:endParaRPr lang="en-US" sz="1500" dirty="0"/>
          </a:p>
        </p:txBody>
      </p:sp>
      <p:sp>
        <p:nvSpPr>
          <p:cNvPr id="19" name="Text 17"/>
          <p:cNvSpPr txBox="1"/>
          <p:nvPr/>
        </p:nvSpPr>
        <p:spPr>
          <a:xfrm>
            <a:off x="502920" y="4709160"/>
            <a:ext cx="480060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Google Maps   •   GraphQL   •   AWS   •   Django</a:t>
            </a:r>
            <a:endParaRPr lang="en-US" sz="1300" dirty="0"/>
          </a:p>
        </p:txBody>
      </p:sp>
      <p:sp>
        <p:nvSpPr>
          <p:cNvPr id="20" name="Text 18"/>
          <p:cNvSpPr txBox="1"/>
          <p:nvPr/>
        </p:nvSpPr>
        <p:spPr>
          <a:xfrm>
            <a:off x="5852160" y="960120"/>
            <a:ext cx="6035040" cy="383158"/>
          </a:xfrm>
          <a:prstGeom prst="rect">
            <a:avLst/>
          </a:prstGeom>
          <a:noFill/>
          <a:ln/>
        </p:spPr>
        <p:txBody>
          <a:bodyPr wrap="square" lIns="0" tIns="0" rIns="0" bIns="0" rtlCol="0" anchor="ctr"/>
          <a:lstStyle/>
          <a:p>
            <a:pPr marL="0" indent="0" algn="ctr">
              <a:buNone/>
            </a:pPr>
            <a:endParaRPr lang="en-US" sz="3000" dirty="0"/>
          </a:p>
        </p:txBody>
      </p:sp>
      <p:pic>
        <p:nvPicPr>
          <p:cNvPr id="68" name="Picture 67" descr="side logo.jpg"/>
          <p:cNvPicPr>
            <a:picLocks noChangeAspect="1"/>
          </p:cNvPicPr>
          <p:nvPr/>
        </p:nvPicPr>
        <p:blipFill>
          <a:blip r:embed="rId3"/>
          <a:stretch>
            <a:fillRect/>
          </a:stretch>
        </p:blipFill>
        <p:spPr>
          <a:xfrm>
            <a:off x="9984702" y="0"/>
            <a:ext cx="1811058" cy="824240"/>
          </a:xfrm>
          <a:prstGeom prst="rect">
            <a:avLst/>
          </a:prstGeom>
        </p:spPr>
      </p:pic>
      <p:pic>
        <p:nvPicPr>
          <p:cNvPr id="69" name="Picture 68" descr="work flow.jpg"/>
          <p:cNvPicPr>
            <a:picLocks noChangeAspect="1"/>
          </p:cNvPicPr>
          <p:nvPr/>
        </p:nvPicPr>
        <p:blipFill>
          <a:blip r:embed="rId4"/>
          <a:stretch>
            <a:fillRect/>
          </a:stretch>
        </p:blipFill>
        <p:spPr>
          <a:xfrm>
            <a:off x="411480" y="824240"/>
            <a:ext cx="11265327" cy="5673664"/>
          </a:xfrm>
          <a:prstGeom prst="rect">
            <a:avLst/>
          </a:prstGeom>
        </p:spPr>
      </p:pic>
      <p:pic>
        <p:nvPicPr>
          <p:cNvPr id="70" name="Picture 69" descr="sage image.jpg"/>
          <p:cNvPicPr>
            <a:picLocks noChangeAspect="1"/>
          </p:cNvPicPr>
          <p:nvPr/>
        </p:nvPicPr>
        <p:blipFill>
          <a:blip r:embed="rId5"/>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9" name="Text 7"/>
          <p:cNvSpPr txBox="1"/>
          <p:nvPr/>
        </p:nvSpPr>
        <p:spPr>
          <a:xfrm>
            <a:off x="0" y="274320"/>
            <a:ext cx="12188952" cy="640080"/>
          </a:xfrm>
          <a:prstGeom prst="rect">
            <a:avLst/>
          </a:prstGeom>
          <a:noFill/>
          <a:ln/>
        </p:spPr>
        <p:txBody>
          <a:bodyPr wrap="square" lIns="0" tIns="0" rIns="0" bIns="0" rtlCol="0" anchor="ctr"/>
          <a:lstStyle/>
          <a:p>
            <a:pPr marL="0" indent="0" algn="ctr">
              <a:buNone/>
            </a:pPr>
            <a:r>
              <a:rPr lang="en-US" sz="3000" b="1" dirty="0">
                <a:solidFill>
                  <a:srgbClr val="000000"/>
                </a:solidFill>
                <a:latin typeface="Times New Roman" pitchFamily="34" charset="0"/>
                <a:ea typeface="Times New Roman" pitchFamily="34" charset="-122"/>
                <a:cs typeface="Times New Roman" pitchFamily="34" charset="-120"/>
              </a:rPr>
              <a:t>FEASIBILITY AND VIABILITY</a:t>
            </a:r>
            <a:endParaRPr lang="en-US" sz="3000" dirty="0"/>
          </a:p>
        </p:txBody>
      </p:sp>
      <p:sp>
        <p:nvSpPr>
          <p:cNvPr id="10" name="Text 8"/>
          <p:cNvSpPr txBox="1"/>
          <p:nvPr/>
        </p:nvSpPr>
        <p:spPr>
          <a:xfrm>
            <a:off x="365760" y="1143000"/>
            <a:ext cx="5577840" cy="365760"/>
          </a:xfrm>
          <a:prstGeom prst="rect">
            <a:avLst/>
          </a:prstGeom>
          <a:noFill/>
          <a:ln/>
        </p:spPr>
        <p:txBody>
          <a:bodyPr wrap="square" lIns="0" tIns="0" rIns="0" bIns="0" rtlCol="0" anchor="ctr"/>
          <a:lstStyle/>
          <a:p>
            <a:pPr marL="0" indent="0">
              <a:buNone/>
            </a:pPr>
            <a:r>
              <a:rPr lang="en-US" sz="1600" b="1" dirty="0">
                <a:solidFill>
                  <a:srgbClr val="1F5FA6"/>
                </a:solidFill>
                <a:latin typeface="Arial" pitchFamily="34" charset="0"/>
                <a:ea typeface="Arial" pitchFamily="34" charset="-122"/>
                <a:cs typeface="Arial" pitchFamily="34" charset="-120"/>
              </a:rPr>
              <a:t>Feasibility of the Idea:</a:t>
            </a:r>
            <a:endParaRPr lang="en-US" sz="1600" dirty="0"/>
          </a:p>
        </p:txBody>
      </p:sp>
      <p:sp>
        <p:nvSpPr>
          <p:cNvPr id="11" name="Text 9"/>
          <p:cNvSpPr txBox="1"/>
          <p:nvPr/>
        </p:nvSpPr>
        <p:spPr>
          <a:xfrm>
            <a:off x="365760" y="1554480"/>
            <a:ext cx="5436229" cy="4206240"/>
          </a:xfrm>
          <a:prstGeom prst="rect">
            <a:avLst/>
          </a:prstGeom>
          <a:noFill/>
          <a:ln/>
        </p:spPr>
        <p:txBody>
          <a:bodyPr wrap="square" lIns="0" tIns="0" rIns="0" bIns="0" rtlCol="0" anchor="t"/>
          <a:lstStyle/>
          <a:p>
            <a:pPr marL="0" indent="0">
              <a:spcAft>
                <a:spcPts val="2000"/>
              </a:spcAft>
              <a:buNone/>
            </a:pPr>
            <a:r>
              <a:rPr lang="en-US" sz="1300" b="1" dirty="0">
                <a:solidFill>
                  <a:srgbClr val="000000"/>
                </a:solidFill>
                <a:latin typeface="Arial" pitchFamily="34" charset="0"/>
                <a:ea typeface="Arial" pitchFamily="34" charset="-122"/>
                <a:cs typeface="Arial" pitchFamily="34" charset="-120"/>
              </a:rPr>
              <a:t>➢  Technical  Feasibility: </a:t>
            </a:r>
            <a:r>
              <a:rPr lang="en-US" sz="1300" dirty="0" smtClean="0">
                <a:solidFill>
                  <a:srgbClr val="000000"/>
                </a:solidFill>
                <a:latin typeface="Arial" pitchFamily="34" charset="0"/>
                <a:ea typeface="Arial" pitchFamily="34" charset="-122"/>
                <a:cs typeface="Arial" pitchFamily="34" charset="-120"/>
              </a:rPr>
              <a:t>Uses </a:t>
            </a:r>
            <a:r>
              <a:rPr lang="en-US" sz="1300" dirty="0" smtClean="0">
                <a:solidFill>
                  <a:srgbClr val="000000"/>
                </a:solidFill>
                <a:latin typeface="Arial" pitchFamily="34" charset="0"/>
                <a:ea typeface="Arial" pitchFamily="34" charset="-122"/>
                <a:cs typeface="Arial" pitchFamily="34" charset="-120"/>
              </a:rPr>
              <a:t>established AI technologies including </a:t>
            </a:r>
            <a:r>
              <a:rPr lang="en-US" sz="1300" b="1" dirty="0" smtClean="0">
                <a:solidFill>
                  <a:srgbClr val="000000"/>
                </a:solidFill>
                <a:latin typeface="Arial" pitchFamily="34" charset="0"/>
                <a:ea typeface="Arial" pitchFamily="34" charset="-122"/>
                <a:cs typeface="Arial" pitchFamily="34" charset="-120"/>
              </a:rPr>
              <a:t>NLP</a:t>
            </a:r>
            <a:r>
              <a:rPr lang="en-US" sz="1300" dirty="0" smtClean="0">
                <a:solidFill>
                  <a:srgbClr val="000000"/>
                </a:solidFill>
                <a:latin typeface="Arial" pitchFamily="34" charset="0"/>
                <a:ea typeface="Arial" pitchFamily="34" charset="-122"/>
                <a:cs typeface="Arial" pitchFamily="34" charset="-120"/>
              </a:rPr>
              <a:t>, </a:t>
            </a:r>
            <a:r>
              <a:rPr lang="en-US" sz="1300" b="1" dirty="0" smtClean="0">
                <a:solidFill>
                  <a:srgbClr val="000000"/>
                </a:solidFill>
                <a:latin typeface="Arial" pitchFamily="34" charset="0"/>
                <a:ea typeface="Arial" pitchFamily="34" charset="-122"/>
                <a:cs typeface="Arial" pitchFamily="34" charset="-120"/>
              </a:rPr>
              <a:t>speech processing</a:t>
            </a:r>
            <a:r>
              <a:rPr lang="en-US" sz="1300" dirty="0" smtClean="0">
                <a:solidFill>
                  <a:srgbClr val="000000"/>
                </a:solidFill>
                <a:latin typeface="Arial" pitchFamily="34" charset="0"/>
                <a:ea typeface="Arial" pitchFamily="34" charset="-122"/>
                <a:cs typeface="Arial" pitchFamily="34" charset="-120"/>
              </a:rPr>
              <a:t>, </a:t>
            </a:r>
            <a:r>
              <a:rPr lang="en-US" sz="1300" b="1" dirty="0" smtClean="0">
                <a:solidFill>
                  <a:srgbClr val="000000"/>
                </a:solidFill>
                <a:latin typeface="Arial" pitchFamily="34" charset="0"/>
                <a:ea typeface="Arial" pitchFamily="34" charset="-122"/>
                <a:cs typeface="Arial" pitchFamily="34" charset="-120"/>
              </a:rPr>
              <a:t>transformer models </a:t>
            </a:r>
            <a:r>
              <a:rPr lang="en-US" sz="1300" dirty="0" smtClean="0">
                <a:solidFill>
                  <a:srgbClr val="000000"/>
                </a:solidFill>
                <a:latin typeface="Arial" pitchFamily="34" charset="0"/>
                <a:ea typeface="Arial" pitchFamily="34" charset="-122"/>
                <a:cs typeface="Arial" pitchFamily="34" charset="-120"/>
              </a:rPr>
              <a:t>and </a:t>
            </a:r>
            <a:r>
              <a:rPr lang="en-US" sz="1300" b="1" dirty="0" smtClean="0">
                <a:solidFill>
                  <a:srgbClr val="000000"/>
                </a:solidFill>
                <a:latin typeface="Arial" pitchFamily="34" charset="0"/>
                <a:ea typeface="Arial" pitchFamily="34" charset="-122"/>
                <a:cs typeface="Arial" pitchFamily="34" charset="-120"/>
              </a:rPr>
              <a:t>classification algorithms</a:t>
            </a:r>
            <a:r>
              <a:rPr lang="en-US" sz="1300" dirty="0" smtClean="0">
                <a:solidFill>
                  <a:srgbClr val="000000"/>
                </a:solidFill>
                <a:latin typeface="Arial" pitchFamily="34" charset="0"/>
                <a:ea typeface="Arial" pitchFamily="34" charset="-122"/>
                <a:cs typeface="Arial" pitchFamily="34" charset="-120"/>
              </a:rPr>
              <a:t>, making real-time assessment technically achievable. </a:t>
            </a:r>
            <a:endParaRPr lang="en-US" sz="1300" dirty="0" smtClean="0">
              <a:solidFill>
                <a:srgbClr val="000000"/>
              </a:solidFill>
              <a:latin typeface="Arial" pitchFamily="34" charset="0"/>
              <a:ea typeface="Arial" pitchFamily="34" charset="-122"/>
              <a:cs typeface="Arial" pitchFamily="34" charset="-120"/>
            </a:endParaRPr>
          </a:p>
          <a:p>
            <a:pPr>
              <a:spcAft>
                <a:spcPts val="2000"/>
              </a:spcAft>
            </a:pPr>
            <a:r>
              <a:rPr lang="en-US" sz="1300" b="1" dirty="0" smtClean="0">
                <a:solidFill>
                  <a:srgbClr val="000000"/>
                </a:solidFill>
                <a:latin typeface="Arial" pitchFamily="34" charset="0"/>
                <a:ea typeface="Arial" pitchFamily="34" charset="-122"/>
                <a:cs typeface="Arial" pitchFamily="34" charset="-120"/>
              </a:rPr>
              <a:t>➢  </a:t>
            </a:r>
            <a:r>
              <a:rPr lang="en-US" sz="1300" b="1" dirty="0">
                <a:solidFill>
                  <a:srgbClr val="000000"/>
                </a:solidFill>
                <a:latin typeface="Arial" pitchFamily="34" charset="0"/>
                <a:ea typeface="Arial" pitchFamily="34" charset="-122"/>
                <a:cs typeface="Arial" pitchFamily="34" charset="-120"/>
              </a:rPr>
              <a:t>Operational Feasibility</a:t>
            </a:r>
            <a:r>
              <a:rPr lang="en-US" sz="1300" b="1" dirty="0" smtClean="0">
                <a:solidFill>
                  <a:srgbClr val="000000"/>
                </a:solidFill>
                <a:latin typeface="Arial" pitchFamily="34" charset="0"/>
                <a:ea typeface="Arial" pitchFamily="34" charset="-122"/>
                <a:cs typeface="Arial" pitchFamily="34" charset="-120"/>
              </a:rPr>
              <a:t>: </a:t>
            </a:r>
            <a:r>
              <a:rPr lang="en-US" sz="1300" dirty="0" smtClean="0">
                <a:solidFill>
                  <a:srgbClr val="000000"/>
                </a:solidFill>
                <a:latin typeface="Arial" pitchFamily="34" charset="0"/>
                <a:ea typeface="Arial" pitchFamily="34" charset="-122"/>
                <a:cs typeface="Arial" pitchFamily="34" charset="-120"/>
              </a:rPr>
              <a:t>The module can operate as an assessment layer over existing </a:t>
            </a:r>
            <a:r>
              <a:rPr lang="en-US" sz="1300" b="1" dirty="0" smtClean="0">
                <a:solidFill>
                  <a:srgbClr val="000000"/>
                </a:solidFill>
                <a:latin typeface="Arial" pitchFamily="34" charset="0"/>
                <a:ea typeface="Arial" pitchFamily="34" charset="-122"/>
                <a:cs typeface="Arial" pitchFamily="34" charset="-120"/>
              </a:rPr>
              <a:t>NHAA channels</a:t>
            </a:r>
            <a:r>
              <a:rPr lang="en-US" sz="1300" dirty="0" smtClean="0">
                <a:solidFill>
                  <a:srgbClr val="000000"/>
                </a:solidFill>
                <a:latin typeface="Arial" pitchFamily="34" charset="0"/>
                <a:ea typeface="Arial" pitchFamily="34" charset="-122"/>
                <a:cs typeface="Arial" pitchFamily="34" charset="-120"/>
              </a:rPr>
              <a:t> without requiring </a:t>
            </a:r>
            <a:r>
              <a:rPr lang="en-US" sz="1300" b="1" dirty="0" smtClean="0">
                <a:solidFill>
                  <a:srgbClr val="000000"/>
                </a:solidFill>
                <a:latin typeface="Arial" pitchFamily="34" charset="0"/>
                <a:ea typeface="Arial" pitchFamily="34" charset="-122"/>
                <a:cs typeface="Arial" pitchFamily="34" charset="-120"/>
              </a:rPr>
              <a:t>complete replacement </a:t>
            </a:r>
            <a:r>
              <a:rPr lang="en-US" sz="1300" dirty="0" smtClean="0">
                <a:solidFill>
                  <a:srgbClr val="000000"/>
                </a:solidFill>
                <a:latin typeface="Arial" pitchFamily="34" charset="0"/>
                <a:ea typeface="Arial" pitchFamily="34" charset="-122"/>
                <a:cs typeface="Arial" pitchFamily="34" charset="-120"/>
              </a:rPr>
              <a:t>of the current infrastructure</a:t>
            </a:r>
            <a:r>
              <a:rPr lang="en-US" sz="1300" dirty="0" smtClean="0">
                <a:solidFill>
                  <a:srgbClr val="000000"/>
                </a:solidFill>
                <a:latin typeface="Arial" pitchFamily="34" charset="0"/>
                <a:ea typeface="Arial" pitchFamily="34" charset="-122"/>
                <a:cs typeface="Arial" pitchFamily="34" charset="-120"/>
              </a:rPr>
              <a:t>.</a:t>
            </a:r>
          </a:p>
          <a:p>
            <a:pPr>
              <a:spcAft>
                <a:spcPts val="2000"/>
              </a:spcAft>
            </a:pPr>
            <a:r>
              <a:rPr lang="en-US" sz="1300" b="1" dirty="0" smtClean="0">
                <a:solidFill>
                  <a:srgbClr val="000000"/>
                </a:solidFill>
                <a:latin typeface="Arial" pitchFamily="34" charset="0"/>
                <a:ea typeface="Arial" pitchFamily="34" charset="-122"/>
                <a:cs typeface="Arial" pitchFamily="34" charset="-120"/>
              </a:rPr>
              <a:t>➢</a:t>
            </a:r>
            <a:r>
              <a:rPr lang="en-US" sz="1300" dirty="0" smtClean="0"/>
              <a:t> </a:t>
            </a:r>
            <a:r>
              <a:rPr lang="en-US" sz="1300" b="1" dirty="0" smtClean="0">
                <a:latin typeface="Arial" pitchFamily="34" charset="0"/>
                <a:cs typeface="Arial" pitchFamily="34" charset="0"/>
              </a:rPr>
              <a:t>Scalability: </a:t>
            </a:r>
            <a:r>
              <a:rPr lang="en-US" sz="1300" dirty="0" smtClean="0">
                <a:latin typeface="Arial" pitchFamily="34" charset="0"/>
                <a:cs typeface="Arial" pitchFamily="34" charset="0"/>
              </a:rPr>
              <a:t>A </a:t>
            </a:r>
            <a:r>
              <a:rPr lang="en-US" sz="1300" dirty="0" smtClean="0">
                <a:latin typeface="Arial" pitchFamily="34" charset="0"/>
                <a:cs typeface="Arial" pitchFamily="34" charset="0"/>
              </a:rPr>
              <a:t>modular API-based architecture allows deployment across</a:t>
            </a:r>
            <a:r>
              <a:rPr lang="en-US" sz="1300" dirty="0" smtClean="0">
                <a:latin typeface="Arial" pitchFamily="34" charset="0"/>
                <a:cs typeface="Arial" pitchFamily="34" charset="0"/>
              </a:rPr>
              <a:t>:</a:t>
            </a:r>
          </a:p>
          <a:p>
            <a:pPr>
              <a:spcAft>
                <a:spcPts val="2000"/>
              </a:spcAft>
            </a:pPr>
            <a:r>
              <a:rPr lang="en-US" sz="1300" b="1" dirty="0" smtClean="0">
                <a:latin typeface="Arial" pitchFamily="34" charset="0"/>
                <a:cs typeface="Arial" pitchFamily="34" charset="0"/>
              </a:rPr>
              <a:t>14566 </a:t>
            </a:r>
            <a:r>
              <a:rPr lang="en-US" sz="1300" b="1" dirty="0" smtClean="0">
                <a:latin typeface="Arial" pitchFamily="34" charset="0"/>
                <a:cs typeface="Arial" pitchFamily="34" charset="0"/>
              </a:rPr>
              <a:t>Helpline → Web Portal → </a:t>
            </a:r>
            <a:r>
              <a:rPr lang="en-US" sz="1300" b="1" dirty="0" err="1" smtClean="0">
                <a:latin typeface="Arial" pitchFamily="34" charset="0"/>
                <a:cs typeface="Arial" pitchFamily="34" charset="0"/>
              </a:rPr>
              <a:t>Chatbot</a:t>
            </a:r>
            <a:r>
              <a:rPr lang="en-US" sz="1300" b="1" dirty="0" smtClean="0">
                <a:latin typeface="Arial" pitchFamily="34" charset="0"/>
                <a:cs typeface="Arial" pitchFamily="34" charset="0"/>
              </a:rPr>
              <a:t> → Mobile App → IVRS</a:t>
            </a:r>
            <a:endParaRPr lang="en-US" sz="1300" b="1" dirty="0">
              <a:latin typeface="Arial" pitchFamily="34" charset="0"/>
              <a:cs typeface="Arial" pitchFamily="34" charset="0"/>
            </a:endParaRPr>
          </a:p>
          <a:p>
            <a:pPr>
              <a:spcAft>
                <a:spcPts val="2000"/>
              </a:spcAft>
            </a:pPr>
            <a:r>
              <a:rPr lang="en-US" sz="1300" b="1" dirty="0">
                <a:solidFill>
                  <a:srgbClr val="000000"/>
                </a:solidFill>
                <a:latin typeface="Arial" pitchFamily="34" charset="0"/>
                <a:ea typeface="Arial" pitchFamily="34" charset="-122"/>
                <a:cs typeface="Arial" pitchFamily="34" charset="-120"/>
              </a:rPr>
              <a:t>➢  Economic Feasibility</a:t>
            </a:r>
            <a:r>
              <a:rPr lang="en-US" sz="1300" b="1" dirty="0" smtClean="0">
                <a:solidFill>
                  <a:srgbClr val="000000"/>
                </a:solidFill>
                <a:latin typeface="Arial" pitchFamily="34" charset="0"/>
                <a:ea typeface="Arial" pitchFamily="34" charset="-122"/>
                <a:cs typeface="Arial" pitchFamily="34" charset="-120"/>
              </a:rPr>
              <a:t>: </a:t>
            </a:r>
            <a:r>
              <a:rPr lang="en-US" sz="1300" dirty="0" smtClean="0">
                <a:solidFill>
                  <a:srgbClr val="000000"/>
                </a:solidFill>
                <a:latin typeface="Arial" pitchFamily="34" charset="0"/>
                <a:ea typeface="Arial" pitchFamily="34" charset="-122"/>
                <a:cs typeface="Arial" pitchFamily="34" charset="-120"/>
              </a:rPr>
              <a:t>Cloud-based deployment and modular AI services can reduce infrastructure requirements while allowing resources to scale according to </a:t>
            </a:r>
            <a:r>
              <a:rPr lang="en-US" sz="1300" dirty="0" smtClean="0">
                <a:solidFill>
                  <a:srgbClr val="000000"/>
                </a:solidFill>
                <a:latin typeface="Arial" pitchFamily="34" charset="0"/>
                <a:ea typeface="Arial" pitchFamily="34" charset="-122"/>
                <a:cs typeface="Arial" pitchFamily="34" charset="-120"/>
              </a:rPr>
              <a:t>demand.</a:t>
            </a:r>
            <a:endParaRPr lang="en-US" sz="1300" dirty="0"/>
          </a:p>
        </p:txBody>
      </p:sp>
      <p:sp>
        <p:nvSpPr>
          <p:cNvPr id="12" name="Text 10"/>
          <p:cNvSpPr txBox="1"/>
          <p:nvPr/>
        </p:nvSpPr>
        <p:spPr>
          <a:xfrm>
            <a:off x="6172200" y="1143000"/>
            <a:ext cx="5669280" cy="365760"/>
          </a:xfrm>
          <a:prstGeom prst="rect">
            <a:avLst/>
          </a:prstGeom>
          <a:noFill/>
          <a:ln/>
        </p:spPr>
        <p:txBody>
          <a:bodyPr wrap="square" lIns="0" tIns="0" rIns="0" bIns="0" rtlCol="0" anchor="ctr"/>
          <a:lstStyle/>
          <a:p>
            <a:pPr marL="0" indent="0">
              <a:buNone/>
            </a:pPr>
            <a:r>
              <a:rPr lang="en-US" sz="1600" b="1" dirty="0">
                <a:solidFill>
                  <a:srgbClr val="1F5FA6"/>
                </a:solidFill>
                <a:latin typeface="Arial" pitchFamily="34" charset="0"/>
                <a:ea typeface="Arial" pitchFamily="34" charset="-122"/>
                <a:cs typeface="Arial" pitchFamily="34" charset="-120"/>
              </a:rPr>
              <a:t>Potential Challenges, Risks and its overcomings:</a:t>
            </a:r>
            <a:endParaRPr lang="en-US" sz="1600" dirty="0"/>
          </a:p>
        </p:txBody>
      </p:sp>
      <p:sp>
        <p:nvSpPr>
          <p:cNvPr id="13" name="Text 11"/>
          <p:cNvSpPr txBox="1"/>
          <p:nvPr/>
        </p:nvSpPr>
        <p:spPr>
          <a:xfrm>
            <a:off x="6172200" y="1554479"/>
            <a:ext cx="5669280" cy="5080989"/>
          </a:xfrm>
          <a:prstGeom prst="rect">
            <a:avLst/>
          </a:prstGeom>
          <a:noFill/>
          <a:ln/>
        </p:spPr>
        <p:txBody>
          <a:bodyPr wrap="square" lIns="0" tIns="0" rIns="0" bIns="0" rtlCol="0" anchor="t"/>
          <a:lstStyle/>
          <a:p>
            <a:pPr>
              <a:spcAft>
                <a:spcPts val="600"/>
              </a:spcAft>
            </a:pPr>
            <a:r>
              <a:rPr lang="en-US" sz="1200" b="1" dirty="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AI Bias &amp; </a:t>
            </a:r>
            <a:r>
              <a:rPr lang="en-US" sz="1200" b="1" dirty="0" smtClean="0">
                <a:solidFill>
                  <a:srgbClr val="000000"/>
                </a:solidFill>
                <a:latin typeface="Arial" pitchFamily="34" charset="0"/>
                <a:ea typeface="Arial" pitchFamily="34" charset="-122"/>
                <a:cs typeface="Arial" pitchFamily="34" charset="-120"/>
              </a:rPr>
              <a:t>Accuracy:-</a:t>
            </a:r>
          </a:p>
          <a:p>
            <a:pPr>
              <a:spcAft>
                <a:spcPts val="600"/>
              </a:spcAft>
            </a:pPr>
            <a:r>
              <a:rPr lang="en-US" sz="1200" b="1" dirty="0" smtClean="0">
                <a:latin typeface="Arial" pitchFamily="34" charset="0"/>
                <a:cs typeface="Arial" pitchFamily="34" charset="0"/>
              </a:rPr>
              <a:t>Challenge:</a:t>
            </a:r>
            <a:r>
              <a:rPr lang="en-US" sz="1200" dirty="0" smtClean="0">
                <a:latin typeface="Arial" pitchFamily="34" charset="0"/>
                <a:cs typeface="Arial" pitchFamily="34" charset="0"/>
              </a:rPr>
              <a:t> Emotional expressions vary across languages, cultures and individuals</a:t>
            </a:r>
            <a:r>
              <a:rPr lang="en-US" sz="1200" dirty="0" smtClean="0">
                <a:latin typeface="Arial" pitchFamily="34" charset="0"/>
                <a:cs typeface="Arial" pitchFamily="34" charset="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latin typeface="Arial" pitchFamily="34" charset="0"/>
                <a:cs typeface="Arial" pitchFamily="34" charset="0"/>
              </a:rPr>
              <a:t>Solution</a:t>
            </a:r>
            <a:r>
              <a:rPr lang="en-US" sz="1200" b="1" dirty="0" smtClean="0">
                <a:latin typeface="Arial" pitchFamily="34" charset="0"/>
                <a:cs typeface="Arial" pitchFamily="34" charset="0"/>
              </a:rPr>
              <a:t>:</a:t>
            </a:r>
            <a:r>
              <a:rPr lang="en-US" sz="1200" dirty="0" smtClean="0">
                <a:latin typeface="Arial" pitchFamily="34" charset="0"/>
                <a:cs typeface="Arial" pitchFamily="34" charset="0"/>
              </a:rPr>
              <a:t> Diverse datasets, continuous evaluation, fairness testing and human validation.</a:t>
            </a:r>
            <a:endParaRPr lang="en-US" sz="1200" dirty="0">
              <a:latin typeface="Arial" pitchFamily="34" charset="0"/>
              <a:cs typeface="Arial" pitchFamily="34" charset="0"/>
            </a:endParaRP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False </a:t>
            </a:r>
            <a:r>
              <a:rPr lang="en-US" sz="1200" b="1" dirty="0" smtClean="0">
                <a:solidFill>
                  <a:srgbClr val="000000"/>
                </a:solidFill>
                <a:latin typeface="Arial" pitchFamily="34" charset="0"/>
                <a:ea typeface="Arial" pitchFamily="34" charset="-122"/>
                <a:cs typeface="Arial" pitchFamily="34" charset="-120"/>
              </a:rPr>
              <a:t>Positives / False </a:t>
            </a:r>
            <a:r>
              <a:rPr lang="en-US" sz="1200" b="1" dirty="0" smtClean="0">
                <a:solidFill>
                  <a:srgbClr val="000000"/>
                </a:solidFill>
                <a:latin typeface="Arial" pitchFamily="34" charset="0"/>
                <a:ea typeface="Arial" pitchFamily="34" charset="-122"/>
                <a:cs typeface="Arial" pitchFamily="34" charset="-120"/>
              </a:rPr>
              <a:t>Negatives:-</a:t>
            </a:r>
          </a:p>
          <a:p>
            <a:pPr>
              <a:spcAft>
                <a:spcPts val="600"/>
              </a:spcAft>
            </a:pPr>
            <a:r>
              <a:rPr lang="en-US" sz="1200" b="1" dirty="0" smtClean="0">
                <a:solidFill>
                  <a:srgbClr val="000000"/>
                </a:solidFill>
                <a:latin typeface="Arial" pitchFamily="34" charset="0"/>
                <a:ea typeface="Arial" pitchFamily="34" charset="-122"/>
                <a:cs typeface="Arial" pitchFamily="34" charset="-120"/>
              </a:rPr>
              <a:t>Challenge</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AI may incorrectly classify emotional states</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Solution</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Use AI as a decision-support system, not an autonomous diagnostic system, with human review for high-risk cases. </a:t>
            </a:r>
            <a:endParaRPr lang="en-US" sz="1200" dirty="0" smtClean="0">
              <a:solidFill>
                <a:srgbClr val="000000"/>
              </a:solidFill>
              <a:latin typeface="Arial" pitchFamily="34" charset="0"/>
              <a:ea typeface="Arial" pitchFamily="34" charset="-122"/>
              <a:cs typeface="Arial" pitchFamily="34" charset="-120"/>
            </a:endParaRPr>
          </a:p>
          <a:p>
            <a:pPr>
              <a:spcAft>
                <a:spcPts val="600"/>
              </a:spcAft>
            </a:pPr>
            <a:r>
              <a:rPr lang="en-US" sz="1200" b="1" dirty="0" smtClean="0">
                <a:solidFill>
                  <a:srgbClr val="000000"/>
                </a:solidFill>
                <a:latin typeface="Arial" pitchFamily="34" charset="0"/>
                <a:ea typeface="Arial" pitchFamily="34" charset="-122"/>
                <a:cs typeface="Arial" pitchFamily="34" charset="-120"/>
              </a:rPr>
              <a:t> ➢ </a:t>
            </a:r>
            <a:r>
              <a:rPr lang="en-US" sz="1200" b="1" dirty="0" smtClean="0">
                <a:solidFill>
                  <a:srgbClr val="000000"/>
                </a:solidFill>
                <a:latin typeface="Arial" pitchFamily="34" charset="0"/>
                <a:ea typeface="Arial" pitchFamily="34" charset="-122"/>
                <a:cs typeface="Arial" pitchFamily="34" charset="-120"/>
              </a:rPr>
              <a:t>Privacy </a:t>
            </a:r>
            <a:r>
              <a:rPr lang="en-US" sz="1200" b="1" dirty="0" smtClean="0">
                <a:solidFill>
                  <a:srgbClr val="000000"/>
                </a:solidFill>
                <a:latin typeface="Arial" pitchFamily="34" charset="0"/>
                <a:ea typeface="Arial" pitchFamily="34" charset="-122"/>
                <a:cs typeface="Arial" pitchFamily="34" charset="-120"/>
              </a:rPr>
              <a:t>&amp; Data </a:t>
            </a:r>
            <a:r>
              <a:rPr lang="en-US" sz="1200" b="1" dirty="0" smtClean="0">
                <a:solidFill>
                  <a:srgbClr val="000000"/>
                </a:solidFill>
                <a:latin typeface="Arial" pitchFamily="34" charset="0"/>
                <a:ea typeface="Arial" pitchFamily="34" charset="-122"/>
                <a:cs typeface="Arial" pitchFamily="34" charset="-120"/>
              </a:rPr>
              <a:t>Security:-</a:t>
            </a:r>
          </a:p>
          <a:p>
            <a:pPr>
              <a:spcAft>
                <a:spcPts val="600"/>
              </a:spcAft>
            </a:pPr>
            <a:r>
              <a:rPr lang="en-US" sz="1200" b="1" dirty="0" smtClean="0">
                <a:solidFill>
                  <a:srgbClr val="000000"/>
                </a:solidFill>
                <a:latin typeface="Arial" pitchFamily="34" charset="0"/>
                <a:ea typeface="Arial" pitchFamily="34" charset="-122"/>
                <a:cs typeface="Arial" pitchFamily="34" charset="-120"/>
              </a:rPr>
              <a:t>Challenge: </a:t>
            </a:r>
            <a:r>
              <a:rPr lang="en-US" sz="1200" dirty="0" smtClean="0">
                <a:solidFill>
                  <a:srgbClr val="000000"/>
                </a:solidFill>
                <a:latin typeface="Arial" pitchFamily="34" charset="0"/>
                <a:ea typeface="Arial" pitchFamily="34" charset="-122"/>
                <a:cs typeface="Arial" pitchFamily="34" charset="-120"/>
              </a:rPr>
              <a:t>Victim conversations can contain extremely sensitive information</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Solution</a:t>
            </a:r>
            <a:r>
              <a:rPr lang="en-US" sz="1200" dirty="0" smtClean="0">
                <a:solidFill>
                  <a:srgbClr val="000000"/>
                </a:solidFill>
                <a:latin typeface="Arial" pitchFamily="34" charset="0"/>
                <a:ea typeface="Arial" pitchFamily="34" charset="-122"/>
                <a:cs typeface="Arial" pitchFamily="34" charset="-120"/>
              </a:rPr>
              <a:t>: Consent-based collection, encryption, access control, data minimization and secure storage. </a:t>
            </a:r>
            <a:endParaRPr lang="en-US" sz="1200" dirty="0" smtClean="0">
              <a:solidFill>
                <a:srgbClr val="000000"/>
              </a:solidFill>
              <a:latin typeface="Arial" pitchFamily="34" charset="0"/>
              <a:ea typeface="Arial" pitchFamily="34" charset="-122"/>
              <a:cs typeface="Arial" pitchFamily="34" charset="-120"/>
            </a:endParaRPr>
          </a:p>
          <a:p>
            <a:pPr>
              <a:spcAft>
                <a:spcPts val="600"/>
              </a:spcAft>
            </a:pPr>
            <a:r>
              <a:rPr lang="en-US" sz="1200" b="1" dirty="0" smtClean="0">
                <a:solidFill>
                  <a:srgbClr val="000000"/>
                </a:solidFill>
                <a:latin typeface="Arial" pitchFamily="34" charset="0"/>
                <a:ea typeface="Arial" pitchFamily="34" charset="-122"/>
                <a:cs typeface="Arial" pitchFamily="34" charset="-120"/>
              </a:rPr>
              <a:t>➢  Multilingual &amp; Dialect </a:t>
            </a:r>
            <a:r>
              <a:rPr lang="en-US" sz="1200" b="1" dirty="0" smtClean="0">
                <a:solidFill>
                  <a:srgbClr val="000000"/>
                </a:solidFill>
                <a:latin typeface="Arial" pitchFamily="34" charset="0"/>
                <a:ea typeface="Arial" pitchFamily="34" charset="-122"/>
                <a:cs typeface="Arial" pitchFamily="34" charset="-120"/>
              </a:rPr>
              <a:t>Variation:-</a:t>
            </a:r>
          </a:p>
          <a:p>
            <a:pPr>
              <a:spcAft>
                <a:spcPts val="600"/>
              </a:spcAft>
            </a:pPr>
            <a:r>
              <a:rPr lang="en-US" sz="1200" b="1" dirty="0" smtClean="0">
                <a:solidFill>
                  <a:srgbClr val="000000"/>
                </a:solidFill>
                <a:latin typeface="Arial" pitchFamily="34" charset="0"/>
                <a:ea typeface="Arial" pitchFamily="34" charset="-122"/>
                <a:cs typeface="Arial" pitchFamily="34" charset="-120"/>
              </a:rPr>
              <a:t>Challenge</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Users may communicate in different Indian languages and dialects</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Solution</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Multilingual NLP/STT models with language detection and continuous dataset improvement</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0"/>
              </a:rPr>
              <a:t>➢ </a:t>
            </a:r>
            <a:r>
              <a:rPr lang="en-US" sz="1200" b="1" dirty="0" smtClean="0">
                <a:latin typeface="Arial" pitchFamily="34" charset="0"/>
                <a:cs typeface="Arial" pitchFamily="34" charset="0"/>
              </a:rPr>
              <a:t>Adversarial </a:t>
            </a:r>
            <a:r>
              <a:rPr lang="en-US" sz="1200" b="1" dirty="0" smtClean="0">
                <a:latin typeface="Arial" pitchFamily="34" charset="0"/>
                <a:cs typeface="Arial" pitchFamily="34" charset="0"/>
              </a:rPr>
              <a:t>/ Manipulated </a:t>
            </a:r>
            <a:r>
              <a:rPr lang="en-US" sz="1200" b="1" dirty="0" smtClean="0">
                <a:latin typeface="Arial" pitchFamily="34" charset="0"/>
                <a:cs typeface="Arial" pitchFamily="34" charset="0"/>
              </a:rPr>
              <a:t>Responses:-</a:t>
            </a:r>
          </a:p>
          <a:p>
            <a:pPr>
              <a:spcAft>
                <a:spcPts val="600"/>
              </a:spcAft>
            </a:pPr>
            <a:r>
              <a:rPr lang="en-US" sz="1200" b="1" dirty="0" smtClean="0">
                <a:latin typeface="Arial" pitchFamily="34" charset="0"/>
                <a:cs typeface="Arial" pitchFamily="34" charset="0"/>
              </a:rPr>
              <a:t>Challenge</a:t>
            </a:r>
            <a:r>
              <a:rPr lang="en-US" sz="1200" b="1" dirty="0" smtClean="0">
                <a:latin typeface="Arial" pitchFamily="34" charset="0"/>
                <a:cs typeface="Arial" pitchFamily="34" charset="0"/>
              </a:rPr>
              <a:t>: </a:t>
            </a:r>
            <a:r>
              <a:rPr lang="en-US" sz="1200" dirty="0" smtClean="0">
                <a:latin typeface="Arial" pitchFamily="34" charset="0"/>
                <a:cs typeface="Arial" pitchFamily="34" charset="0"/>
              </a:rPr>
              <a:t>Users may unintentionally or intentionally provide incomplete information</a:t>
            </a:r>
            <a:r>
              <a:rPr lang="en-US" sz="1200" dirty="0" smtClean="0">
                <a:latin typeface="Arial" pitchFamily="34" charset="0"/>
                <a:cs typeface="Arial" pitchFamily="34" charset="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dirty="0" smtClean="0">
                <a:latin typeface="Arial" pitchFamily="34" charset="0"/>
                <a:cs typeface="Arial" pitchFamily="34" charset="0"/>
              </a:rPr>
              <a:t>Solution</a:t>
            </a:r>
            <a:r>
              <a:rPr lang="en-US" sz="1200" dirty="0" smtClean="0"/>
              <a:t>: </a:t>
            </a:r>
            <a:r>
              <a:rPr lang="en-US" sz="1200" dirty="0" smtClean="0">
                <a:latin typeface="Arial" pitchFamily="34" charset="0"/>
                <a:cs typeface="Arial" pitchFamily="34" charset="0"/>
              </a:rPr>
              <a:t>Combine multiple interaction signals and use confidence scores instead of relying on a single response.</a:t>
            </a:r>
            <a:endParaRPr lang="en-US" sz="1200" dirty="0">
              <a:latin typeface="Arial" pitchFamily="34" charset="0"/>
              <a:cs typeface="Arial" pitchFamily="34" charset="0"/>
            </a:endParaRPr>
          </a:p>
        </p:txBody>
      </p:sp>
      <p:pic>
        <p:nvPicPr>
          <p:cNvPr id="14" name="Picture 13" descr="side logo.jpg"/>
          <p:cNvPicPr>
            <a:picLocks noChangeAspect="1"/>
          </p:cNvPicPr>
          <p:nvPr/>
        </p:nvPicPr>
        <p:blipFill>
          <a:blip r:embed="rId3"/>
          <a:stretch>
            <a:fillRect/>
          </a:stretch>
        </p:blipFill>
        <p:spPr>
          <a:xfrm>
            <a:off x="9984702" y="0"/>
            <a:ext cx="1811058" cy="824240"/>
          </a:xfrm>
          <a:prstGeom prst="rect">
            <a:avLst/>
          </a:prstGeom>
        </p:spPr>
      </p:pic>
      <p:pic>
        <p:nvPicPr>
          <p:cNvPr id="15" name="Picture 14" descr="sage image.jpg"/>
          <p:cNvPicPr>
            <a:picLocks noChangeAspect="1"/>
          </p:cNvPicPr>
          <p:nvPr/>
        </p:nvPicPr>
        <p:blipFill>
          <a:blip r:embed="rId4"/>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8" name="Text 6"/>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9" name="Text 7"/>
          <p:cNvSpPr txBox="1"/>
          <p:nvPr/>
        </p:nvSpPr>
        <p:spPr>
          <a:xfrm>
            <a:off x="0" y="274320"/>
            <a:ext cx="12188952" cy="640080"/>
          </a:xfrm>
          <a:prstGeom prst="rect">
            <a:avLst/>
          </a:prstGeom>
          <a:noFill/>
          <a:ln/>
        </p:spPr>
        <p:txBody>
          <a:bodyPr wrap="square" lIns="0" tIns="0" rIns="0" bIns="0" rtlCol="0" anchor="ctr"/>
          <a:lstStyle/>
          <a:p>
            <a:pPr marL="0" indent="0" algn="ctr">
              <a:buNone/>
            </a:pPr>
            <a:r>
              <a:rPr lang="en-US" sz="3000" b="1" dirty="0">
                <a:solidFill>
                  <a:srgbClr val="000000"/>
                </a:solidFill>
                <a:latin typeface="Times New Roman" pitchFamily="34" charset="0"/>
                <a:ea typeface="Times New Roman" pitchFamily="34" charset="-122"/>
                <a:cs typeface="Times New Roman" pitchFamily="34" charset="-120"/>
              </a:rPr>
              <a:t>IMPACT AND BENEFITS</a:t>
            </a:r>
            <a:endParaRPr lang="en-US" sz="3000" dirty="0"/>
          </a:p>
        </p:txBody>
      </p:sp>
      <p:sp>
        <p:nvSpPr>
          <p:cNvPr id="10" name="Text 8"/>
          <p:cNvSpPr txBox="1"/>
          <p:nvPr/>
        </p:nvSpPr>
        <p:spPr>
          <a:xfrm>
            <a:off x="186117" y="1051561"/>
            <a:ext cx="5971922" cy="5341148"/>
          </a:xfrm>
          <a:prstGeom prst="rect">
            <a:avLst/>
          </a:prstGeom>
          <a:noFill/>
          <a:ln/>
        </p:spPr>
        <p:txBody>
          <a:bodyPr wrap="square" lIns="0" tIns="0" rIns="0" bIns="0" rtlCol="0" anchor="t"/>
          <a:lstStyle/>
          <a:p>
            <a:pPr>
              <a:spcAft>
                <a:spcPts val="300"/>
              </a:spcAft>
            </a:pPr>
            <a:r>
              <a:rPr lang="en-US" sz="1200" b="1" u="sng" dirty="0" smtClean="0">
                <a:solidFill>
                  <a:srgbClr val="000000"/>
                </a:solidFill>
                <a:latin typeface="Arial" pitchFamily="34" charset="0"/>
                <a:ea typeface="Arial" pitchFamily="34" charset="-122"/>
                <a:cs typeface="Arial" pitchFamily="34" charset="-120"/>
              </a:rPr>
              <a:t>Early Detection of </a:t>
            </a:r>
            <a:r>
              <a:rPr lang="en-US" sz="1200" b="1" u="sng" dirty="0" smtClean="0">
                <a:solidFill>
                  <a:srgbClr val="000000"/>
                </a:solidFill>
                <a:latin typeface="Arial" pitchFamily="34" charset="0"/>
                <a:ea typeface="Arial" pitchFamily="34" charset="-122"/>
                <a:cs typeface="Arial" pitchFamily="34" charset="-120"/>
              </a:rPr>
              <a:t>Distress</a:t>
            </a:r>
            <a:r>
              <a:rPr lang="en-US" sz="1200" b="1" dirty="0" smtClean="0">
                <a:solidFill>
                  <a:srgbClr val="000000"/>
                </a:solidFill>
                <a:latin typeface="Arial" pitchFamily="34" charset="0"/>
                <a:ea typeface="Arial" pitchFamily="34" charset="-122"/>
                <a:cs typeface="Arial" pitchFamily="34" charset="-120"/>
              </a:rPr>
              <a:t>:</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a:t>
            </a:r>
            <a:r>
              <a:rPr lang="en-US" sz="1200" dirty="0" smtClean="0">
                <a:solidFill>
                  <a:srgbClr val="000000"/>
                </a:solidFill>
                <a:latin typeface="Arial" pitchFamily="34" charset="0"/>
                <a:ea typeface="Arial" pitchFamily="34" charset="-122"/>
                <a:cs typeface="Arial" pitchFamily="34" charset="-120"/>
              </a:rPr>
              <a:t> Real-time identification of stress and trauma indicators during victim/complainant interactions</a:t>
            </a:r>
            <a:r>
              <a:rPr lang="en-US" sz="1200" dirty="0" smtClean="0">
                <a:solidFill>
                  <a:srgbClr val="000000"/>
                </a:solidFill>
                <a:latin typeface="Arial" pitchFamily="34" charset="0"/>
                <a:ea typeface="Arial" pitchFamily="34" charset="-122"/>
                <a:cs typeface="Arial" pitchFamily="34" charset="-120"/>
              </a:rPr>
              <a:t>.</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 </a:t>
            </a:r>
            <a:r>
              <a:rPr lang="en-US" sz="1200" dirty="0" smtClean="0">
                <a:solidFill>
                  <a:srgbClr val="000000"/>
                </a:solidFill>
                <a:latin typeface="Arial" pitchFamily="34" charset="0"/>
                <a:ea typeface="Arial" pitchFamily="34" charset="-122"/>
                <a:cs typeface="Arial" pitchFamily="34" charset="-120"/>
              </a:rPr>
              <a:t>Enables earlier attention to individuals who may require additional support. </a:t>
            </a:r>
            <a:endParaRPr lang="en-US" sz="1200" dirty="0" smtClean="0">
              <a:solidFill>
                <a:srgbClr val="000000"/>
              </a:solidFill>
              <a:latin typeface="Arial" pitchFamily="34" charset="0"/>
              <a:ea typeface="Arial" pitchFamily="34" charset="-122"/>
              <a:cs typeface="Arial" pitchFamily="34" charset="-120"/>
            </a:endParaRPr>
          </a:p>
          <a:p>
            <a:pPr algn="just">
              <a:spcAft>
                <a:spcPts val="300"/>
              </a:spcAft>
            </a:pPr>
            <a:r>
              <a:rPr lang="en-US" sz="1200" b="1" u="sng" dirty="0" smtClean="0">
                <a:solidFill>
                  <a:srgbClr val="000000"/>
                </a:solidFill>
                <a:latin typeface="Arial" pitchFamily="34" charset="0"/>
                <a:ea typeface="Arial" pitchFamily="34" charset="-122"/>
                <a:cs typeface="Arial" pitchFamily="34" charset="-120"/>
              </a:rPr>
              <a:t>Prioritized Human </a:t>
            </a:r>
            <a:r>
              <a:rPr lang="en-US" sz="1200" b="1" u="sng" dirty="0" smtClean="0">
                <a:solidFill>
                  <a:srgbClr val="000000"/>
                </a:solidFill>
                <a:latin typeface="Arial" pitchFamily="34" charset="0"/>
                <a:ea typeface="Arial" pitchFamily="34" charset="-122"/>
                <a:cs typeface="Arial" pitchFamily="34" charset="-120"/>
              </a:rPr>
              <a:t>Intervention:</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AI-generated risk levels help authorized personnel identify cases requiring urgent attention</a:t>
            </a:r>
            <a:r>
              <a:rPr lang="en-US" sz="1200" dirty="0" smtClean="0">
                <a:solidFill>
                  <a:srgbClr val="000000"/>
                </a:solidFill>
                <a:latin typeface="Arial" pitchFamily="34" charset="0"/>
                <a:ea typeface="Arial" pitchFamily="34" charset="-122"/>
                <a:cs typeface="Arial" pitchFamily="34" charset="-120"/>
              </a:rPr>
              <a:t>.</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Better allocation of limited </a:t>
            </a:r>
            <a:r>
              <a:rPr lang="en-US" sz="1200" dirty="0" err="1" smtClean="0">
                <a:solidFill>
                  <a:srgbClr val="000000"/>
                </a:solidFill>
                <a:latin typeface="Arial" pitchFamily="34" charset="0"/>
                <a:ea typeface="Arial" pitchFamily="34" charset="-122"/>
                <a:cs typeface="Arial" pitchFamily="34" charset="-120"/>
              </a:rPr>
              <a:t>counselling</a:t>
            </a:r>
            <a:r>
              <a:rPr lang="en-US" sz="1200" dirty="0" smtClean="0">
                <a:solidFill>
                  <a:srgbClr val="000000"/>
                </a:solidFill>
                <a:latin typeface="Arial" pitchFamily="34" charset="0"/>
                <a:ea typeface="Arial" pitchFamily="34" charset="-122"/>
                <a:cs typeface="Arial" pitchFamily="34" charset="-120"/>
              </a:rPr>
              <a:t> and support resources. </a:t>
            </a:r>
            <a:endParaRPr lang="en-US" sz="1200" dirty="0"/>
          </a:p>
          <a:p>
            <a:pPr marL="342900" indent="-342900" algn="just">
              <a:spcAft>
                <a:spcPts val="300"/>
              </a:spcAft>
              <a:buSzPct val="100000"/>
            </a:pPr>
            <a:r>
              <a:rPr lang="en-US" sz="1200" b="1" u="sng" dirty="0" smtClean="0">
                <a:solidFill>
                  <a:srgbClr val="000000"/>
                </a:solidFill>
                <a:latin typeface="Arial" pitchFamily="34" charset="0"/>
                <a:ea typeface="Arial" pitchFamily="34" charset="-122"/>
                <a:cs typeface="Arial" pitchFamily="34" charset="-120"/>
              </a:rPr>
              <a:t>Improved </a:t>
            </a:r>
            <a:r>
              <a:rPr lang="en-US" sz="1200" b="1" u="sng" dirty="0" smtClean="0">
                <a:solidFill>
                  <a:srgbClr val="000000"/>
                </a:solidFill>
                <a:latin typeface="Arial" pitchFamily="34" charset="0"/>
                <a:ea typeface="Arial" pitchFamily="34" charset="-122"/>
                <a:cs typeface="Arial" pitchFamily="34" charset="-120"/>
              </a:rPr>
              <a:t>Victim </a:t>
            </a:r>
            <a:r>
              <a:rPr lang="en-US" sz="1200" b="1" u="sng" dirty="0" smtClean="0">
                <a:solidFill>
                  <a:srgbClr val="000000"/>
                </a:solidFill>
                <a:latin typeface="Arial" pitchFamily="34" charset="0"/>
                <a:ea typeface="Arial" pitchFamily="34" charset="-122"/>
                <a:cs typeface="Arial" pitchFamily="34" charset="-120"/>
              </a:rPr>
              <a:t>Support: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Converts conversational information into structured support insights</a:t>
            </a:r>
            <a:r>
              <a:rPr lang="en-US" sz="1200" dirty="0" smtClean="0">
                <a:solidFill>
                  <a:srgbClr val="000000"/>
                </a:solidFill>
                <a:latin typeface="Arial" pitchFamily="34" charset="0"/>
                <a:ea typeface="Arial" pitchFamily="34" charset="-122"/>
                <a:cs typeface="Arial" pitchFamily="34" charset="-12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More responsive and personalized assistance while reducing dependence on manual screening alone. </a:t>
            </a:r>
            <a:endParaRPr lang="en-US" sz="1200" dirty="0" smtClean="0">
              <a:solidFill>
                <a:srgbClr val="000000"/>
              </a:solidFill>
              <a:latin typeface="Arial" pitchFamily="34" charset="0"/>
              <a:ea typeface="Arial" pitchFamily="34" charset="-122"/>
              <a:cs typeface="Arial" pitchFamily="34" charset="-120"/>
            </a:endParaRPr>
          </a:p>
          <a:p>
            <a:pPr marL="342900" indent="-342900" algn="just">
              <a:spcAft>
                <a:spcPts val="300"/>
              </a:spcAft>
              <a:buSzPct val="100000"/>
            </a:pPr>
            <a:r>
              <a:rPr lang="en-US" sz="1200" b="1" u="sng" dirty="0" smtClean="0">
                <a:solidFill>
                  <a:srgbClr val="000000"/>
                </a:solidFill>
                <a:latin typeface="Arial" pitchFamily="34" charset="0"/>
                <a:ea typeface="Arial" pitchFamily="34" charset="-122"/>
                <a:cs typeface="Arial" pitchFamily="34" charset="-120"/>
              </a:rPr>
              <a:t>Multilingual </a:t>
            </a:r>
            <a:r>
              <a:rPr lang="en-US" sz="1200" b="1" u="sng" dirty="0" smtClean="0">
                <a:solidFill>
                  <a:srgbClr val="000000"/>
                </a:solidFill>
                <a:latin typeface="Arial" pitchFamily="34" charset="0"/>
                <a:ea typeface="Arial" pitchFamily="34" charset="-122"/>
                <a:cs typeface="Arial" pitchFamily="34" charset="-120"/>
              </a:rPr>
              <a:t>Accessibility:</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Supports interactions across diverse linguistic backgrounds</a:t>
            </a:r>
            <a:r>
              <a:rPr lang="en-US" sz="1200" dirty="0" smtClean="0">
                <a:solidFill>
                  <a:srgbClr val="000000"/>
                </a:solidFill>
                <a:latin typeface="Arial" pitchFamily="34" charset="0"/>
                <a:ea typeface="Arial" pitchFamily="34" charset="-122"/>
                <a:cs typeface="Arial" pitchFamily="34" charset="-12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a:t>
            </a:r>
            <a:r>
              <a:rPr lang="en-US" sz="1200"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Makes AI-assisted assessment accessible to a wider range of complainants. </a:t>
            </a:r>
            <a:endParaRPr lang="en-US" sz="1200" dirty="0" smtClean="0">
              <a:solidFill>
                <a:srgbClr val="000000"/>
              </a:solidFill>
              <a:latin typeface="Arial" pitchFamily="34" charset="0"/>
              <a:ea typeface="Arial" pitchFamily="34" charset="-122"/>
              <a:cs typeface="Arial" pitchFamily="34" charset="-120"/>
            </a:endParaRPr>
          </a:p>
          <a:p>
            <a:pPr marL="342900" indent="-342900" algn="just">
              <a:spcAft>
                <a:spcPts val="300"/>
              </a:spcAft>
              <a:buSzPct val="100000"/>
            </a:pPr>
            <a:r>
              <a:rPr lang="en-US" sz="1200" b="1" u="sng" dirty="0" smtClean="0">
                <a:solidFill>
                  <a:srgbClr val="000000"/>
                </a:solidFill>
                <a:latin typeface="Arial" pitchFamily="34" charset="0"/>
                <a:ea typeface="Arial" pitchFamily="34" charset="-122"/>
                <a:cs typeface="Arial" pitchFamily="34" charset="-120"/>
              </a:rPr>
              <a:t>Data-Driven Decision </a:t>
            </a:r>
            <a:r>
              <a:rPr lang="en-US" sz="1200" b="1" u="sng" dirty="0" smtClean="0">
                <a:solidFill>
                  <a:srgbClr val="000000"/>
                </a:solidFill>
                <a:latin typeface="Arial" pitchFamily="34" charset="0"/>
                <a:ea typeface="Arial" pitchFamily="34" charset="-122"/>
                <a:cs typeface="Arial" pitchFamily="34" charset="-120"/>
              </a:rPr>
              <a:t>Making:</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Aggregated, privacy-preserving analytics can reveal patterns in stress and trauma indicators</a:t>
            </a:r>
            <a:r>
              <a:rPr lang="en-US" sz="1200" dirty="0" smtClean="0">
                <a:solidFill>
                  <a:srgbClr val="000000"/>
                </a:solidFill>
                <a:latin typeface="Arial" pitchFamily="34" charset="0"/>
                <a:ea typeface="Arial" pitchFamily="34" charset="-122"/>
                <a:cs typeface="Arial" pitchFamily="34" charset="-12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Helps authorities improve support services, resource planning and intervention strategies</a:t>
            </a:r>
            <a:r>
              <a:rPr lang="en-US" sz="1200" dirty="0" smtClean="0">
                <a:solidFill>
                  <a:srgbClr val="000000"/>
                </a:solidFill>
                <a:latin typeface="Arial" pitchFamily="34" charset="0"/>
                <a:ea typeface="Arial" pitchFamily="34" charset="-122"/>
                <a:cs typeface="Arial" pitchFamily="34" charset="-120"/>
              </a:rPr>
              <a:t>.</a:t>
            </a:r>
            <a:endParaRPr lang="en-US" sz="1200" dirty="0" smtClean="0">
              <a:solidFill>
                <a:srgbClr val="000000"/>
              </a:solidFill>
              <a:latin typeface="Arial" pitchFamily="34" charset="0"/>
              <a:ea typeface="Arial" pitchFamily="34" charset="-122"/>
              <a:cs typeface="Arial" pitchFamily="34" charset="-120"/>
            </a:endParaRPr>
          </a:p>
          <a:p>
            <a:pPr marL="342900" indent="-342900" algn="just">
              <a:spcAft>
                <a:spcPts val="300"/>
              </a:spcAft>
              <a:buSzPct val="100000"/>
            </a:pPr>
            <a:r>
              <a:rPr lang="en-US" sz="1200" b="1" u="sng" dirty="0" smtClean="0">
                <a:latin typeface="Arial" pitchFamily="34" charset="0"/>
                <a:cs typeface="Arial" pitchFamily="34" charset="0"/>
              </a:rPr>
              <a:t>Scalability &amp; </a:t>
            </a:r>
            <a:r>
              <a:rPr lang="en-US" sz="1200" b="1" u="sng" dirty="0" smtClean="0">
                <a:latin typeface="Arial" pitchFamily="34" charset="0"/>
                <a:cs typeface="Arial" pitchFamily="34" charset="0"/>
              </a:rPr>
              <a:t>Integration:</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latin typeface="Arial" pitchFamily="34" charset="0"/>
                <a:cs typeface="Arial" pitchFamily="34" charset="0"/>
              </a:rPr>
              <a:t>Impact</a:t>
            </a:r>
            <a:r>
              <a:rPr lang="en-US" sz="1200" b="1" dirty="0" smtClean="0">
                <a:latin typeface="Arial" pitchFamily="34" charset="0"/>
                <a:cs typeface="Arial" pitchFamily="34" charset="0"/>
              </a:rPr>
              <a:t>: </a:t>
            </a:r>
            <a:r>
              <a:rPr lang="en-US" sz="1200" dirty="0" smtClean="0">
                <a:latin typeface="Arial" pitchFamily="34" charset="0"/>
                <a:cs typeface="Arial" pitchFamily="34" charset="0"/>
              </a:rPr>
              <a:t>API-based architecture can integrate with multiple NHAA access channels</a:t>
            </a:r>
            <a:r>
              <a:rPr lang="en-US" sz="1200" dirty="0" smtClean="0">
                <a:latin typeface="Arial" pitchFamily="34" charset="0"/>
                <a:cs typeface="Arial" pitchFamily="34" charset="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latin typeface="Arial" pitchFamily="34" charset="0"/>
                <a:cs typeface="Arial" pitchFamily="34" charset="0"/>
              </a:rPr>
              <a:t>Benefit</a:t>
            </a:r>
            <a:r>
              <a:rPr lang="en-US" sz="1200" b="1" dirty="0" smtClean="0">
                <a:latin typeface="Arial" pitchFamily="34" charset="0"/>
                <a:cs typeface="Arial" pitchFamily="34" charset="0"/>
              </a:rPr>
              <a:t>: </a:t>
            </a:r>
            <a:r>
              <a:rPr lang="en-US" sz="1200" dirty="0" smtClean="0">
                <a:latin typeface="Arial" pitchFamily="34" charset="0"/>
                <a:cs typeface="Arial" pitchFamily="34" charset="0"/>
              </a:rPr>
              <a:t>A single assessment engine can support helpline, portal, </a:t>
            </a:r>
            <a:r>
              <a:rPr lang="en-US" sz="1200" dirty="0" err="1" smtClean="0">
                <a:latin typeface="Arial" pitchFamily="34" charset="0"/>
                <a:cs typeface="Arial" pitchFamily="34" charset="0"/>
              </a:rPr>
              <a:t>chatbot</a:t>
            </a:r>
            <a:r>
              <a:rPr lang="en-US" sz="1200" dirty="0" smtClean="0">
                <a:latin typeface="Arial" pitchFamily="34" charset="0"/>
                <a:cs typeface="Arial" pitchFamily="34" charset="0"/>
              </a:rPr>
              <a:t>, mobile and IVRS ecosystems.</a:t>
            </a:r>
            <a:endParaRPr lang="en-US" sz="1200" dirty="0">
              <a:latin typeface="Arial" pitchFamily="34" charset="0"/>
              <a:cs typeface="Arial" pitchFamily="34" charset="0"/>
            </a:endParaRPr>
          </a:p>
        </p:txBody>
      </p:sp>
      <p:sp>
        <p:nvSpPr>
          <p:cNvPr id="11" name="Text 9"/>
          <p:cNvSpPr txBox="1"/>
          <p:nvPr/>
        </p:nvSpPr>
        <p:spPr>
          <a:xfrm>
            <a:off x="6400800" y="1005840"/>
            <a:ext cx="5577840" cy="274320"/>
          </a:xfrm>
          <a:prstGeom prst="rect">
            <a:avLst/>
          </a:prstGeom>
          <a:noFill/>
          <a:ln/>
        </p:spPr>
        <p:txBody>
          <a:bodyPr wrap="square" lIns="0" tIns="0" rIns="0" bIns="0" rtlCol="0" anchor="ctr"/>
          <a:lstStyle/>
          <a:p>
            <a:pPr marL="0" indent="0">
              <a:buNone/>
            </a:pPr>
            <a:endParaRPr lang="en-US" sz="1200" dirty="0"/>
          </a:p>
        </p:txBody>
      </p:sp>
      <p:pic>
        <p:nvPicPr>
          <p:cNvPr id="70" name="Picture 69" descr="side logo.jpg"/>
          <p:cNvPicPr>
            <a:picLocks noChangeAspect="1"/>
          </p:cNvPicPr>
          <p:nvPr/>
        </p:nvPicPr>
        <p:blipFill>
          <a:blip r:embed="rId3"/>
          <a:stretch>
            <a:fillRect/>
          </a:stretch>
        </p:blipFill>
        <p:spPr>
          <a:xfrm>
            <a:off x="9984702" y="0"/>
            <a:ext cx="1811058" cy="824240"/>
          </a:xfrm>
          <a:prstGeom prst="rect">
            <a:avLst/>
          </a:prstGeom>
        </p:spPr>
      </p:pic>
      <p:pic>
        <p:nvPicPr>
          <p:cNvPr id="71" name="Picture 70" descr="impact chain.png"/>
          <p:cNvPicPr>
            <a:picLocks noChangeAspect="1"/>
          </p:cNvPicPr>
          <p:nvPr/>
        </p:nvPicPr>
        <p:blipFill>
          <a:blip r:embed="rId4"/>
          <a:stretch>
            <a:fillRect/>
          </a:stretch>
        </p:blipFill>
        <p:spPr>
          <a:xfrm>
            <a:off x="7153359" y="824240"/>
            <a:ext cx="4825282" cy="5806439"/>
          </a:xfrm>
          <a:prstGeom prst="rect">
            <a:avLst/>
          </a:prstGeom>
        </p:spPr>
      </p:pic>
      <p:pic>
        <p:nvPicPr>
          <p:cNvPr id="72" name="Picture 71" descr="sage image.jpg"/>
          <p:cNvPicPr>
            <a:picLocks noChangeAspect="1"/>
          </p:cNvPicPr>
          <p:nvPr/>
        </p:nvPicPr>
        <p:blipFill>
          <a:blip r:embed="rId5"/>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8" name="Text 6"/>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9" name="Text 7"/>
          <p:cNvSpPr txBox="1"/>
          <p:nvPr/>
        </p:nvSpPr>
        <p:spPr>
          <a:xfrm>
            <a:off x="0" y="256032"/>
            <a:ext cx="12188952" cy="375147"/>
          </a:xfrm>
          <a:prstGeom prst="rect">
            <a:avLst/>
          </a:prstGeom>
          <a:noFill/>
          <a:ln/>
        </p:spPr>
        <p:txBody>
          <a:bodyPr wrap="square" lIns="0" tIns="0" rIns="0" bIns="0"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RESEARCH  AND REFERENCES</a:t>
            </a:r>
            <a:endParaRPr lang="en-US" sz="2800" dirty="0"/>
          </a:p>
        </p:txBody>
      </p:sp>
      <p:sp>
        <p:nvSpPr>
          <p:cNvPr id="10" name="Text 8"/>
          <p:cNvSpPr txBox="1"/>
          <p:nvPr/>
        </p:nvSpPr>
        <p:spPr>
          <a:xfrm>
            <a:off x="320040" y="954117"/>
            <a:ext cx="4559457" cy="1651923"/>
          </a:xfrm>
          <a:prstGeom prst="rect">
            <a:avLst/>
          </a:prstGeom>
          <a:noFill/>
          <a:ln/>
        </p:spPr>
        <p:txBody>
          <a:bodyPr wrap="square" lIns="0" tIns="0" rIns="0" bIns="0" rtlCol="0" anchor="ctr"/>
          <a:lstStyle/>
          <a:p>
            <a:pPr marL="342900" indent="-342900">
              <a:buSzPct val="100000"/>
            </a:pPr>
            <a:r>
              <a:rPr lang="en-US" dirty="0" smtClean="0">
                <a:solidFill>
                  <a:srgbClr val="000000"/>
                </a:solidFill>
                <a:latin typeface="Arial" pitchFamily="34" charset="0"/>
                <a:ea typeface="Arial" pitchFamily="34" charset="-122"/>
                <a:cs typeface="Arial" pitchFamily="34" charset="-120"/>
              </a:rPr>
              <a:t>#  </a:t>
            </a:r>
            <a:r>
              <a:rPr lang="en-US" sz="1600" b="1" dirty="0" smtClean="0">
                <a:solidFill>
                  <a:srgbClr val="000000"/>
                </a:solidFill>
                <a:latin typeface="Arial" pitchFamily="34" charset="0"/>
                <a:ea typeface="Arial" pitchFamily="34" charset="-122"/>
                <a:cs typeface="Arial" pitchFamily="34" charset="-120"/>
              </a:rPr>
              <a:t>Problem </a:t>
            </a:r>
            <a:r>
              <a:rPr lang="en-US" sz="1600" b="1" dirty="0" smtClean="0">
                <a:solidFill>
                  <a:srgbClr val="000000"/>
                </a:solidFill>
                <a:latin typeface="Arial" pitchFamily="34" charset="0"/>
                <a:ea typeface="Arial" pitchFamily="34" charset="-122"/>
                <a:cs typeface="Arial" pitchFamily="34" charset="-120"/>
              </a:rPr>
              <a:t>&amp; Domain </a:t>
            </a:r>
            <a:r>
              <a:rPr lang="en-US" sz="1600" b="1" dirty="0" smtClean="0">
                <a:solidFill>
                  <a:srgbClr val="000000"/>
                </a:solidFill>
                <a:latin typeface="Arial" pitchFamily="34" charset="0"/>
                <a:ea typeface="Arial" pitchFamily="34" charset="-122"/>
                <a:cs typeface="Arial" pitchFamily="34" charset="-120"/>
              </a:rPr>
              <a:t>Research:</a:t>
            </a:r>
            <a:endParaRPr lang="en-US" b="1" dirty="0" smtClean="0">
              <a:solidFill>
                <a:srgbClr val="000000"/>
              </a:solidFill>
              <a:latin typeface="Arial" pitchFamily="34" charset="0"/>
              <a:ea typeface="Arial" pitchFamily="34" charset="-122"/>
              <a:cs typeface="Arial" pitchFamily="34" charset="-120"/>
            </a:endParaRP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National </a:t>
            </a:r>
            <a:r>
              <a:rPr lang="en-US" sz="1200" dirty="0" smtClean="0">
                <a:latin typeface="Arial" pitchFamily="34" charset="0"/>
                <a:cs typeface="Arial" pitchFamily="34" charset="0"/>
              </a:rPr>
              <a:t>Helpline Against Atrocities (14566) resources</a:t>
            </a:r>
          </a:p>
          <a:p>
            <a:pPr marL="342900" indent="-342900">
              <a:spcAft>
                <a:spcPts val="600"/>
              </a:spcAft>
              <a:buSzPct val="100000"/>
            </a:pPr>
            <a:r>
              <a:rPr lang="en-US" sz="1200" dirty="0" smtClean="0">
                <a:latin typeface="Arial" pitchFamily="34" charset="0"/>
                <a:cs typeface="Arial" pitchFamily="34" charset="0"/>
              </a:rPr>
              <a:t>➤ Ministry of Social Justice &amp; Empowerment resources</a:t>
            </a:r>
          </a:p>
          <a:p>
            <a:pPr marL="342900" indent="-342900">
              <a:spcAft>
                <a:spcPts val="600"/>
              </a:spcAft>
              <a:buSzPct val="100000"/>
            </a:pPr>
            <a:r>
              <a:rPr lang="en-US" sz="1200" dirty="0" smtClean="0">
                <a:latin typeface="Arial" pitchFamily="34" charset="0"/>
                <a:cs typeface="Arial" pitchFamily="34" charset="0"/>
              </a:rPr>
              <a:t>➤ Government resources related to SC/ST protection and grievance </a:t>
            </a:r>
            <a:r>
              <a:rPr lang="en-US" sz="1200" dirty="0" err="1" smtClean="0">
                <a:latin typeface="Arial" pitchFamily="34" charset="0"/>
                <a:cs typeface="Arial" pitchFamily="34" charset="0"/>
              </a:rPr>
              <a:t>redressal</a:t>
            </a:r>
            <a:endParaRPr lang="en-US" sz="1200" dirty="0" smtClean="0">
              <a:latin typeface="Arial" pitchFamily="34" charset="0"/>
              <a:cs typeface="Arial" pitchFamily="34" charset="0"/>
            </a:endParaRPr>
          </a:p>
          <a:p>
            <a:pPr marL="342900" indent="-342900">
              <a:spcAft>
                <a:spcPts val="600"/>
              </a:spcAft>
              <a:buSzPct val="100000"/>
            </a:pPr>
            <a:r>
              <a:rPr lang="en-US" sz="1200" dirty="0" smtClean="0">
                <a:latin typeface="Arial" pitchFamily="34" charset="0"/>
                <a:cs typeface="Arial" pitchFamily="34" charset="0"/>
              </a:rPr>
              <a:t>➤ Research on psychological impact of violence, discrimination and trauma</a:t>
            </a:r>
          </a:p>
          <a:p>
            <a:pPr marL="342900" indent="-342900">
              <a:buSzPct val="100000"/>
              <a:buChar char="•"/>
            </a:pPr>
            <a:endParaRPr lang="en-US" sz="1200" dirty="0" smtClean="0">
              <a:solidFill>
                <a:srgbClr val="000000"/>
              </a:solidFill>
              <a:latin typeface="Arial" pitchFamily="34" charset="0"/>
              <a:ea typeface="Arial" pitchFamily="34" charset="-122"/>
              <a:cs typeface="Arial" pitchFamily="34" charset="-120"/>
            </a:endParaRPr>
          </a:p>
          <a:p>
            <a:pPr marL="342900" indent="-342900">
              <a:buSzPct val="100000"/>
              <a:buChar char="•"/>
            </a:pPr>
            <a:endParaRPr lang="en-US" sz="1200" dirty="0"/>
          </a:p>
        </p:txBody>
      </p:sp>
      <p:sp>
        <p:nvSpPr>
          <p:cNvPr id="11" name="Text 9"/>
          <p:cNvSpPr txBox="1"/>
          <p:nvPr/>
        </p:nvSpPr>
        <p:spPr>
          <a:xfrm>
            <a:off x="8867454" y="3543300"/>
            <a:ext cx="2839091" cy="685800"/>
          </a:xfrm>
          <a:prstGeom prst="rect">
            <a:avLst/>
          </a:prstGeom>
          <a:noFill/>
          <a:ln/>
        </p:spPr>
        <p:txBody>
          <a:bodyPr wrap="square" lIns="0" tIns="0" rIns="0" bIns="0" rtlCol="0" anchor="ctr"/>
          <a:lstStyle/>
          <a:p>
            <a:pPr marL="342900" indent="-342900">
              <a:spcAft>
                <a:spcPts val="600"/>
              </a:spcAft>
              <a:buSzPct val="100000"/>
            </a:pPr>
            <a:endParaRPr lang="en-US" sz="1200" b="1" dirty="0">
              <a:latin typeface="Arial" pitchFamily="34" charset="0"/>
              <a:cs typeface="Arial" pitchFamily="34" charset="0"/>
            </a:endParaRPr>
          </a:p>
        </p:txBody>
      </p:sp>
      <p:sp>
        <p:nvSpPr>
          <p:cNvPr id="12" name="Text 10"/>
          <p:cNvSpPr txBox="1"/>
          <p:nvPr/>
        </p:nvSpPr>
        <p:spPr>
          <a:xfrm>
            <a:off x="320040" y="2606040"/>
            <a:ext cx="4114800" cy="1554480"/>
          </a:xfrm>
          <a:prstGeom prst="rect">
            <a:avLst/>
          </a:prstGeom>
          <a:noFill/>
          <a:ln/>
        </p:spPr>
        <p:txBody>
          <a:bodyPr wrap="square" lIns="0" tIns="0" rIns="0" bIns="0" rtlCol="0" anchor="ctr"/>
          <a:lstStyle/>
          <a:p>
            <a:pPr marL="342900" indent="-342900">
              <a:buSzPct val="100000"/>
            </a:pPr>
            <a:r>
              <a:rPr lang="en-US" dirty="0" smtClean="0">
                <a:solidFill>
                  <a:srgbClr val="000000"/>
                </a:solidFill>
                <a:latin typeface="Arial" pitchFamily="34" charset="0"/>
                <a:ea typeface="Arial" pitchFamily="34" charset="-122"/>
                <a:cs typeface="Arial" pitchFamily="34" charset="-120"/>
              </a:rPr>
              <a:t>#  </a:t>
            </a:r>
            <a:r>
              <a:rPr lang="en-US" sz="1600" b="1" dirty="0" smtClean="0">
                <a:solidFill>
                  <a:srgbClr val="000000"/>
                </a:solidFill>
                <a:latin typeface="Arial" pitchFamily="34" charset="0"/>
                <a:ea typeface="Arial" pitchFamily="34" charset="-122"/>
                <a:cs typeface="Arial" pitchFamily="34" charset="-120"/>
              </a:rPr>
              <a:t>AI </a:t>
            </a:r>
            <a:r>
              <a:rPr lang="en-US" sz="1600" b="1" dirty="0" smtClean="0">
                <a:solidFill>
                  <a:srgbClr val="000000"/>
                </a:solidFill>
                <a:latin typeface="Arial" pitchFamily="34" charset="0"/>
                <a:ea typeface="Arial" pitchFamily="34" charset="-122"/>
                <a:cs typeface="Arial" pitchFamily="34" charset="-120"/>
              </a:rPr>
              <a:t>/ ML </a:t>
            </a:r>
            <a:r>
              <a:rPr lang="en-US" sz="1600" b="1" dirty="0" smtClean="0">
                <a:solidFill>
                  <a:srgbClr val="000000"/>
                </a:solidFill>
                <a:latin typeface="Arial" pitchFamily="34" charset="0"/>
                <a:ea typeface="Arial" pitchFamily="34" charset="-122"/>
                <a:cs typeface="Arial" pitchFamily="34" charset="-120"/>
              </a:rPr>
              <a:t>Research:</a:t>
            </a:r>
            <a:endParaRPr lang="en-US" b="1" dirty="0" smtClean="0">
              <a:solidFill>
                <a:srgbClr val="000000"/>
              </a:solidFill>
              <a:latin typeface="Arial" pitchFamily="34" charset="0"/>
              <a:ea typeface="Arial" pitchFamily="34" charset="-122"/>
              <a:cs typeface="Arial" pitchFamily="34" charset="-120"/>
            </a:endParaRPr>
          </a:p>
          <a:p>
            <a:pPr marL="342900" indent="-342900">
              <a:buSzPct val="100000"/>
            </a:pPr>
            <a:r>
              <a:rPr lang="en-US" sz="1200" dirty="0" smtClean="0">
                <a:latin typeface="Arial" pitchFamily="34" charset="0"/>
                <a:cs typeface="Arial" pitchFamily="34" charset="0"/>
              </a:rPr>
              <a:t>➤ Transformer-based </a:t>
            </a:r>
            <a:r>
              <a:rPr lang="en-US" sz="1200" dirty="0" smtClean="0">
                <a:latin typeface="Arial" pitchFamily="34" charset="0"/>
                <a:cs typeface="Arial" pitchFamily="34" charset="0"/>
              </a:rPr>
              <a:t>NLP </a:t>
            </a:r>
            <a:r>
              <a:rPr lang="en-US" sz="1200" dirty="0" smtClean="0">
                <a:latin typeface="Arial" pitchFamily="34" charset="0"/>
                <a:cs typeface="Arial" pitchFamily="34" charset="0"/>
              </a:rPr>
              <a:t>models</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Emotion and sentiment </a:t>
            </a:r>
            <a:r>
              <a:rPr lang="en-US" sz="1200" dirty="0" smtClean="0">
                <a:latin typeface="Arial" pitchFamily="34" charset="0"/>
                <a:cs typeface="Arial" pitchFamily="34" charset="0"/>
              </a:rPr>
              <a:t>recognition</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Stress detection from conversational </a:t>
            </a:r>
            <a:r>
              <a:rPr lang="en-US" sz="1200" dirty="0" smtClean="0">
                <a:latin typeface="Arial" pitchFamily="34" charset="0"/>
                <a:cs typeface="Arial" pitchFamily="34" charset="0"/>
              </a:rPr>
              <a:t>data</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Speech emotion </a:t>
            </a:r>
            <a:r>
              <a:rPr lang="en-US" sz="1200" dirty="0" smtClean="0">
                <a:latin typeface="Arial" pitchFamily="34" charset="0"/>
                <a:cs typeface="Arial" pitchFamily="34" charset="0"/>
              </a:rPr>
              <a:t>recognition</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Multimodal affective </a:t>
            </a:r>
            <a:r>
              <a:rPr lang="en-US" sz="1200" dirty="0" smtClean="0">
                <a:latin typeface="Arial" pitchFamily="34" charset="0"/>
                <a:cs typeface="Arial" pitchFamily="34" charset="0"/>
              </a:rPr>
              <a:t>computing</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Risk classification and human-in-the-loop AI</a:t>
            </a:r>
            <a:endParaRPr lang="en-US" sz="1200" dirty="0">
              <a:latin typeface="Arial" pitchFamily="34" charset="0"/>
              <a:cs typeface="Arial" pitchFamily="34" charset="0"/>
            </a:endParaRPr>
          </a:p>
        </p:txBody>
      </p:sp>
      <p:sp>
        <p:nvSpPr>
          <p:cNvPr id="13" name="Text 11"/>
          <p:cNvSpPr txBox="1"/>
          <p:nvPr/>
        </p:nvSpPr>
        <p:spPr>
          <a:xfrm>
            <a:off x="320040" y="4290524"/>
            <a:ext cx="3474720" cy="2158828"/>
          </a:xfrm>
          <a:prstGeom prst="rect">
            <a:avLst/>
          </a:prstGeom>
          <a:noFill/>
          <a:ln/>
        </p:spPr>
        <p:txBody>
          <a:bodyPr wrap="square" lIns="0" tIns="0" rIns="0" bIns="0" rtlCol="0" anchor="ctr"/>
          <a:lstStyle/>
          <a:p>
            <a:pPr marL="342900" indent="-342900">
              <a:spcAft>
                <a:spcPts val="600"/>
              </a:spcAft>
              <a:buSzPct val="100000"/>
            </a:pPr>
            <a:r>
              <a:rPr lang="en-US" sz="1600" b="1" dirty="0" smtClean="0">
                <a:latin typeface="Arial" pitchFamily="34" charset="0"/>
                <a:cs typeface="Arial" pitchFamily="34" charset="0"/>
              </a:rPr>
              <a:t>#Technology Research:</a:t>
            </a:r>
          </a:p>
          <a:p>
            <a:pPr marL="342900" indent="-342900">
              <a:spcAft>
                <a:spcPts val="600"/>
              </a:spcAft>
              <a:buSzPct val="100000"/>
            </a:pPr>
            <a:r>
              <a:rPr lang="en-US" sz="1200" dirty="0" smtClean="0">
                <a:latin typeface="Arial" pitchFamily="34" charset="0"/>
                <a:cs typeface="Arial" pitchFamily="34" charset="0"/>
              </a:rPr>
              <a:t>➤ Python</a:t>
            </a:r>
          </a:p>
          <a:p>
            <a:pPr marL="342900" indent="-342900">
              <a:spcAft>
                <a:spcPts val="600"/>
              </a:spcAft>
              <a:buSzPct val="100000"/>
            </a:pPr>
            <a:r>
              <a:rPr lang="en-US" sz="1200" dirty="0" smtClean="0">
                <a:latin typeface="Arial" pitchFamily="34" charset="0"/>
                <a:cs typeface="Arial" pitchFamily="34" charset="0"/>
              </a:rPr>
              <a:t>➤ </a:t>
            </a:r>
            <a:r>
              <a:rPr lang="en-US" sz="1200" dirty="0" err="1" smtClean="0">
                <a:latin typeface="Arial" pitchFamily="34" charset="0"/>
                <a:cs typeface="Arial" pitchFamily="34" charset="0"/>
              </a:rPr>
              <a:t>PyTorch</a:t>
            </a:r>
            <a:r>
              <a:rPr lang="en-US" sz="1200" dirty="0" smtClean="0">
                <a:latin typeface="Arial" pitchFamily="34" charset="0"/>
                <a:cs typeface="Arial" pitchFamily="34" charset="0"/>
              </a:rPr>
              <a:t> / </a:t>
            </a:r>
            <a:r>
              <a:rPr lang="en-US" sz="1200" dirty="0" err="1" smtClean="0">
                <a:latin typeface="Arial" pitchFamily="34" charset="0"/>
                <a:cs typeface="Arial" pitchFamily="34" charset="0"/>
              </a:rPr>
              <a:t>TensorFlow</a:t>
            </a:r>
            <a:endParaRPr lang="en-US" sz="1200" dirty="0" smtClean="0">
              <a:latin typeface="Arial" pitchFamily="34" charset="0"/>
              <a:cs typeface="Arial" pitchFamily="34" charset="0"/>
            </a:endParaRP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Hugging </a:t>
            </a:r>
            <a:r>
              <a:rPr lang="en-US" sz="1200" dirty="0" smtClean="0">
                <a:latin typeface="Arial" pitchFamily="34" charset="0"/>
                <a:cs typeface="Arial" pitchFamily="34" charset="0"/>
              </a:rPr>
              <a:t>Face</a:t>
            </a:r>
          </a:p>
          <a:p>
            <a:pPr marL="342900" indent="-342900">
              <a:spcAft>
                <a:spcPts val="600"/>
              </a:spcAft>
              <a:buSzPct val="100000"/>
            </a:pPr>
            <a:r>
              <a:rPr lang="en-US" sz="1200" dirty="0" smtClean="0">
                <a:latin typeface="Arial" pitchFamily="34" charset="0"/>
                <a:cs typeface="Arial" pitchFamily="34" charset="0"/>
              </a:rPr>
              <a:t>➤ </a:t>
            </a:r>
            <a:r>
              <a:rPr lang="en-US" sz="1200" dirty="0" err="1" smtClean="0">
                <a:latin typeface="Arial" pitchFamily="34" charset="0"/>
                <a:cs typeface="Arial" pitchFamily="34" charset="0"/>
              </a:rPr>
              <a:t>FastAPI</a:t>
            </a:r>
            <a:r>
              <a:rPr lang="en-US" sz="1200" dirty="0" smtClean="0">
                <a:latin typeface="Arial" pitchFamily="34" charset="0"/>
                <a:cs typeface="Arial" pitchFamily="34" charset="0"/>
              </a:rPr>
              <a:t> / </a:t>
            </a:r>
            <a:r>
              <a:rPr lang="en-US" sz="1200" dirty="0" smtClean="0">
                <a:latin typeface="Arial" pitchFamily="34" charset="0"/>
                <a:cs typeface="Arial" pitchFamily="34" charset="0"/>
              </a:rPr>
              <a:t>Node.js</a:t>
            </a: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React / </a:t>
            </a:r>
            <a:r>
              <a:rPr lang="en-US" sz="1200" dirty="0" smtClean="0">
                <a:latin typeface="Arial" pitchFamily="34" charset="0"/>
                <a:cs typeface="Arial" pitchFamily="34" charset="0"/>
              </a:rPr>
              <a:t>Next.js</a:t>
            </a:r>
          </a:p>
          <a:p>
            <a:pPr marL="342900" indent="-342900">
              <a:spcAft>
                <a:spcPts val="600"/>
              </a:spcAft>
              <a:buSzPct val="100000"/>
            </a:pPr>
            <a:r>
              <a:rPr lang="en-US" sz="1200" dirty="0" smtClean="0">
                <a:latin typeface="Arial" pitchFamily="34" charset="0"/>
                <a:cs typeface="Arial" pitchFamily="34" charset="0"/>
              </a:rPr>
              <a:t>➤ </a:t>
            </a:r>
            <a:r>
              <a:rPr lang="en-US" sz="1200" dirty="0" err="1" smtClean="0">
                <a:latin typeface="Arial" pitchFamily="34" charset="0"/>
                <a:cs typeface="Arial" pitchFamily="34" charset="0"/>
              </a:rPr>
              <a:t>PostgreSQL</a:t>
            </a:r>
            <a:endParaRPr lang="en-US" sz="1200" dirty="0" smtClean="0">
              <a:latin typeface="Arial" pitchFamily="34" charset="0"/>
              <a:cs typeface="Arial" pitchFamily="34" charset="0"/>
            </a:endParaRP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Cloud infrastructure</a:t>
            </a:r>
            <a:endParaRPr lang="en-US" sz="1200" dirty="0">
              <a:latin typeface="Arial" pitchFamily="34" charset="0"/>
              <a:cs typeface="Arial" pitchFamily="34" charset="0"/>
            </a:endParaRPr>
          </a:p>
        </p:txBody>
      </p:sp>
      <p:sp>
        <p:nvSpPr>
          <p:cNvPr id="15" name="Text 13"/>
          <p:cNvSpPr txBox="1"/>
          <p:nvPr/>
        </p:nvSpPr>
        <p:spPr>
          <a:xfrm>
            <a:off x="7452360" y="3246120"/>
            <a:ext cx="1005840" cy="640080"/>
          </a:xfrm>
          <a:prstGeom prst="rect">
            <a:avLst/>
          </a:prstGeom>
          <a:noFill/>
          <a:ln/>
        </p:spPr>
        <p:txBody>
          <a:bodyPr wrap="square" lIns="0" tIns="0" rIns="0" bIns="0" rtlCol="0" anchor="ctr"/>
          <a:lstStyle/>
          <a:p>
            <a:pPr marL="0" indent="0" algn="ctr">
              <a:buNone/>
            </a:pPr>
            <a:endParaRPr lang="en-US" sz="800" dirty="0"/>
          </a:p>
        </p:txBody>
      </p:sp>
      <p:sp>
        <p:nvSpPr>
          <p:cNvPr id="17" name="Text 15"/>
          <p:cNvSpPr txBox="1"/>
          <p:nvPr/>
        </p:nvSpPr>
        <p:spPr>
          <a:xfrm>
            <a:off x="7452360" y="2057400"/>
            <a:ext cx="1005840" cy="548640"/>
          </a:xfrm>
          <a:prstGeom prst="rect">
            <a:avLst/>
          </a:prstGeom>
          <a:noFill/>
          <a:ln/>
        </p:spPr>
        <p:txBody>
          <a:bodyPr wrap="square" lIns="0" tIns="0" rIns="0" bIns="0" rtlCol="0" anchor="ctr"/>
          <a:lstStyle/>
          <a:p>
            <a:pPr marL="0" indent="0" algn="ctr">
              <a:buNone/>
            </a:pPr>
            <a:endParaRPr lang="en-US" sz="800" dirty="0"/>
          </a:p>
        </p:txBody>
      </p:sp>
      <p:sp>
        <p:nvSpPr>
          <p:cNvPr id="19" name="Text 17"/>
          <p:cNvSpPr txBox="1"/>
          <p:nvPr/>
        </p:nvSpPr>
        <p:spPr>
          <a:xfrm>
            <a:off x="8626382" y="2910377"/>
            <a:ext cx="1005840" cy="548640"/>
          </a:xfrm>
          <a:prstGeom prst="rect">
            <a:avLst/>
          </a:prstGeom>
          <a:noFill/>
          <a:ln/>
        </p:spPr>
        <p:txBody>
          <a:bodyPr wrap="square" lIns="0" tIns="0" rIns="0" bIns="0" rtlCol="0" anchor="ctr"/>
          <a:lstStyle/>
          <a:p>
            <a:pPr marL="0" indent="0" algn="ctr">
              <a:buNone/>
            </a:pPr>
            <a:endParaRPr lang="en-US" sz="800" dirty="0"/>
          </a:p>
        </p:txBody>
      </p:sp>
      <p:sp>
        <p:nvSpPr>
          <p:cNvPr id="21" name="Text 19"/>
          <p:cNvSpPr txBox="1"/>
          <p:nvPr/>
        </p:nvSpPr>
        <p:spPr>
          <a:xfrm>
            <a:off x="8177946" y="4290523"/>
            <a:ext cx="1005840" cy="548640"/>
          </a:xfrm>
          <a:prstGeom prst="rect">
            <a:avLst/>
          </a:prstGeom>
          <a:noFill/>
          <a:ln/>
        </p:spPr>
        <p:txBody>
          <a:bodyPr wrap="square" lIns="0" tIns="0" rIns="0" bIns="0" rtlCol="0" anchor="ctr"/>
          <a:lstStyle/>
          <a:p>
            <a:pPr marL="0" indent="0" algn="ctr">
              <a:buNone/>
            </a:pPr>
            <a:endParaRPr lang="en-US" sz="800" dirty="0"/>
          </a:p>
        </p:txBody>
      </p:sp>
      <p:sp>
        <p:nvSpPr>
          <p:cNvPr id="23" name="Text 21"/>
          <p:cNvSpPr txBox="1"/>
          <p:nvPr/>
        </p:nvSpPr>
        <p:spPr>
          <a:xfrm>
            <a:off x="6726774" y="4290523"/>
            <a:ext cx="1005840" cy="548640"/>
          </a:xfrm>
          <a:prstGeom prst="rect">
            <a:avLst/>
          </a:prstGeom>
          <a:noFill/>
          <a:ln/>
        </p:spPr>
        <p:txBody>
          <a:bodyPr wrap="square" lIns="0" tIns="0" rIns="0" bIns="0" rtlCol="0" anchor="ctr"/>
          <a:lstStyle/>
          <a:p>
            <a:pPr marL="0" indent="0" algn="ctr">
              <a:buNone/>
            </a:pPr>
            <a:endParaRPr lang="en-US" sz="800" dirty="0"/>
          </a:p>
        </p:txBody>
      </p:sp>
      <p:sp>
        <p:nvSpPr>
          <p:cNvPr id="25" name="Text 23"/>
          <p:cNvSpPr txBox="1"/>
          <p:nvPr/>
        </p:nvSpPr>
        <p:spPr>
          <a:xfrm>
            <a:off x="6278338" y="2910377"/>
            <a:ext cx="1005840" cy="548640"/>
          </a:xfrm>
          <a:prstGeom prst="rect">
            <a:avLst/>
          </a:prstGeom>
          <a:noFill/>
          <a:ln/>
        </p:spPr>
        <p:txBody>
          <a:bodyPr wrap="square" lIns="0" tIns="0" rIns="0" bIns="0" rtlCol="0" anchor="ctr"/>
          <a:lstStyle/>
          <a:p>
            <a:pPr marL="0" indent="0" algn="ctr">
              <a:buNone/>
            </a:pPr>
            <a:endParaRPr lang="en-US" sz="800" dirty="0"/>
          </a:p>
        </p:txBody>
      </p:sp>
      <p:sp>
        <p:nvSpPr>
          <p:cNvPr id="26" name="Text 24"/>
          <p:cNvSpPr txBox="1"/>
          <p:nvPr/>
        </p:nvSpPr>
        <p:spPr>
          <a:xfrm>
            <a:off x="9464040" y="3291840"/>
            <a:ext cx="822960" cy="274320"/>
          </a:xfrm>
          <a:prstGeom prst="rect">
            <a:avLst/>
          </a:prstGeom>
          <a:noFill/>
          <a:ln/>
        </p:spPr>
        <p:txBody>
          <a:bodyPr wrap="square" lIns="0" tIns="0" rIns="0" bIns="0" rtlCol="0" anchor="ctr"/>
          <a:lstStyle/>
          <a:p>
            <a:pPr marL="0" indent="0">
              <a:buNone/>
            </a:pPr>
            <a:endParaRPr lang="en-US" sz="1100" dirty="0"/>
          </a:p>
        </p:txBody>
      </p:sp>
      <p:sp>
        <p:nvSpPr>
          <p:cNvPr id="27" name="Text 25"/>
          <p:cNvSpPr txBox="1"/>
          <p:nvPr/>
        </p:nvSpPr>
        <p:spPr>
          <a:xfrm>
            <a:off x="6947214" y="1033272"/>
            <a:ext cx="3614106" cy="451211"/>
          </a:xfrm>
          <a:prstGeom prst="rect">
            <a:avLst/>
          </a:prstGeom>
          <a:noFill/>
          <a:ln/>
        </p:spPr>
        <p:txBody>
          <a:bodyPr wrap="square" lIns="0" tIns="0" rIns="0" bIns="0" rtlCol="0" anchor="t"/>
          <a:lstStyle/>
          <a:p>
            <a:pPr>
              <a:spcAft>
                <a:spcPts val="1000"/>
              </a:spcAft>
            </a:pPr>
            <a:r>
              <a:rPr lang="en-US" b="1" dirty="0" smtClean="0">
                <a:solidFill>
                  <a:srgbClr val="000000"/>
                </a:solidFill>
                <a:latin typeface="Arial" pitchFamily="34" charset="0"/>
                <a:ea typeface="Arial" pitchFamily="34" charset="-122"/>
                <a:cs typeface="Arial" pitchFamily="34" charset="0"/>
              </a:rPr>
              <a:t>TECHNICAL </a:t>
            </a:r>
            <a:r>
              <a:rPr lang="en-US" b="1" dirty="0" smtClean="0">
                <a:solidFill>
                  <a:srgbClr val="000000"/>
                </a:solidFill>
                <a:latin typeface="Arial" pitchFamily="34" charset="0"/>
                <a:ea typeface="Arial" pitchFamily="34" charset="-122"/>
                <a:cs typeface="Arial" pitchFamily="34" charset="0"/>
              </a:rPr>
              <a:t>APPROACH</a:t>
            </a:r>
          </a:p>
          <a:p>
            <a:pPr>
              <a:spcAft>
                <a:spcPts val="1000"/>
              </a:spcAft>
            </a:pPr>
            <a:endParaRPr lang="en-US" b="1" dirty="0">
              <a:latin typeface="Arial" pitchFamily="34" charset="0"/>
              <a:cs typeface="Arial" pitchFamily="34" charset="0"/>
            </a:endParaRPr>
          </a:p>
        </p:txBody>
      </p:sp>
      <p:pic>
        <p:nvPicPr>
          <p:cNvPr id="28" name="Picture 27" descr="side logo.jpg"/>
          <p:cNvPicPr>
            <a:picLocks noChangeAspect="1"/>
          </p:cNvPicPr>
          <p:nvPr/>
        </p:nvPicPr>
        <p:blipFill>
          <a:blip r:embed="rId3"/>
          <a:stretch>
            <a:fillRect/>
          </a:stretch>
        </p:blipFill>
        <p:spPr>
          <a:xfrm>
            <a:off x="9984702" y="0"/>
            <a:ext cx="1811058" cy="824240"/>
          </a:xfrm>
          <a:prstGeom prst="rect">
            <a:avLst/>
          </a:prstGeom>
        </p:spPr>
      </p:pic>
      <p:pic>
        <p:nvPicPr>
          <p:cNvPr id="34" name="Picture 33" descr="sage image.jpg"/>
          <p:cNvPicPr>
            <a:picLocks noChangeAspect="1"/>
          </p:cNvPicPr>
          <p:nvPr/>
        </p:nvPicPr>
        <p:blipFill>
          <a:blip r:embed="rId4"/>
          <a:stretch>
            <a:fillRect/>
          </a:stretch>
        </p:blipFill>
        <p:spPr>
          <a:xfrm>
            <a:off x="605756" y="157734"/>
            <a:ext cx="1708566" cy="452214"/>
          </a:xfrm>
          <a:prstGeom prst="rect">
            <a:avLst/>
          </a:prstGeom>
        </p:spPr>
      </p:pic>
      <p:sp>
        <p:nvSpPr>
          <p:cNvPr id="36" name="TextBox 35"/>
          <p:cNvSpPr txBox="1"/>
          <p:nvPr/>
        </p:nvSpPr>
        <p:spPr>
          <a:xfrm>
            <a:off x="5614392" y="1484483"/>
            <a:ext cx="3011990" cy="307777"/>
          </a:xfrm>
          <a:prstGeom prst="rect">
            <a:avLst/>
          </a:prstGeom>
          <a:noFill/>
        </p:spPr>
        <p:txBody>
          <a:bodyPr wrap="square" rtlCol="0">
            <a:spAutoFit/>
          </a:bodyPr>
          <a:lstStyle/>
          <a:p>
            <a:pPr algn="ctr"/>
            <a:r>
              <a:rPr lang="en-US" sz="1400" b="1" dirty="0" smtClean="0"/>
              <a:t>AI /ML TECHNOLOGIES</a:t>
            </a:r>
            <a:endParaRPr lang="en-US" sz="1400" b="1" dirty="0"/>
          </a:p>
        </p:txBody>
      </p:sp>
      <p:sp>
        <p:nvSpPr>
          <p:cNvPr id="37" name="TextBox 36"/>
          <p:cNvSpPr txBox="1"/>
          <p:nvPr/>
        </p:nvSpPr>
        <p:spPr>
          <a:xfrm>
            <a:off x="6026543" y="1792260"/>
            <a:ext cx="4711588" cy="577081"/>
          </a:xfrm>
          <a:prstGeom prst="rect">
            <a:avLst/>
          </a:prstGeom>
          <a:noFill/>
          <a:ln>
            <a:solidFill>
              <a:schemeClr val="tx1"/>
            </a:solidFill>
          </a:ln>
        </p:spPr>
        <p:txBody>
          <a:bodyPr wrap="square" rtlCol="0">
            <a:spAutoFit/>
          </a:bodyPr>
          <a:lstStyle/>
          <a:p>
            <a:pPr algn="ctr"/>
            <a:r>
              <a:rPr lang="en-US" sz="1050" dirty="0" smtClean="0"/>
              <a:t>   </a:t>
            </a:r>
            <a:r>
              <a:rPr lang="en-US" sz="1050" b="1" dirty="0" smtClean="0">
                <a:latin typeface="Arial" pitchFamily="34" charset="0"/>
                <a:cs typeface="Arial" pitchFamily="34" charset="0"/>
              </a:rPr>
              <a:t>NLP / LLM</a:t>
            </a:r>
          </a:p>
          <a:p>
            <a:pPr algn="ctr"/>
            <a:r>
              <a:rPr lang="en-US" sz="1050" dirty="0" smtClean="0">
                <a:latin typeface="Arial" pitchFamily="34" charset="0"/>
                <a:cs typeface="Arial" pitchFamily="34" charset="0"/>
              </a:rPr>
              <a:t>Transformer-based language models • LLM-based conversational analysis</a:t>
            </a:r>
          </a:p>
          <a:p>
            <a:pPr algn="ctr"/>
            <a:r>
              <a:rPr lang="en-US" sz="1050" dirty="0" smtClean="0">
                <a:latin typeface="Arial" pitchFamily="34" charset="0"/>
                <a:cs typeface="Arial" pitchFamily="34" charset="0"/>
              </a:rPr>
              <a:t>Sentiment &amp; emotion analysis • Context-aware distress </a:t>
            </a:r>
            <a:r>
              <a:rPr lang="en-US" sz="1050" dirty="0" smtClean="0">
                <a:latin typeface="Arial" pitchFamily="34" charset="0"/>
                <a:cs typeface="Arial" pitchFamily="34" charset="0"/>
              </a:rPr>
              <a:t>detection</a:t>
            </a:r>
            <a:endParaRPr lang="en-US" dirty="0"/>
          </a:p>
        </p:txBody>
      </p:sp>
      <p:sp>
        <p:nvSpPr>
          <p:cNvPr id="38" name="TextBox 37"/>
          <p:cNvSpPr txBox="1"/>
          <p:nvPr/>
        </p:nvSpPr>
        <p:spPr>
          <a:xfrm>
            <a:off x="6026543" y="2495467"/>
            <a:ext cx="4711588" cy="530915"/>
          </a:xfrm>
          <a:prstGeom prst="rect">
            <a:avLst/>
          </a:prstGeom>
          <a:noFill/>
          <a:ln>
            <a:solidFill>
              <a:schemeClr val="tx1"/>
            </a:solidFill>
          </a:ln>
        </p:spPr>
        <p:txBody>
          <a:bodyPr wrap="square" rtlCol="0">
            <a:spAutoFit/>
          </a:bodyPr>
          <a:lstStyle/>
          <a:p>
            <a:r>
              <a:rPr lang="en-US" b="1" dirty="0" smtClean="0"/>
              <a:t>                                 </a:t>
            </a:r>
            <a:r>
              <a:rPr lang="en-US" sz="1050" b="1" dirty="0" smtClean="0">
                <a:latin typeface="Arial" pitchFamily="34" charset="0"/>
                <a:cs typeface="Arial" pitchFamily="34" charset="0"/>
              </a:rPr>
              <a:t>SPEECH AI</a:t>
            </a:r>
            <a:endParaRPr lang="en-US" sz="1050" dirty="0" smtClean="0">
              <a:latin typeface="Arial" pitchFamily="34" charset="0"/>
              <a:cs typeface="Arial" pitchFamily="34" charset="0"/>
            </a:endParaRPr>
          </a:p>
          <a:p>
            <a:pPr algn="ctr"/>
            <a:r>
              <a:rPr lang="en-US" sz="1050" dirty="0" smtClean="0">
                <a:latin typeface="Arial" pitchFamily="34" charset="0"/>
                <a:cs typeface="Arial" pitchFamily="34" charset="0"/>
              </a:rPr>
              <a:t>Speech-to-Text • Voice feature extraction • Prosodic/emotional indicators</a:t>
            </a:r>
            <a:endParaRPr lang="en-US" sz="1050" dirty="0">
              <a:latin typeface="Arial" pitchFamily="34" charset="0"/>
              <a:cs typeface="Arial" pitchFamily="34" charset="0"/>
            </a:endParaRPr>
          </a:p>
        </p:txBody>
      </p:sp>
      <p:sp>
        <p:nvSpPr>
          <p:cNvPr id="39" name="TextBox 38"/>
          <p:cNvSpPr txBox="1"/>
          <p:nvPr/>
        </p:nvSpPr>
        <p:spPr>
          <a:xfrm>
            <a:off x="6026543" y="3221801"/>
            <a:ext cx="4787451" cy="661720"/>
          </a:xfrm>
          <a:prstGeom prst="rect">
            <a:avLst/>
          </a:prstGeom>
          <a:noFill/>
          <a:ln>
            <a:solidFill>
              <a:schemeClr val="tx1"/>
            </a:solidFill>
          </a:ln>
        </p:spPr>
        <p:txBody>
          <a:bodyPr wrap="square" rtlCol="0">
            <a:spAutoFit/>
          </a:bodyPr>
          <a:lstStyle/>
          <a:p>
            <a:r>
              <a:rPr lang="en-US" sz="1600" b="1" dirty="0" smtClean="0">
                <a:latin typeface="Arial" pitchFamily="34" charset="0"/>
                <a:cs typeface="Arial" pitchFamily="34" charset="0"/>
              </a:rPr>
              <a:t>                    </a:t>
            </a:r>
            <a:r>
              <a:rPr lang="en-US" sz="1050" b="1" dirty="0" smtClean="0">
                <a:latin typeface="Arial" pitchFamily="34" charset="0"/>
                <a:cs typeface="Arial" pitchFamily="34" charset="0"/>
              </a:rPr>
              <a:t>MACHINE </a:t>
            </a:r>
            <a:r>
              <a:rPr lang="en-US" sz="1050" b="1" dirty="0" smtClean="0">
                <a:latin typeface="Arial" pitchFamily="34" charset="0"/>
                <a:cs typeface="Arial" pitchFamily="34" charset="0"/>
              </a:rPr>
              <a:t>LEARNING</a:t>
            </a:r>
            <a:endParaRPr lang="en-US" sz="1050" dirty="0" smtClean="0">
              <a:latin typeface="Arial" pitchFamily="34" charset="0"/>
              <a:cs typeface="Arial" pitchFamily="34" charset="0"/>
            </a:endParaRPr>
          </a:p>
          <a:p>
            <a:pPr algn="ctr"/>
            <a:r>
              <a:rPr lang="en-US" sz="1050" dirty="0" smtClean="0">
                <a:latin typeface="Arial" pitchFamily="34" charset="0"/>
                <a:cs typeface="Arial" pitchFamily="34" charset="0"/>
              </a:rPr>
              <a:t>Stress classification • Trauma-risk classification</a:t>
            </a:r>
          </a:p>
          <a:p>
            <a:pPr algn="ctr"/>
            <a:r>
              <a:rPr lang="en-US" sz="1050" dirty="0" smtClean="0">
                <a:latin typeface="Arial" pitchFamily="34" charset="0"/>
                <a:cs typeface="Arial" pitchFamily="34" charset="0"/>
              </a:rPr>
              <a:t>Risk scoring • Anomaly/high-risk </a:t>
            </a:r>
            <a:r>
              <a:rPr lang="en-US" sz="1050" dirty="0" smtClean="0">
                <a:latin typeface="Arial" pitchFamily="34" charset="0"/>
                <a:cs typeface="Arial" pitchFamily="34" charset="0"/>
              </a:rPr>
              <a:t>detection</a:t>
            </a:r>
            <a:endParaRPr lang="en-US" dirty="0"/>
          </a:p>
        </p:txBody>
      </p:sp>
      <p:cxnSp>
        <p:nvCxnSpPr>
          <p:cNvPr id="41" name="Straight Connector 40"/>
          <p:cNvCxnSpPr/>
          <p:nvPr/>
        </p:nvCxnSpPr>
        <p:spPr>
          <a:xfrm flipV="1">
            <a:off x="5614392" y="3989373"/>
            <a:ext cx="5649721" cy="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026543" y="3989374"/>
            <a:ext cx="3699541" cy="1384995"/>
          </a:xfrm>
          <a:prstGeom prst="rect">
            <a:avLst/>
          </a:prstGeom>
          <a:noFill/>
        </p:spPr>
        <p:txBody>
          <a:bodyPr wrap="square" rtlCol="0">
            <a:spAutoFit/>
          </a:bodyPr>
          <a:lstStyle/>
          <a:p>
            <a:r>
              <a:rPr lang="en-US" sz="1050" b="1" dirty="0" smtClean="0">
                <a:latin typeface="Arial" pitchFamily="34" charset="0"/>
                <a:cs typeface="Arial" pitchFamily="34" charset="0"/>
              </a:rPr>
              <a:t>APPLICATION </a:t>
            </a:r>
            <a:r>
              <a:rPr lang="en-US" sz="1050" b="1" dirty="0" smtClean="0">
                <a:latin typeface="Arial" pitchFamily="34" charset="0"/>
                <a:cs typeface="Arial" pitchFamily="34" charset="0"/>
              </a:rPr>
              <a:t>TECHNOLOGIES</a:t>
            </a:r>
            <a:endParaRPr lang="en-US" sz="1050" dirty="0" smtClean="0">
              <a:latin typeface="Arial" pitchFamily="34" charset="0"/>
              <a:cs typeface="Arial" pitchFamily="34" charset="0"/>
            </a:endParaRPr>
          </a:p>
          <a:p>
            <a:r>
              <a:rPr lang="en-US" sz="1050" b="1" dirty="0" smtClean="0">
                <a:latin typeface="Arial" pitchFamily="34" charset="0"/>
                <a:cs typeface="Arial" pitchFamily="34" charset="0"/>
              </a:rPr>
              <a:t>Frontend:</a:t>
            </a:r>
            <a:r>
              <a:rPr lang="en-US" sz="1050" dirty="0" smtClean="0">
                <a:latin typeface="Arial" pitchFamily="34" charset="0"/>
                <a:cs typeface="Arial" pitchFamily="34" charset="0"/>
              </a:rPr>
              <a:t> React / Next.js</a:t>
            </a:r>
          </a:p>
          <a:p>
            <a:r>
              <a:rPr lang="en-US" sz="1050" b="1" dirty="0" smtClean="0">
                <a:latin typeface="Arial" pitchFamily="34" charset="0"/>
                <a:cs typeface="Arial" pitchFamily="34" charset="0"/>
              </a:rPr>
              <a:t>Backend:</a:t>
            </a:r>
            <a:r>
              <a:rPr lang="en-US" sz="1050" dirty="0" smtClean="0">
                <a:latin typeface="Arial" pitchFamily="34" charset="0"/>
                <a:cs typeface="Arial" pitchFamily="34" charset="0"/>
              </a:rPr>
              <a:t> </a:t>
            </a:r>
            <a:r>
              <a:rPr lang="en-US" sz="1050" dirty="0" err="1" smtClean="0">
                <a:latin typeface="Arial" pitchFamily="34" charset="0"/>
                <a:cs typeface="Arial" pitchFamily="34" charset="0"/>
              </a:rPr>
              <a:t>FastAPI</a:t>
            </a:r>
            <a:r>
              <a:rPr lang="en-US" sz="1050" dirty="0" smtClean="0">
                <a:latin typeface="Arial" pitchFamily="34" charset="0"/>
                <a:cs typeface="Arial" pitchFamily="34" charset="0"/>
              </a:rPr>
              <a:t> / Node.js</a:t>
            </a:r>
          </a:p>
          <a:p>
            <a:r>
              <a:rPr lang="en-US" sz="1050" b="1" dirty="0" smtClean="0">
                <a:latin typeface="Arial" pitchFamily="34" charset="0"/>
                <a:cs typeface="Arial" pitchFamily="34" charset="0"/>
              </a:rPr>
              <a:t>Database:</a:t>
            </a:r>
            <a:r>
              <a:rPr lang="en-US" sz="1050" dirty="0" smtClean="0">
                <a:latin typeface="Arial" pitchFamily="34" charset="0"/>
                <a:cs typeface="Arial" pitchFamily="34" charset="0"/>
              </a:rPr>
              <a:t> </a:t>
            </a:r>
            <a:r>
              <a:rPr lang="en-US" sz="1050" dirty="0" err="1" smtClean="0">
                <a:latin typeface="Arial" pitchFamily="34" charset="0"/>
                <a:cs typeface="Arial" pitchFamily="34" charset="0"/>
              </a:rPr>
              <a:t>PostgreSQL</a:t>
            </a:r>
            <a:endParaRPr lang="en-US" sz="1050" dirty="0" smtClean="0">
              <a:latin typeface="Arial" pitchFamily="34" charset="0"/>
              <a:cs typeface="Arial" pitchFamily="34" charset="0"/>
            </a:endParaRPr>
          </a:p>
          <a:p>
            <a:r>
              <a:rPr lang="en-US" sz="1050" b="1" dirty="0" smtClean="0">
                <a:latin typeface="Arial" pitchFamily="34" charset="0"/>
                <a:cs typeface="Arial" pitchFamily="34" charset="0"/>
              </a:rPr>
              <a:t>Authentication:</a:t>
            </a:r>
            <a:r>
              <a:rPr lang="en-US" sz="1050" dirty="0" smtClean="0">
                <a:latin typeface="Arial" pitchFamily="34" charset="0"/>
                <a:cs typeface="Arial" pitchFamily="34" charset="0"/>
              </a:rPr>
              <a:t> Secure role-based access</a:t>
            </a:r>
          </a:p>
          <a:p>
            <a:r>
              <a:rPr lang="en-US" sz="1050" b="1" dirty="0" smtClean="0">
                <a:latin typeface="Arial" pitchFamily="34" charset="0"/>
                <a:cs typeface="Arial" pitchFamily="34" charset="0"/>
              </a:rPr>
              <a:t>API Layer:</a:t>
            </a:r>
            <a:r>
              <a:rPr lang="en-US" sz="1050" dirty="0" smtClean="0">
                <a:latin typeface="Arial" pitchFamily="34" charset="0"/>
                <a:cs typeface="Arial" pitchFamily="34" charset="0"/>
              </a:rPr>
              <a:t> REST APIs</a:t>
            </a:r>
          </a:p>
          <a:p>
            <a:r>
              <a:rPr lang="en-US" sz="1050" b="1" dirty="0" smtClean="0">
                <a:latin typeface="Arial" pitchFamily="34" charset="0"/>
                <a:cs typeface="Arial" pitchFamily="34" charset="0"/>
              </a:rPr>
              <a:t>Deployment:</a:t>
            </a:r>
            <a:r>
              <a:rPr lang="en-US" sz="1050" dirty="0" smtClean="0">
                <a:latin typeface="Arial" pitchFamily="34" charset="0"/>
                <a:cs typeface="Arial" pitchFamily="34" charset="0"/>
              </a:rPr>
              <a:t> Cloud infrastructure</a:t>
            </a:r>
          </a:p>
          <a:p>
            <a:endParaRPr lang="en-US" sz="1050" dirty="0">
              <a:latin typeface="Arial" pitchFamily="34" charset="0"/>
              <a:cs typeface="Arial" pitchFamily="34" charset="0"/>
            </a:endParaRPr>
          </a:p>
        </p:txBody>
      </p:sp>
      <p:cxnSp>
        <p:nvCxnSpPr>
          <p:cNvPr id="47" name="Straight Connector 46"/>
          <p:cNvCxnSpPr/>
          <p:nvPr/>
        </p:nvCxnSpPr>
        <p:spPr>
          <a:xfrm>
            <a:off x="5614392" y="5204767"/>
            <a:ext cx="5819654" cy="1588"/>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6026543" y="5374369"/>
            <a:ext cx="4260457" cy="900246"/>
          </a:xfrm>
          <a:prstGeom prst="rect">
            <a:avLst/>
          </a:prstGeom>
          <a:noFill/>
        </p:spPr>
        <p:txBody>
          <a:bodyPr wrap="square" rtlCol="0">
            <a:spAutoFit/>
          </a:bodyPr>
          <a:lstStyle/>
          <a:p>
            <a:r>
              <a:rPr lang="en-US" sz="1050" b="1" dirty="0" smtClean="0">
                <a:latin typeface="Arial" pitchFamily="34" charset="0"/>
                <a:cs typeface="Arial" pitchFamily="34" charset="0"/>
              </a:rPr>
              <a:t>ADDITIONAL TECHNOLOGIES</a:t>
            </a:r>
            <a:endParaRPr lang="en-US" sz="1050" dirty="0" smtClean="0">
              <a:latin typeface="Arial" pitchFamily="34" charset="0"/>
              <a:cs typeface="Arial" pitchFamily="34" charset="0"/>
            </a:endParaRPr>
          </a:p>
          <a:p>
            <a:r>
              <a:rPr lang="en-US" sz="1050" dirty="0" smtClean="0">
                <a:latin typeface="Arial" pitchFamily="34" charset="0"/>
                <a:cs typeface="Arial" pitchFamily="34" charset="0"/>
              </a:rPr>
              <a:t>Python • </a:t>
            </a:r>
            <a:r>
              <a:rPr lang="en-US" sz="1050" dirty="0" err="1" smtClean="0">
                <a:latin typeface="Arial" pitchFamily="34" charset="0"/>
                <a:cs typeface="Arial" pitchFamily="34" charset="0"/>
              </a:rPr>
              <a:t>PyTorch</a:t>
            </a:r>
            <a:r>
              <a:rPr lang="en-US" sz="1050" dirty="0" smtClean="0">
                <a:latin typeface="Arial" pitchFamily="34" charset="0"/>
                <a:cs typeface="Arial" pitchFamily="34" charset="0"/>
              </a:rPr>
              <a:t> / </a:t>
            </a:r>
            <a:r>
              <a:rPr lang="en-US" sz="1050" dirty="0" err="1" smtClean="0">
                <a:latin typeface="Arial" pitchFamily="34" charset="0"/>
                <a:cs typeface="Arial" pitchFamily="34" charset="0"/>
              </a:rPr>
              <a:t>TensorFlow</a:t>
            </a:r>
            <a:r>
              <a:rPr lang="en-US" sz="1050" dirty="0" smtClean="0">
                <a:latin typeface="Arial" pitchFamily="34" charset="0"/>
                <a:cs typeface="Arial" pitchFamily="34" charset="0"/>
              </a:rPr>
              <a:t> • Hugging Face</a:t>
            </a:r>
          </a:p>
          <a:p>
            <a:r>
              <a:rPr lang="en-US" sz="1050" dirty="0" err="1" smtClean="0">
                <a:latin typeface="Arial" pitchFamily="34" charset="0"/>
                <a:cs typeface="Arial" pitchFamily="34" charset="0"/>
              </a:rPr>
              <a:t>OpenAI</a:t>
            </a:r>
            <a:r>
              <a:rPr lang="en-US" sz="1050" dirty="0" smtClean="0">
                <a:latin typeface="Arial" pitchFamily="34" charset="0"/>
                <a:cs typeface="Arial" pitchFamily="34" charset="0"/>
              </a:rPr>
              <a:t>-compatible </a:t>
            </a:r>
            <a:r>
              <a:rPr lang="en-US" sz="1050" dirty="0" smtClean="0">
                <a:latin typeface="Arial" pitchFamily="34" charset="0"/>
                <a:cs typeface="Arial" pitchFamily="34" charset="0"/>
              </a:rPr>
              <a:t>LLM/API layer (if used) • Speech-to-Text model</a:t>
            </a:r>
          </a:p>
          <a:p>
            <a:r>
              <a:rPr lang="en-US" sz="1050" dirty="0" smtClean="0">
                <a:latin typeface="Arial" pitchFamily="34" charset="0"/>
                <a:cs typeface="Arial" pitchFamily="34" charset="0"/>
              </a:rPr>
              <a:t>Encryption • Secure logging • Analytics dashboard</a:t>
            </a:r>
          </a:p>
          <a:p>
            <a:endParaRPr lang="en-US" sz="105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0" y="182880"/>
            <a:ext cx="7589520" cy="731520"/>
          </a:xfrm>
          <a:prstGeom prst="rect">
            <a:avLst/>
          </a:prstGeom>
          <a:noFill/>
        </p:spPr>
        <p:txBody>
          <a:bodyPr wrap="none">
            <a:spAutoFit/>
          </a:bodyPr>
          <a:lstStyle/>
          <a:p>
            <a:pPr algn="ctr">
              <a:defRPr sz="2200" b="1">
                <a:solidFill>
                  <a:srgbClr val="111827"/>
                </a:solidFill>
              </a:defRPr>
            </a:pPr>
            <a:r>
              <a:t>PROTOTYPE &amp; DEMONSTRATION</a:t>
            </a:r>
          </a:p>
        </p:txBody>
      </p:sp>
      <p:pic>
        <p:nvPicPr>
          <p:cNvPr id="3" name="Picture 2" descr="image.jpeg"/>
          <p:cNvPicPr>
            <a:picLocks noChangeAspect="1"/>
          </p:cNvPicPr>
          <p:nvPr/>
        </p:nvPicPr>
        <p:blipFill>
          <a:blip r:embed="rId2"/>
          <a:stretch>
            <a:fillRect/>
          </a:stretch>
        </p:blipFill>
        <p:spPr>
          <a:xfrm>
            <a:off x="9984702" y="0"/>
            <a:ext cx="1811058" cy="824240"/>
          </a:xfrm>
          <a:prstGeom prst="rect">
            <a:avLst/>
          </a:prstGeom>
        </p:spPr>
      </p:pic>
      <p:pic>
        <p:nvPicPr>
          <p:cNvPr id="4" name="Picture 3" descr="image.jpeg"/>
          <p:cNvPicPr>
            <a:picLocks noChangeAspect="1"/>
          </p:cNvPicPr>
          <p:nvPr/>
        </p:nvPicPr>
        <p:blipFill>
          <a:blip r:embed="rId3"/>
          <a:stretch>
            <a:fillRect/>
          </a:stretch>
        </p:blipFill>
        <p:spPr>
          <a:xfrm>
            <a:off x="605756" y="157734"/>
            <a:ext cx="1708566" cy="452214"/>
          </a:xfrm>
          <a:prstGeom prst="rect">
            <a:avLst/>
          </a:prstGeom>
        </p:spPr>
      </p:pic>
      <p:sp>
        <p:nvSpPr>
          <p:cNvPr id="5" name="Rounded Rectangle 4"/>
          <p:cNvSpPr/>
          <p:nvPr/>
        </p:nvSpPr>
        <p:spPr>
          <a:xfrm>
            <a:off x="548640" y="1097280"/>
            <a:ext cx="5303520" cy="5120640"/>
          </a:xfrm>
          <a:prstGeom prst="roundRect">
            <a:avLst/>
          </a:prstGeom>
          <a:solidFill>
            <a:srgbClr val="F8FAFC"/>
          </a:solidFill>
          <a:ln w="19050">
            <a:solidFill>
              <a:srgbClr val="CFD9E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sz="1500" b="1">
                <a:solidFill>
                  <a:srgbClr val="1E3A8A"/>
                </a:solidFill>
              </a:defRPr>
            </a:pPr>
            <a:r>
              <a:t>1️⃣  Victim Complainant Portal (Web / Mobile / IVRS)</a:t>
            </a:r>
          </a:p>
          <a:p>
            <a:pPr>
              <a:spcAft>
                <a:spcPts val="600"/>
              </a:spcAft>
              <a:defRPr b="1" sz="1100">
                <a:solidFill>
                  <a:srgbClr val="2D3748"/>
                </a:solidFill>
              </a:defRPr>
            </a:pPr>
            <a:r>
              <a:t>•  Multimodal Ingestion: </a:t>
            </a:r>
            <a:r>
              <a:rPr b="0">
                <a:solidFill>
                  <a:srgbClr val="4A5568"/>
                </a:solidFill>
              </a:rPr>
              <a:t>Accepts real-time microphone voice input, text chat, and automated telephony (IVRS) streams.</a:t>
            </a:r>
          </a:p>
          <a:p>
            <a:pPr>
              <a:spcAft>
                <a:spcPts val="600"/>
              </a:spcAft>
              <a:defRPr b="1" sz="1100">
                <a:solidFill>
                  <a:srgbClr val="2D3748"/>
                </a:solidFill>
              </a:defRPr>
            </a:pPr>
            <a:r>
              <a:t>•  Informed Consent &amp; Privacy Check: </a:t>
            </a:r>
            <a:r>
              <a:rPr b="0">
                <a:solidFill>
                  <a:srgbClr val="4A5568"/>
                </a:solidFill>
              </a:rPr>
              <a:t>Mandatory, accessible consent modal before session begins. Zero raw audio persistence for victim protection.</a:t>
            </a:r>
          </a:p>
          <a:p>
            <a:pPr>
              <a:spcAft>
                <a:spcPts val="600"/>
              </a:spcAft>
              <a:defRPr b="1" sz="1100">
                <a:solidFill>
                  <a:srgbClr val="2D3748"/>
                </a:solidFill>
              </a:defRPr>
            </a:pPr>
            <a:r>
              <a:t>•  Real-Time Speech-to-Text: </a:t>
            </a:r>
            <a:r>
              <a:rPr b="0">
                <a:solidFill>
                  <a:srgbClr val="4A5568"/>
                </a:solidFill>
              </a:rPr>
              <a:t>Whisper STT transcribes speech into Hindi &amp; English with live acoustic prosody extraction.</a:t>
            </a:r>
          </a:p>
          <a:p>
            <a:pPr>
              <a:spcAft>
                <a:spcPts val="600"/>
              </a:spcAft>
              <a:defRPr b="1" sz="1100">
                <a:solidFill>
                  <a:srgbClr val="2D3748"/>
                </a:solidFill>
              </a:defRPr>
            </a:pPr>
            <a:r>
              <a:t>•  Empathetic Non-Intrusive UX: </a:t>
            </a:r>
            <a:r>
              <a:rPr b="0">
                <a:solidFill>
                  <a:srgbClr val="4A5568"/>
                </a:solidFill>
              </a:rPr>
              <a:t>Clean, calm interface designed to minimize cognitive load and panic during high-stress reporting.</a:t>
            </a:r>
          </a:p>
          <a:p>
            <a:pPr>
              <a:spcAft>
                <a:spcPts val="600"/>
              </a:spcAft>
              <a:defRPr b="1" sz="1100">
                <a:solidFill>
                  <a:srgbClr val="2D3748"/>
                </a:solidFill>
              </a:defRPr>
            </a:pPr>
            <a:r>
              <a:t>•  Emergency SOS Escalation: </a:t>
            </a:r>
            <a:r>
              <a:rPr b="0">
                <a:solidFill>
                  <a:srgbClr val="4A5568"/>
                </a:solidFill>
              </a:rPr>
              <a:t>Immediate one-tap access to emergency police &amp; medical assistance if immediate harm is detected.</a:t>
            </a:r>
          </a:p>
        </p:txBody>
      </p:sp>
      <p:sp>
        <p:nvSpPr>
          <p:cNvPr id="6" name="Rounded Rectangle 5"/>
          <p:cNvSpPr/>
          <p:nvPr/>
        </p:nvSpPr>
        <p:spPr>
          <a:xfrm>
            <a:off x="6217920" y="1097280"/>
            <a:ext cx="5303520" cy="5120640"/>
          </a:xfrm>
          <a:prstGeom prst="roundRect">
            <a:avLst/>
          </a:prstGeom>
          <a:solidFill>
            <a:srgbClr val="F8FAFC"/>
          </a:solidFill>
          <a:ln w="19050">
            <a:solidFill>
              <a:srgbClr val="CFD9E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sz="1500" b="1">
                <a:solidFill>
                  <a:srgbClr val="0F766E"/>
                </a:solidFill>
              </a:defRPr>
            </a:pPr>
            <a:r>
              <a:t>2️⃣  Real-Time Counselor Triage Dashboard</a:t>
            </a:r>
          </a:p>
          <a:p>
            <a:pPr>
              <a:spcAft>
                <a:spcPts val="600"/>
              </a:spcAft>
              <a:defRPr b="1" sz="1100">
                <a:solidFill>
                  <a:srgbClr val="2D3748"/>
                </a:solidFill>
              </a:defRPr>
            </a:pPr>
            <a:r>
              <a:t>•  Prioritized Case Queue: </a:t>
            </a:r>
            <a:r>
              <a:rPr b="0">
                <a:solidFill>
                  <a:srgbClr val="4A5568"/>
                </a:solidFill>
              </a:rPr>
              <a:t>Calls dynamically ranked by AI Risk Score: Critical (Red), High (Orange), Moderate (Yellow), Low (Green).</a:t>
            </a:r>
          </a:p>
          <a:p>
            <a:pPr>
              <a:spcAft>
                <a:spcPts val="600"/>
              </a:spcAft>
              <a:defRPr b="1" sz="1100">
                <a:solidFill>
                  <a:srgbClr val="2D3748"/>
                </a:solidFill>
              </a:defRPr>
            </a:pPr>
            <a:r>
              <a:t>•  Live Acoustic Distress Meter: </a:t>
            </a:r>
            <a:r>
              <a:rPr b="0">
                <a:solidFill>
                  <a:srgbClr val="4A5568"/>
                </a:solidFill>
              </a:rPr>
              <a:t>Tracks vocal pitch variability, intensity, and tremor in real-time alongside conversational sentiment.</a:t>
            </a:r>
          </a:p>
          <a:p>
            <a:pPr>
              <a:spcAft>
                <a:spcPts val="600"/>
              </a:spcAft>
              <a:defRPr b="1" sz="1100">
                <a:solidFill>
                  <a:srgbClr val="2D3748"/>
                </a:solidFill>
              </a:defRPr>
            </a:pPr>
            <a:r>
              <a:t>•  Trauma &amp; Urgency Indicators: </a:t>
            </a:r>
            <a:r>
              <a:rPr b="0">
                <a:solidFill>
                  <a:srgbClr val="4A5568"/>
                </a:solidFill>
              </a:rPr>
              <a:t>Flags specific distress triggers (e.g., helplessness, physical threat, acute panic) from live conversation.</a:t>
            </a:r>
          </a:p>
          <a:p>
            <a:pPr>
              <a:spcAft>
                <a:spcPts val="600"/>
              </a:spcAft>
              <a:defRPr b="1" sz="1100">
                <a:solidFill>
                  <a:srgbClr val="2D3748"/>
                </a:solidFill>
              </a:defRPr>
            </a:pPr>
            <a:r>
              <a:t>•  Human-in-the-Loop Override: </a:t>
            </a:r>
            <a:r>
              <a:rPr b="0">
                <a:solidFill>
                  <a:srgbClr val="4A5568"/>
                </a:solidFill>
              </a:rPr>
              <a:t>Counselor retains full authority to validate, adjust, or dismiss AI assessment scores.</a:t>
            </a:r>
          </a:p>
          <a:p>
            <a:pPr>
              <a:spcAft>
                <a:spcPts val="600"/>
              </a:spcAft>
              <a:defRPr b="1" sz="1100">
                <a:solidFill>
                  <a:srgbClr val="2D3748"/>
                </a:solidFill>
              </a:defRPr>
            </a:pPr>
            <a:r>
              <a:t>•  Protocol-Driven Support Pathways: </a:t>
            </a:r>
            <a:r>
              <a:rPr b="0">
                <a:solidFill>
                  <a:srgbClr val="4A5568"/>
                </a:solidFill>
              </a:rPr>
              <a:t>Instant automated routing to legal aid, psychiatric counseling, or immediate field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0" y="182880"/>
            <a:ext cx="7589520" cy="731520"/>
          </a:xfrm>
          <a:prstGeom prst="rect">
            <a:avLst/>
          </a:prstGeom>
          <a:noFill/>
        </p:spPr>
        <p:txBody>
          <a:bodyPr wrap="none">
            <a:spAutoFit/>
          </a:bodyPr>
          <a:lstStyle/>
          <a:p>
            <a:pPr algn="ctr">
              <a:defRPr sz="2200" b="1">
                <a:solidFill>
                  <a:srgbClr val="111827"/>
                </a:solidFill>
              </a:defRPr>
            </a:pPr>
            <a:r>
              <a:t>36-HOUR TIMELINE &amp; EXECUTION PLAN</a:t>
            </a:r>
          </a:p>
        </p:txBody>
      </p:sp>
      <p:pic>
        <p:nvPicPr>
          <p:cNvPr id="3" name="Picture 2" descr="image.jpeg"/>
          <p:cNvPicPr>
            <a:picLocks noChangeAspect="1"/>
          </p:cNvPicPr>
          <p:nvPr/>
        </p:nvPicPr>
        <p:blipFill>
          <a:blip r:embed="rId2"/>
          <a:stretch>
            <a:fillRect/>
          </a:stretch>
        </p:blipFill>
        <p:spPr>
          <a:xfrm>
            <a:off x="9984702" y="0"/>
            <a:ext cx="1811058" cy="824240"/>
          </a:xfrm>
          <a:prstGeom prst="rect">
            <a:avLst/>
          </a:prstGeom>
        </p:spPr>
      </p:pic>
      <p:pic>
        <p:nvPicPr>
          <p:cNvPr id="4" name="Picture 3" descr="image.jpeg"/>
          <p:cNvPicPr>
            <a:picLocks noChangeAspect="1"/>
          </p:cNvPicPr>
          <p:nvPr/>
        </p:nvPicPr>
        <p:blipFill>
          <a:blip r:embed="rId3"/>
          <a:stretch>
            <a:fillRect/>
          </a:stretch>
        </p:blipFill>
        <p:spPr>
          <a:xfrm>
            <a:off x="605756" y="157734"/>
            <a:ext cx="1708566" cy="452214"/>
          </a:xfrm>
          <a:prstGeom prst="rect">
            <a:avLst/>
          </a:prstGeom>
        </p:spPr>
      </p:pic>
      <p:sp>
        <p:nvSpPr>
          <p:cNvPr id="5" name="Rounded Rectangle 4"/>
          <p:cNvSpPr/>
          <p:nvPr/>
        </p:nvSpPr>
        <p:spPr>
          <a:xfrm>
            <a:off x="548640" y="1097280"/>
            <a:ext cx="3474720" cy="201168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1E3A8A"/>
                </a:solidFill>
              </a:defRPr>
            </a:pPr>
            <a:r>
              <a:t>⏱️ Hours 00 – 06: Architecture &amp; Streaming Gateway</a:t>
            </a:r>
          </a:p>
          <a:p>
            <a:pPr>
              <a:spcAft>
                <a:spcPts val="200"/>
              </a:spcAft>
              <a:defRPr sz="1000">
                <a:solidFill>
                  <a:srgbClr val="334155"/>
                </a:solidFill>
              </a:defRPr>
            </a:pPr>
            <a:r>
              <a:t>• Initialize FastAPI &amp; Next.js repo with Tailwind</a:t>
            </a:r>
          </a:p>
          <a:p>
            <a:pPr>
              <a:spcAft>
                <a:spcPts val="200"/>
              </a:spcAft>
              <a:defRPr sz="1000">
                <a:solidFill>
                  <a:srgbClr val="334155"/>
                </a:solidFill>
              </a:defRPr>
            </a:pPr>
            <a:r>
              <a:t>• Build WebSocket audio streaming &amp; session manager</a:t>
            </a:r>
          </a:p>
          <a:p>
            <a:pPr>
              <a:spcAft>
                <a:spcPts val="200"/>
              </a:spcAft>
              <a:defRPr sz="1000">
                <a:solidFill>
                  <a:srgbClr val="334155"/>
                </a:solidFill>
              </a:defRPr>
            </a:pPr>
            <a:r>
              <a:t>• Implement consent gate &amp; PII masking pipeline</a:t>
            </a:r>
          </a:p>
        </p:txBody>
      </p:sp>
      <p:sp>
        <p:nvSpPr>
          <p:cNvPr id="6" name="Rounded Rectangle 5"/>
          <p:cNvSpPr/>
          <p:nvPr/>
        </p:nvSpPr>
        <p:spPr>
          <a:xfrm>
            <a:off x="4389120" y="1097280"/>
            <a:ext cx="3474720" cy="2011680"/>
          </a:xfrm>
          <a:prstGeom prst="roundRect">
            <a:avLst/>
          </a:prstGeom>
          <a:solidFill>
            <a:srgbClr val="F8FAFC"/>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0F766E"/>
                </a:solidFill>
              </a:defRPr>
            </a:pPr>
            <a:r>
              <a:t>⏱️ Hours 06 – 14: AI Multimodal Engine</a:t>
            </a:r>
          </a:p>
          <a:p>
            <a:pPr>
              <a:spcAft>
                <a:spcPts val="200"/>
              </a:spcAft>
              <a:defRPr sz="1000">
                <a:solidFill>
                  <a:srgbClr val="334155"/>
                </a:solidFill>
              </a:defRPr>
            </a:pPr>
            <a:r>
              <a:t>• Integrate Whisper STT (Hindi &amp; English speech)</a:t>
            </a:r>
          </a:p>
          <a:p>
            <a:pPr>
              <a:spcAft>
                <a:spcPts val="200"/>
              </a:spcAft>
              <a:defRPr sz="1000">
                <a:solidFill>
                  <a:srgbClr val="334155"/>
                </a:solidFill>
              </a:defRPr>
            </a:pPr>
            <a:r>
              <a:t>• Deploy Librosa acoustic prosody extractor (pitch/jitter)</a:t>
            </a:r>
          </a:p>
          <a:p>
            <a:pPr>
              <a:spcAft>
                <a:spcPts val="200"/>
              </a:spcAft>
              <a:defRPr sz="1000">
                <a:solidFill>
                  <a:srgbClr val="334155"/>
                </a:solidFill>
              </a:defRPr>
            </a:pPr>
            <a:r>
              <a:t>• Load RoBERTa/DistilBERT distress NLP classifier</a:t>
            </a:r>
          </a:p>
        </p:txBody>
      </p:sp>
      <p:sp>
        <p:nvSpPr>
          <p:cNvPr id="7" name="Rounded Rectangle 6"/>
          <p:cNvSpPr/>
          <p:nvPr/>
        </p:nvSpPr>
        <p:spPr>
          <a:xfrm>
            <a:off x="8229600" y="1097280"/>
            <a:ext cx="3474720" cy="2011680"/>
          </a:xfrm>
          <a:prstGeom prst="roundRect">
            <a:avLst/>
          </a:prstGeom>
          <a:solidFill>
            <a:srgbClr val="F8FAFC"/>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B45309"/>
                </a:solidFill>
              </a:defRPr>
            </a:pPr>
            <a:r>
              <a:t>⏱️ Hours 14 – 22: Risk Scoring &amp; Triage Engine</a:t>
            </a:r>
          </a:p>
          <a:p>
            <a:pPr>
              <a:spcAft>
                <a:spcPts val="200"/>
              </a:spcAft>
              <a:defRPr sz="1000">
                <a:solidFill>
                  <a:srgbClr val="334155"/>
                </a:solidFill>
              </a:defRPr>
            </a:pPr>
            <a:r>
              <a:t>• Multimodal fusion algorithm (Text 60% + Audio 40%)</a:t>
            </a:r>
          </a:p>
          <a:p>
            <a:pPr>
              <a:spcAft>
                <a:spcPts val="200"/>
              </a:spcAft>
              <a:defRPr sz="1000">
                <a:solidFill>
                  <a:srgbClr val="334155"/>
                </a:solidFill>
              </a:defRPr>
            </a:pPr>
            <a:r>
              <a:t>• Calculate non-diagnostic trauma score (0-100)</a:t>
            </a:r>
          </a:p>
          <a:p>
            <a:pPr>
              <a:spcAft>
                <a:spcPts val="200"/>
              </a:spcAft>
              <a:defRPr sz="1000">
                <a:solidFill>
                  <a:srgbClr val="334155"/>
                </a:solidFill>
              </a:defRPr>
            </a:pPr>
            <a:r>
              <a:t>• Dynamic triage queue prioritization logic</a:t>
            </a:r>
          </a:p>
        </p:txBody>
      </p:sp>
      <p:sp>
        <p:nvSpPr>
          <p:cNvPr id="8" name="Rounded Rectangle 7"/>
          <p:cNvSpPr/>
          <p:nvPr/>
        </p:nvSpPr>
        <p:spPr>
          <a:xfrm>
            <a:off x="548640" y="3383280"/>
            <a:ext cx="3474720" cy="2011680"/>
          </a:xfrm>
          <a:prstGeom prst="roundRect">
            <a:avLst/>
          </a:prstGeom>
          <a:solidFill>
            <a:srgbClr val="F8FAFC"/>
          </a:solidFill>
          <a:ln w="19050">
            <a:solidFill>
              <a:srgbClr val="7C2D1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7C2D12"/>
                </a:solidFill>
              </a:defRPr>
            </a:pPr>
            <a:r>
              <a:t>⏱️ Hours 22 – 28: Counselor Dashboard &amp; Workflows</a:t>
            </a:r>
          </a:p>
          <a:p>
            <a:pPr>
              <a:spcAft>
                <a:spcPts val="200"/>
              </a:spcAft>
              <a:defRPr sz="1000">
                <a:solidFill>
                  <a:srgbClr val="334155"/>
                </a:solidFill>
              </a:defRPr>
            </a:pPr>
            <a:r>
              <a:t>• Live queue UI with real-time WebSocket updates</a:t>
            </a:r>
          </a:p>
          <a:p>
            <a:pPr>
              <a:spcAft>
                <a:spcPts val="200"/>
              </a:spcAft>
              <a:defRPr sz="1000">
                <a:solidFill>
                  <a:srgbClr val="334155"/>
                </a:solidFill>
              </a:defRPr>
            </a:pPr>
            <a:r>
              <a:t>• Interactive stress meter &amp; distress indicator breakdown</a:t>
            </a:r>
          </a:p>
          <a:p>
            <a:pPr>
              <a:spcAft>
                <a:spcPts val="200"/>
              </a:spcAft>
              <a:defRPr sz="1000">
                <a:solidFill>
                  <a:srgbClr val="334155"/>
                </a:solidFill>
              </a:defRPr>
            </a:pPr>
            <a:r>
              <a:t>• Counselor override &amp; 1-click referral pathways</a:t>
            </a:r>
          </a:p>
        </p:txBody>
      </p:sp>
      <p:sp>
        <p:nvSpPr>
          <p:cNvPr id="9" name="Rounded Rectangle 8"/>
          <p:cNvSpPr/>
          <p:nvPr/>
        </p:nvSpPr>
        <p:spPr>
          <a:xfrm>
            <a:off x="4389120" y="3383280"/>
            <a:ext cx="3474720" cy="2011680"/>
          </a:xfrm>
          <a:prstGeom prst="roundRect">
            <a:avLst/>
          </a:prstGeom>
          <a:solidFill>
            <a:srgbClr val="F8FAFC"/>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4338CA"/>
                </a:solidFill>
              </a:defRPr>
            </a:pPr>
            <a:r>
              <a:t>⏱️ Hours 28 – 34: Security Hardening &amp; Testing</a:t>
            </a:r>
          </a:p>
          <a:p>
            <a:pPr>
              <a:spcAft>
                <a:spcPts val="200"/>
              </a:spcAft>
              <a:defRPr sz="1000">
                <a:solidFill>
                  <a:srgbClr val="334155"/>
                </a:solidFill>
              </a:defRPr>
            </a:pPr>
            <a:r>
              <a:t>• Bias &amp; fairness evaluation across varied accents</a:t>
            </a:r>
          </a:p>
          <a:p>
            <a:pPr>
              <a:spcAft>
                <a:spcPts val="200"/>
              </a:spcAft>
              <a:defRPr sz="1000">
                <a:solidFill>
                  <a:srgbClr val="334155"/>
                </a:solidFill>
              </a:defRPr>
            </a:pPr>
            <a:r>
              <a:t>• Synthetic audio stress testing &amp; load simulation</a:t>
            </a:r>
          </a:p>
          <a:p>
            <a:pPr>
              <a:spcAft>
                <a:spcPts val="200"/>
              </a:spcAft>
              <a:defRPr sz="1000">
                <a:solidFill>
                  <a:srgbClr val="334155"/>
                </a:solidFill>
              </a:defRPr>
            </a:pPr>
            <a:r>
              <a:t>• End-to-end security audit (RBAC, zero-storage)</a:t>
            </a:r>
          </a:p>
        </p:txBody>
      </p:sp>
      <p:sp>
        <p:nvSpPr>
          <p:cNvPr id="10" name="Rounded Rectangle 9"/>
          <p:cNvSpPr/>
          <p:nvPr/>
        </p:nvSpPr>
        <p:spPr>
          <a:xfrm>
            <a:off x="8229600" y="3383280"/>
            <a:ext cx="3474720" cy="2011680"/>
          </a:xfrm>
          <a:prstGeom prst="roundRect">
            <a:avLst/>
          </a:prstGeom>
          <a:solidFill>
            <a:srgbClr val="F8FAFC"/>
          </a:solidFill>
          <a:ln w="1905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spcAft>
                <a:spcPts val="400"/>
              </a:spcAft>
              <a:defRPr sz="1200" b="1">
                <a:solidFill>
                  <a:srgbClr val="065F46"/>
                </a:solidFill>
              </a:defRPr>
            </a:pPr>
            <a:r>
              <a:t>⏱️ Hours 34 – 36: Demo Polish &amp; Viva Rehearsal</a:t>
            </a:r>
          </a:p>
          <a:p>
            <a:pPr>
              <a:spcAft>
                <a:spcPts val="200"/>
              </a:spcAft>
              <a:defRPr sz="1000">
                <a:solidFill>
                  <a:srgbClr val="334155"/>
                </a:solidFill>
              </a:defRPr>
            </a:pPr>
            <a:r>
              <a:t>• End-to-end live caller simulation demo</a:t>
            </a:r>
          </a:p>
          <a:p>
            <a:pPr>
              <a:spcAft>
                <a:spcPts val="200"/>
              </a:spcAft>
              <a:defRPr sz="1000">
                <a:solidFill>
                  <a:srgbClr val="334155"/>
                </a:solidFill>
              </a:defRPr>
            </a:pPr>
            <a:r>
              <a:t>• Fail-safe offline fallback caching</a:t>
            </a:r>
          </a:p>
          <a:p>
            <a:pPr>
              <a:spcAft>
                <a:spcPts val="200"/>
              </a:spcAft>
              <a:defRPr sz="1000">
                <a:solidFill>
                  <a:srgbClr val="334155"/>
                </a:solidFill>
              </a:defRPr>
            </a:pPr>
            <a:r>
              <a:t>• Final pitch alignment &amp; judge Q&amp;A readiness</a:t>
            </a:r>
          </a:p>
        </p:txBody>
      </p:sp>
      <p:sp>
        <p:nvSpPr>
          <p:cNvPr id="11" name="Rounded Rectangle 10"/>
          <p:cNvSpPr/>
          <p:nvPr/>
        </p:nvSpPr>
        <p:spPr>
          <a:xfrm>
            <a:off x="548640" y="5486400"/>
            <a:ext cx="10972800" cy="731520"/>
          </a:xfrm>
          <a:prstGeom prst="roundRect">
            <a:avLst/>
          </a:prstGeom>
          <a:solidFill>
            <a:srgbClr val="1E293B"/>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b="1" sz="1200">
                <a:solidFill>
                  <a:srgbClr val="38BDF8"/>
                </a:solidFill>
              </a:defRPr>
            </a:pPr>
            <a:r>
              <a:t>🎯 KEY GRAND FINALE MILESTONES:    </a:t>
            </a:r>
            <a:r>
              <a:rPr b="1">
                <a:solidFill>
                  <a:srgbClr val="FFFFFF"/>
                </a:solidFill>
              </a:rPr>
              <a:t>Hour 12: Core MVP Live  |  </a:t>
            </a:r>
            <a:r>
              <a:rPr b="1">
                <a:solidFill>
                  <a:srgbClr val="A7F3D0"/>
                </a:solidFill>
              </a:rPr>
              <a:t>Hour 24: End-to-End Multimodal System Integrated  |  </a:t>
            </a:r>
            <a:r>
              <a:rPr b="1">
                <a:solidFill>
                  <a:srgbClr val="FDBA74"/>
                </a:solidFill>
              </a:rPr>
              <a:t>Hour 30: Stress-Tested &amp; Demo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1038</Words>
  <Application>Microsoft Office PowerPoint</Application>
  <PresentationFormat>Custom</PresentationFormat>
  <Paragraphs>127</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37</cp:revision>
  <dcterms:created xsi:type="dcterms:W3CDTF">2026-09-04T07:51:02Z</dcterms:created>
  <dcterms:modified xsi:type="dcterms:W3CDTF">2026-09-04T14:23:29Z</dcterms:modified>
</cp:coreProperties>
</file>
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2540"/>
                </a:solidFill>
                <a:latin typeface="Arial Black"/>
              </a:defRPr>
            </a:pPr>
            <a:r>
              <a:t>SMART INDIA HACKATHON 2026</a:t>
            </a:r>
          </a:p>
        </p:txBody>
      </p:sp>
      <p:pic>
        <p:nvPicPr>
          <p:cNvPr id="4" name="Picture 3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74320"/>
            <a:ext cx="1285180" cy="960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17320"/>
            <a:ext cx="71323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6583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100" b="1">
                <a:solidFill>
                  <a:srgbClr val="0072EF"/>
                </a:solidFill>
                <a:latin typeface="Arial"/>
              </a:defRPr>
            </a:pPr>
            <a:r>
              <a:t>PROBLEM STATEMENT ID</a:t>
            </a:r>
          </a:p>
          <a:p>
            <a:pPr>
              <a:spcAft>
                <a:spcPts val="600"/>
              </a:spcAft>
              <a:defRPr sz="1600" b="1">
                <a:solidFill>
                  <a:srgbClr val="F26522"/>
                </a:solidFill>
                <a:latin typeface="Arial"/>
              </a:defRPr>
            </a:pPr>
            <a:r>
              <a:t>SIH26093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00" b="1">
                <a:solidFill>
                  <a:srgbClr val="0072EF"/>
                </a:solidFill>
                <a:latin typeface="Arial"/>
              </a:defRPr>
            </a:pPr>
            <a:r>
              <a:t>PROBLEM STATEMENT TITLE</a:t>
            </a:r>
          </a:p>
          <a:p>
            <a:pPr>
              <a:spcAft>
                <a:spcPts val="600"/>
              </a:spcAft>
              <a:defRPr sz="1700" b="1">
                <a:solidFill>
                  <a:srgbClr val="0A2540"/>
                </a:solidFill>
                <a:latin typeface="Arial"/>
              </a:defRPr>
            </a:pPr>
            <a:r>
              <a:t>AI-Based Real-Time Stress and Trauma Assessment Module for Victims/Complainants Accessing NHAA (14566) and Integrated Portal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00" b="1">
                <a:solidFill>
                  <a:srgbClr val="0072EF"/>
                </a:solidFill>
                <a:latin typeface="Arial"/>
              </a:defRPr>
            </a:pPr>
            <a:r>
              <a:t>THEME &amp; CATEGORY</a:t>
            </a:r>
          </a:p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MedTech / BioTech / HealthTech   |   Software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00" b="1">
                <a:solidFill>
                  <a:srgbClr val="0072EF"/>
                </a:solidFill>
                <a:latin typeface="Arial"/>
              </a:defRPr>
            </a:pPr>
            <a:r>
              <a:t>TEAM DETAILS</a:t>
            </a:r>
          </a:p>
          <a:p>
            <a:pPr>
              <a:spcAft>
                <a:spcPts val="600"/>
              </a:spcAft>
              <a:defRPr sz="1600" b="1">
                <a:solidFill>
                  <a:srgbClr val="8A1538"/>
                </a:solidFill>
                <a:latin typeface="Arial"/>
              </a:defRPr>
            </a:pPr>
            <a:r>
              <a:t>Team Name: Veom Vegas    |    Team ID: ____________</a:t>
            </a:r>
          </a:p>
        </p:txBody>
      </p:sp>
      <p:pic>
        <p:nvPicPr>
          <p:cNvPr id="7" name="Picture 6" descr="image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737360"/>
            <a:ext cx="3291840" cy="2194560"/>
          </a:xfrm>
          <a:prstGeom prst="rect">
            <a:avLst/>
          </a:prstGeom>
        </p:spPr>
      </p:pic>
      <p:pic>
        <p:nvPicPr>
          <p:cNvPr id="8" name="Picture 7" descr="image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5303520"/>
            <a:ext cx="21681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"/>
            <a:ext cx="1680293" cy="566928"/>
          </a:xfrm>
          <a:prstGeom prst="rect">
            <a:avLst/>
          </a:prstGeom>
        </p:spPr>
      </p:pic>
      <p:pic>
        <p:nvPicPr>
          <p:cNvPr id="5" name="Picture 4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09728"/>
            <a:ext cx="91798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73152"/>
            <a:ext cx="749807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A2540"/>
                </a:solidFill>
                <a:latin typeface="Arial"/>
              </a:defRPr>
            </a:pPr>
            <a:r>
              <a:t>IDEA TITLE: SMART VICTIM INTELLIGENCE (SVI)</a:t>
            </a:r>
          </a:p>
          <a:p>
            <a:pPr algn="ctr">
              <a:spcBef>
                <a:spcPts val="2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“From Listening to Meaningful Support” — Real-Time Multimodal Stress &amp; Trauma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72EF"/>
                </a:solidFill>
                <a:latin typeface="Arial"/>
              </a:defRPr>
            </a:pPr>
            <a:r>
              <a:t>SOLUTION PIPELINE AT A GLANCE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3291840" cy="16916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3017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72EF"/>
                </a:solidFill>
              </a:defRPr>
            </a:pPr>
            <a:r>
              <a:t>STAGE 1: INGESTION &amp; CONSENT</a:t>
            </a:r>
          </a:p>
          <a:p>
            <a:pPr>
              <a:spcBef>
                <a:spcPts val="300"/>
              </a:spcBef>
              <a:defRPr b="1" sz="1000">
                <a:solidFill>
                  <a:srgbClr val="0A2540"/>
                </a:solidFill>
              </a:defRPr>
            </a:pPr>
            <a:r>
              <a:t>Multi-Channel Gateway (14566, Web, Chat, IVRS)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• Informed consent &amp; strict privacy verification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• Zero-friction voice stream &amp; text capture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• Real-time audio buffer &amp; tokenization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69080" y="2011680"/>
            <a:ext cx="320040" cy="365760"/>
          </a:xfrm>
          <a:prstGeom prst="rightArrow">
            <a:avLst/>
          </a:prstGeom>
          <a:solidFill>
            <a:srgbClr val="007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1371600"/>
            <a:ext cx="3291840" cy="169164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417320"/>
            <a:ext cx="3017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6D28D9"/>
                </a:solidFill>
              </a:defRPr>
            </a:pPr>
            <a:r>
              <a:t>STAGE 2: MULTIMODAL AI ENGINE</a:t>
            </a:r>
          </a:p>
          <a:p>
            <a:pPr>
              <a:spcBef>
                <a:spcPts val="300"/>
              </a:spcBef>
              <a:defRPr b="1" sz="1000">
                <a:solidFill>
                  <a:srgbClr val="0A2540"/>
                </a:solidFill>
              </a:defRPr>
            </a:pPr>
            <a:r>
              <a:t>Acoustic Prosody + Transformer NLP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• Voice pitch, tremor, speech rate &amp; pause analysis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• Semantic sentiment &amp; trauma keyword detection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• Continuous non-diagnostic risk score (0–100)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909560" y="2011680"/>
            <a:ext cx="320040" cy="365760"/>
          </a:xfrm>
          <a:prstGeom prst="rightArrow">
            <a:avLst/>
          </a:prstGeom>
          <a:solidFill>
            <a:srgbClr val="007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21040" y="1371600"/>
            <a:ext cx="3291840" cy="16916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417320"/>
            <a:ext cx="3017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STAGE 3: TRIAGE &amp; RELIEF</a:t>
            </a:r>
          </a:p>
          <a:p>
            <a:pPr>
              <a:spcBef>
                <a:spcPts val="300"/>
              </a:spcBef>
              <a:defRPr b="1" sz="1000">
                <a:solidFill>
                  <a:srgbClr val="0A2540"/>
                </a:solidFill>
              </a:defRPr>
            </a:pPr>
            <a:r>
              <a:t>Human-in-the-Loop Decision Support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• Severity: Low / Moderate / High-Critical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• Real-time priority alerts to authorized counsellors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• Targeted referral: Counselling, Legal, Emergency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46120"/>
            <a:ext cx="530352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37560"/>
            <a:ext cx="493776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A2540"/>
                </a:solidFill>
              </a:defRPr>
            </a:pPr>
            <a:r>
              <a:t>PROBLEM RESOLUTION (WHY SVI?)</a:t>
            </a:r>
          </a:p>
          <a:p>
            <a:pPr>
              <a:spcBef>
                <a:spcPts val="400"/>
              </a:spcBef>
              <a:defRPr b="1" sz="1000">
                <a:solidFill>
                  <a:srgbClr val="0072EF"/>
                </a:solidFill>
              </a:defRPr>
            </a:pPr>
            <a:r>
              <a:t>✔ Real-Time In-Interaction Detection: </a:t>
            </a:r>
            <a:r>
              <a:rPr b="0" sz="950">
                <a:solidFill>
                  <a:srgbClr val="475569"/>
                </a:solidFill>
              </a:rPr>
              <a:t>Detects distress during the conversation itself rather than relying on delayed post-call questionnaires.</a:t>
            </a:r>
          </a:p>
          <a:p>
            <a:pPr>
              <a:spcBef>
                <a:spcPts val="400"/>
              </a:spcBef>
              <a:defRPr b="1" sz="1000">
                <a:solidFill>
                  <a:srgbClr val="0072EF"/>
                </a:solidFill>
              </a:defRPr>
            </a:pPr>
            <a:r>
              <a:t>✔ Automated Priority Triage: </a:t>
            </a:r>
            <a:r>
              <a:rPr b="0" sz="950">
                <a:solidFill>
                  <a:srgbClr val="475569"/>
                </a:solidFill>
              </a:rPr>
              <a:t>Instantly bubbles high-risk and critical trauma cases to the top of the queue for human intervention.</a:t>
            </a:r>
          </a:p>
          <a:p>
            <a:pPr>
              <a:spcBef>
                <a:spcPts val="400"/>
              </a:spcBef>
              <a:defRPr b="1" sz="1000">
                <a:solidFill>
                  <a:srgbClr val="0072EF"/>
                </a:solidFill>
              </a:defRPr>
            </a:pPr>
            <a:r>
              <a:t>✔ Unstructured to Actionable: </a:t>
            </a:r>
            <a:r>
              <a:rPr b="0" sz="950">
                <a:solidFill>
                  <a:srgbClr val="475569"/>
                </a:solidFill>
              </a:rPr>
              <a:t>Transforms emotional unstructured voice and text into standardized clinical telemetry for operators.</a:t>
            </a:r>
          </a:p>
          <a:p>
            <a:pPr>
              <a:spcBef>
                <a:spcPts val="400"/>
              </a:spcBef>
              <a:defRPr b="1" sz="1000">
                <a:solidFill>
                  <a:srgbClr val="0072EF"/>
                </a:solidFill>
              </a:defRPr>
            </a:pPr>
            <a:r>
              <a:t>✔ Cross-Channel Parity: </a:t>
            </a:r>
            <a:r>
              <a:rPr b="0" sz="950">
                <a:solidFill>
                  <a:srgbClr val="475569"/>
                </a:solidFill>
              </a:rPr>
              <a:t>Ensures identical quality of stress assessment across 14566 phone lines, web portals, and mobile apps.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46120"/>
            <a:ext cx="539496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337560"/>
            <a:ext cx="50292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A2540"/>
                </a:solidFill>
              </a:defRPr>
            </a:pPr>
            <a:r>
              <a:t>UNIQUE VALUE PROPOSITIONS (UVP)</a:t>
            </a:r>
          </a:p>
          <a:p>
            <a:pPr>
              <a:spcBef>
                <a:spcPts val="400"/>
              </a:spcBef>
              <a:defRPr b="1" sz="1000">
                <a:solidFill>
                  <a:srgbClr val="F26522"/>
                </a:solidFill>
              </a:defRPr>
            </a:pPr>
            <a:r>
              <a:t>★ Multimodal Stress &amp; Trauma Fusion: </a:t>
            </a:r>
            <a:r>
              <a:rPr b="0" sz="950">
                <a:solidFill>
                  <a:srgbClr val="475569"/>
                </a:solidFill>
              </a:rPr>
              <a:t>Combines vocal acoustic parameters (pitch, jitter, pace) with NLP conversational semantics for holistic risk scoring.</a:t>
            </a:r>
          </a:p>
          <a:p>
            <a:pPr>
              <a:spcBef>
                <a:spcPts val="400"/>
              </a:spcBef>
              <a:defRPr b="1" sz="1000">
                <a:solidFill>
                  <a:srgbClr val="F26522"/>
                </a:solidFill>
              </a:defRPr>
            </a:pPr>
            <a:r>
              <a:t>★ Human-in-the-Loop Safeguard: </a:t>
            </a:r>
            <a:r>
              <a:rPr b="0" sz="950">
                <a:solidFill>
                  <a:srgbClr val="475569"/>
                </a:solidFill>
              </a:rPr>
              <a:t>AI serves as a non-diagnostic decision-support assistant; human counsellors maintain full operational authority.</a:t>
            </a:r>
          </a:p>
          <a:p>
            <a:pPr>
              <a:spcBef>
                <a:spcPts val="400"/>
              </a:spcBef>
              <a:defRPr b="1" sz="1000">
                <a:solidFill>
                  <a:srgbClr val="F26522"/>
                </a:solidFill>
              </a:defRPr>
            </a:pPr>
            <a:r>
              <a:t>★ Privacy-First &amp; Consent Architecture: </a:t>
            </a:r>
            <a:r>
              <a:rPr b="0" sz="950">
                <a:solidFill>
                  <a:srgbClr val="475569"/>
                </a:solidFill>
              </a:rPr>
              <a:t>Built with granular consent gates, in-memory stream processing, zero raw audio storage, and DPDP Act compliance.</a:t>
            </a:r>
          </a:p>
          <a:p>
            <a:pPr>
              <a:spcBef>
                <a:spcPts val="400"/>
              </a:spcBef>
              <a:defRPr b="1" sz="1000">
                <a:solidFill>
                  <a:srgbClr val="F26522"/>
                </a:solidFill>
              </a:defRPr>
            </a:pPr>
            <a:r>
              <a:t>★ Pan-India Multilingual Inclusivity: </a:t>
            </a:r>
            <a:r>
              <a:rPr b="0" sz="950">
                <a:solidFill>
                  <a:srgbClr val="475569"/>
                </a:solidFill>
              </a:rPr>
              <a:t>Seamlessly supports major Indian languages and regional dialects across digital portals and low-bandwidth IVRS.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"/>
            <a:ext cx="1680293" cy="566928"/>
          </a:xfrm>
          <a:prstGeom prst="rect">
            <a:avLst/>
          </a:prstGeom>
        </p:spPr>
      </p:pic>
      <p:pic>
        <p:nvPicPr>
          <p:cNvPr id="5" name="Picture 4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09728"/>
            <a:ext cx="91798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73152"/>
            <a:ext cx="749807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A2540"/>
                </a:solidFill>
                <a:latin typeface="Arial"/>
              </a:defRPr>
            </a:pPr>
            <a:r>
              <a:t>TECHNICAL APPROACH &amp; SYSTEM ARCHITECTURE</a:t>
            </a:r>
          </a:p>
          <a:p>
            <a:pPr algn="ctr">
              <a:spcBef>
                <a:spcPts val="2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End-to-End Multimodal AI Pipeline, Security Gateway, and Production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11091672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72EF"/>
                </a:solidFill>
              </a:defRPr>
            </a:pPr>
            <a:r>
              <a:t>LAYER 1: USER INTERACTION &amp; ACCESS CHANNELS</a:t>
            </a:r>
          </a:p>
          <a:p>
            <a:pPr>
              <a:spcBef>
                <a:spcPts val="200"/>
              </a:spcBef>
              <a:defRPr b="1" sz="1100">
                <a:solidFill>
                  <a:srgbClr val="0A2540"/>
                </a:solidFill>
              </a:defRPr>
            </a:pPr>
            <a:r>
              <a:t>📞 NHAA 14566 Helpline (SIP / PSTN)   •   🌐 Integrated Web Portal (Next.js)   •   💬 SVI AI Chatbot (WebSockets)   •   📱 Mobile App &amp; IVRS Gateway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97880" y="1755648"/>
            <a:ext cx="365760" cy="201168"/>
          </a:xfrm>
          <a:prstGeom prst="downArrow">
            <a:avLst/>
          </a:prstGeom>
          <a:solidFill>
            <a:srgbClr val="007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984248"/>
            <a:ext cx="11091672" cy="5943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B45309"/>
                </a:solidFill>
              </a:defRPr>
            </a:pPr>
            <a:r>
              <a:t>🔒 LAYER 2: CONSENT &amp; PRIVACY GATEWAY</a:t>
            </a:r>
          </a:p>
          <a:p>
            <a:pPr>
              <a:spcBef>
                <a:spcPts val="100"/>
              </a:spcBef>
              <a:defRPr b="1" sz="1050">
                <a:solidFill>
                  <a:srgbClr val="0F172A"/>
                </a:solidFill>
              </a:defRPr>
            </a:pPr>
            <a:r>
              <a:t>Explicit Consent Verification  |  PII Masking &amp; Data Anonymization  |  TLS 1.3 / AES-256 Encryption  |  Zero Raw Voice Retention (DPDP Act)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897880" y="2596896"/>
            <a:ext cx="365760" cy="201168"/>
          </a:xfrm>
          <a:prstGeom prst="downArrow">
            <a:avLst/>
          </a:prstGeom>
          <a:solidFill>
            <a:srgbClr val="007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816352"/>
            <a:ext cx="5440680" cy="1234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52928"/>
            <a:ext cx="51663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72EF"/>
                </a:solidFill>
              </a:defRPr>
            </a:pPr>
            <a:r>
              <a:t>🎙️ STREAM A: SPEECH &amp; ACOUSTIC PROSODY</a:t>
            </a:r>
          </a:p>
          <a:p>
            <a:pPr>
              <a:spcBef>
                <a:spcPts val="200"/>
              </a:spcBef>
              <a:defRPr b="1" sz="1000">
                <a:solidFill>
                  <a:srgbClr val="0A2540"/>
                </a:solidFill>
              </a:defRPr>
            </a:pPr>
            <a:r>
              <a:t>Whisper STT  +  Librosa Acoustic Feature Profiler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</a:defRPr>
            </a:pPr>
            <a:r>
              <a:t>• Pitch variability (F0), vocal tremor, shimmer &amp; jitter analysis</a:t>
            </a:r>
            <a:br/>
            <a:r>
              <a:t>• Speech rate, pause duration &amp; acoustic emotional markers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2816352"/>
            <a:ext cx="5440680" cy="123444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2852928"/>
            <a:ext cx="51663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6D28D9"/>
                </a:solidFill>
              </a:defRPr>
            </a:pPr>
            <a:r>
              <a:t>💬 STREAM B: CONVERSATIONAL NLP &amp; CONTEXT</a:t>
            </a:r>
          </a:p>
          <a:p>
            <a:pPr>
              <a:spcBef>
                <a:spcPts val="200"/>
              </a:spcBef>
              <a:defRPr b="1" sz="1000">
                <a:solidFill>
                  <a:srgbClr val="0A2540"/>
                </a:solidFill>
              </a:defRPr>
            </a:pPr>
            <a:r>
              <a:t>Fine-Tuned RoBERTa / IndicBERT Transformer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</a:defRPr>
            </a:pPr>
            <a:r>
              <a:t>• Trauma keyword extraction (distress, fear, hopelessness)</a:t>
            </a:r>
            <a:br/>
            <a:r>
              <a:t>• Conversational sentiment trajectory &amp; context overload detection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897880" y="4069080"/>
            <a:ext cx="365760" cy="201168"/>
          </a:xfrm>
          <a:prstGeom prst="downArrow">
            <a:avLst/>
          </a:prstGeom>
          <a:solidFill>
            <a:srgbClr val="007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4297680"/>
            <a:ext cx="5440680" cy="10515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343400"/>
            <a:ext cx="5166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🧠 MULTIMODAL FUSION &amp; RISK SCORING</a:t>
            </a:r>
          </a:p>
          <a:p>
            <a:pPr>
              <a:spcBef>
                <a:spcPts val="200"/>
              </a:spcBef>
              <a:defRPr b="1" sz="1000">
                <a:solidFill>
                  <a:srgbClr val="0A2540"/>
                </a:solidFill>
              </a:defRPr>
            </a:pPr>
            <a:r>
              <a:t>Acoustic + Text Fusion ➔ Dynamic Risk Score (0–100)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</a:defRPr>
            </a:pPr>
            <a:r>
              <a:t>Stratification: Low (0-39)  |  Moderate (40-69)  |  High / Critical (70-100)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4297680"/>
            <a:ext cx="5440680" cy="10515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4343400"/>
            <a:ext cx="5166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EF4444"/>
                </a:solidFill>
              </a:defRPr>
            </a:pPr>
            <a:r>
              <a:t>👥 HUMAN-IN-THE-LOOP &amp; ESCALATION</a:t>
            </a:r>
          </a:p>
          <a:p>
            <a:pPr>
              <a:spcBef>
                <a:spcPts val="200"/>
              </a:spcBef>
              <a:defRPr b="1" sz="1000">
                <a:solidFill>
                  <a:srgbClr val="0A2540"/>
                </a:solidFill>
              </a:defRPr>
            </a:pPr>
            <a:r>
              <a:t>Counsellor Telemetry Dashboard &amp; Decision Support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</a:defRPr>
            </a:pPr>
            <a:r>
              <a:t>Human validation &amp; protocol override  ➔  Active Counselling / Legal / Emergency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40680"/>
            <a:ext cx="11091672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48640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A2540"/>
                </a:solidFill>
              </a:defRPr>
            </a:pPr>
            <a:r>
              <a:t>🛠️ PRODUCTION TECHNOLOGY STACK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072EF"/>
                </a:solidFill>
              </a:rPr>
              <a:t>• Frontend Layer: </a:t>
            </a:r>
            <a:r>
              <a:rPr b="0" sz="900">
                <a:solidFill>
                  <a:srgbClr val="475569"/>
                </a:solidFill>
              </a:rPr>
              <a:t>Next.js 14, React, Tailwind CSS, WebSockets   </a:t>
            </a:r>
            <a:r>
              <a:rPr b="1" sz="950">
                <a:solidFill>
                  <a:srgbClr val="0072EF"/>
                </a:solidFill>
              </a:rPr>
              <a:t>• Backend API Layer: </a:t>
            </a:r>
            <a:r>
              <a:rPr b="0" sz="900">
                <a:solidFill>
                  <a:srgbClr val="475569"/>
                </a:solidFill>
              </a:rPr>
              <a:t>FastAPI (Python 3.12), REST APIs, Async Tasks   </a:t>
            </a:r>
            <a:r>
              <a:rPr b="1" sz="950">
                <a:solidFill>
                  <a:srgbClr val="0072EF"/>
                </a:solidFill>
              </a:rPr>
              <a:t>• AI / ML Pipeline: </a:t>
            </a:r>
            <a:r>
              <a:rPr b="0" sz="900">
                <a:solidFill>
                  <a:srgbClr val="475569"/>
                </a:solidFill>
              </a:rPr>
              <a:t>PyTorch, Hugging Face, Whisper, Librosa, RoBERTa   </a:t>
            </a:r>
            <a:r>
              <a:rPr b="1" sz="950">
                <a:solidFill>
                  <a:srgbClr val="0072EF"/>
                </a:solidFill>
              </a:rPr>
              <a:t>• Database &amp; Cloud: </a:t>
            </a:r>
            <a:r>
              <a:rPr b="0" sz="900">
                <a:solidFill>
                  <a:srgbClr val="475569"/>
                </a:solidFill>
              </a:rPr>
              <a:t>PostgreSQL, Redis (Live Session Cache), Docker, AWS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"/>
            <a:ext cx="1680293" cy="566928"/>
          </a:xfrm>
          <a:prstGeom prst="rect">
            <a:avLst/>
          </a:prstGeom>
        </p:spPr>
      </p:pic>
      <p:pic>
        <p:nvPicPr>
          <p:cNvPr id="5" name="Picture 4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09728"/>
            <a:ext cx="91798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73152"/>
            <a:ext cx="749807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A2540"/>
                </a:solidFill>
                <a:latin typeface="Arial"/>
              </a:defRPr>
            </a:pPr>
            <a:r>
              <a:t>FEASIBILITY AND VIABILITY</a:t>
            </a:r>
          </a:p>
          <a:p>
            <a:pPr algn="ctr">
              <a:spcBef>
                <a:spcPts val="2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Operational Viability, Technical Execution, and Risk Mitigation 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2651760" cy="2194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097280"/>
            <a:ext cx="243230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072EF"/>
                </a:solidFill>
              </a:defRPr>
            </a:pPr>
            <a:r>
              <a:t>⚙️ TECHNICAL FEASIBILITY</a:t>
            </a:r>
          </a:p>
          <a:p>
            <a:pPr>
              <a:spcBef>
                <a:spcPts val="300"/>
              </a:spcBef>
              <a:defRPr sz="900">
                <a:solidFill>
                  <a:srgbClr val="0F172A"/>
                </a:solidFill>
              </a:defRPr>
            </a:pPr>
            <a:r>
              <a:t>• Proven AI models: Whisper, Transformers &amp; Librosa</a:t>
            </a:r>
          </a:p>
          <a:p>
            <a:pPr>
              <a:spcBef>
                <a:spcPts val="300"/>
              </a:spcBef>
              <a:defRPr sz="900">
                <a:solidFill>
                  <a:srgbClr val="0F172A"/>
                </a:solidFill>
              </a:defRPr>
            </a:pPr>
            <a:r>
              <a:t>• Sub-350ms streaming latency for live calls</a:t>
            </a:r>
          </a:p>
          <a:p>
            <a:pPr>
              <a:spcBef>
                <a:spcPts val="300"/>
              </a:spcBef>
              <a:defRPr sz="900">
                <a:solidFill>
                  <a:srgbClr val="0F172A"/>
                </a:solidFill>
              </a:defRPr>
            </a:pPr>
            <a:r>
              <a:t>• Decoupled microservices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051560"/>
            <a:ext cx="2651760" cy="21945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5576" y="1097280"/>
            <a:ext cx="243230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10B981"/>
                </a:solidFill>
              </a:defRPr>
            </a:pPr>
            <a:r>
              <a:t>🏢 OPERATIONAL FEASIBILITY</a:t>
            </a:r>
          </a:p>
          <a:p>
            <a:pPr>
              <a:spcBef>
                <a:spcPts val="300"/>
              </a:spcBef>
              <a:defRPr sz="900">
                <a:solidFill>
                  <a:srgbClr val="0F172A"/>
                </a:solidFill>
              </a:defRPr>
            </a:pPr>
            <a:r>
              <a:t>• Zero disruption to existing NHAA 14566 setup</a:t>
            </a:r>
          </a:p>
          <a:p>
            <a:pPr>
              <a:spcBef>
                <a:spcPts val="300"/>
              </a:spcBef>
              <a:defRPr sz="900">
                <a:solidFill>
                  <a:srgbClr val="0F172A"/>
                </a:solidFill>
              </a:defRPr>
            </a:pPr>
            <a:r>
              <a:t>• Non-invasive co-pilot for human operators</a:t>
            </a:r>
          </a:p>
          <a:p>
            <a:pPr>
              <a:spcBef>
                <a:spcPts val="300"/>
              </a:spcBef>
              <a:defRPr sz="900">
                <a:solidFill>
                  <a:srgbClr val="0F172A"/>
                </a:solidFill>
              </a:defRPr>
            </a:pPr>
            <a:r>
              <a:t>• Intuitive telemetry with minimal 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051560"/>
            <a:ext cx="2651760" cy="219456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2784" y="1097280"/>
            <a:ext cx="243230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6D28D9"/>
                </a:solidFill>
              </a:defRPr>
            </a:pPr>
            <a:r>
              <a:t>📈 SCALABILITY &amp; ELASTICITY</a:t>
            </a:r>
          </a:p>
          <a:p>
            <a:pPr>
              <a:spcBef>
                <a:spcPts val="300"/>
              </a:spcBef>
              <a:defRPr sz="900">
                <a:solidFill>
                  <a:srgbClr val="0F172A"/>
                </a:solidFill>
              </a:defRPr>
            </a:pPr>
            <a:r>
              <a:t>• Stateless containers with Redis message queue</a:t>
            </a:r>
          </a:p>
          <a:p>
            <a:pPr>
              <a:spcBef>
                <a:spcPts val="300"/>
              </a:spcBef>
              <a:defRPr sz="900">
                <a:solidFill>
                  <a:srgbClr val="0F172A"/>
                </a:solidFill>
              </a:defRPr>
            </a:pPr>
            <a:r>
              <a:t>• Horizontal auto-scaling during crisis surges</a:t>
            </a:r>
          </a:p>
          <a:p>
            <a:pPr>
              <a:spcBef>
                <a:spcPts val="300"/>
              </a:spcBef>
              <a:defRPr sz="900">
                <a:solidFill>
                  <a:srgbClr val="0F172A"/>
                </a:solidFill>
              </a:defRPr>
            </a:pPr>
            <a:r>
              <a:t>• Multi-tenant support across web, app &amp; IVRS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0264" y="1051560"/>
            <a:ext cx="2651760" cy="219456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9992" y="1097280"/>
            <a:ext cx="243230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F26522"/>
                </a:solidFill>
              </a:defRPr>
            </a:pPr>
            <a:r>
              <a:t>💰 ECONOMIC VIABILITY</a:t>
            </a:r>
          </a:p>
          <a:p>
            <a:pPr>
              <a:spcBef>
                <a:spcPts val="300"/>
              </a:spcBef>
              <a:defRPr sz="900">
                <a:solidFill>
                  <a:srgbClr val="0F172A"/>
                </a:solidFill>
              </a:defRPr>
            </a:pPr>
            <a:r>
              <a:t>• Quantized open-source models (ONNX / INT8)</a:t>
            </a:r>
          </a:p>
          <a:p>
            <a:pPr>
              <a:spcBef>
                <a:spcPts val="300"/>
              </a:spcBef>
              <a:defRPr sz="900">
                <a:solidFill>
                  <a:srgbClr val="0F172A"/>
                </a:solidFill>
              </a:defRPr>
            </a:pPr>
            <a:r>
              <a:t>• Dramatically reduces costly GPU server bills</a:t>
            </a:r>
          </a:p>
          <a:p>
            <a:pPr>
              <a:spcBef>
                <a:spcPts val="300"/>
              </a:spcBef>
              <a:defRPr sz="900">
                <a:solidFill>
                  <a:srgbClr val="0F172A"/>
                </a:solidFill>
              </a:defRPr>
            </a:pPr>
            <a:r>
              <a:t>• Low and predictable per-session operating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64992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A2540"/>
                </a:solidFill>
              </a:defRPr>
            </a:pPr>
            <a:r>
              <a:t>POTENTIAL CHALLENGES, RISKS &amp; MITIGATION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03320"/>
            <a:ext cx="4846320" cy="658368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39896"/>
            <a:ext cx="46634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EF4444"/>
                </a:solidFill>
              </a:defRPr>
            </a:pPr>
            <a:r>
              <a:t>⚠️ AI Bias &amp; Regional Dialects</a:t>
            </a:r>
          </a:p>
          <a:p>
            <a:pPr>
              <a:spcBef>
                <a:spcPts val="100"/>
              </a:spcBef>
              <a:defRPr sz="850">
                <a:solidFill>
                  <a:srgbClr val="475569"/>
                </a:solidFill>
              </a:defRPr>
            </a:pPr>
            <a:r>
              <a:t>Emotional expressions and dialects vary widely across Indian languages.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468112" y="3886200"/>
            <a:ext cx="320040" cy="274320"/>
          </a:xfrm>
          <a:prstGeom prst="rightArrow">
            <a:avLst/>
          </a:prstGeom>
          <a:solidFill>
            <a:srgbClr val="007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52160" y="3703320"/>
            <a:ext cx="5788152" cy="658368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3739896"/>
            <a:ext cx="56235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10B981"/>
                </a:solidFill>
              </a:defRPr>
            </a:pPr>
            <a:r>
              <a:t>🛡️ MITIGATION &amp; SAFEGUARD</a:t>
            </a:r>
          </a:p>
          <a:p>
            <a:pPr>
              <a:spcBef>
                <a:spcPts val="100"/>
              </a:spcBef>
              <a:defRPr sz="850">
                <a:solidFill>
                  <a:srgbClr val="0F172A"/>
                </a:solidFill>
              </a:defRPr>
            </a:pPr>
            <a:r>
              <a:t>Diverse multilingual Indic datasets + continuous fairness testing + human validation.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453128"/>
            <a:ext cx="4846320" cy="658368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89704"/>
            <a:ext cx="46634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EF4444"/>
                </a:solidFill>
              </a:defRPr>
            </a:pPr>
            <a:r>
              <a:t>⚠️ False Positives / Negatives</a:t>
            </a:r>
          </a:p>
          <a:p>
            <a:pPr>
              <a:spcBef>
                <a:spcPts val="100"/>
              </a:spcBef>
              <a:defRPr sz="850">
                <a:solidFill>
                  <a:srgbClr val="475569"/>
                </a:solidFill>
              </a:defRPr>
            </a:pPr>
            <a:r>
              <a:t>Risk of AI misinterpreting emotional trauma or distress level.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468112" y="4636008"/>
            <a:ext cx="320040" cy="274320"/>
          </a:xfrm>
          <a:prstGeom prst="rightArrow">
            <a:avLst/>
          </a:prstGeom>
          <a:solidFill>
            <a:srgbClr val="007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852160" y="4453128"/>
            <a:ext cx="5788152" cy="658368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4489704"/>
            <a:ext cx="56235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10B981"/>
                </a:solidFill>
              </a:defRPr>
            </a:pPr>
            <a:r>
              <a:t>🛡️ MITIGATION &amp; SAFEGUARD</a:t>
            </a:r>
          </a:p>
          <a:p>
            <a:pPr>
              <a:spcBef>
                <a:spcPts val="100"/>
              </a:spcBef>
              <a:defRPr sz="850">
                <a:solidFill>
                  <a:srgbClr val="0F172A"/>
                </a:solidFill>
              </a:defRPr>
            </a:pPr>
            <a:r>
              <a:t>Human-in-the-Loop decision support; AI recommends, authorized human counsellor decides.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202936"/>
            <a:ext cx="4846320" cy="658368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239512"/>
            <a:ext cx="46634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EF4444"/>
                </a:solidFill>
              </a:defRPr>
            </a:pPr>
            <a:r>
              <a:t>⚠️ Victim Privacy &amp; Data Security</a:t>
            </a:r>
          </a:p>
          <a:p>
            <a:pPr>
              <a:spcBef>
                <a:spcPts val="100"/>
              </a:spcBef>
              <a:defRPr sz="850">
                <a:solidFill>
                  <a:srgbClr val="475569"/>
                </a:solidFill>
              </a:defRPr>
            </a:pPr>
            <a:r>
              <a:t>Victim interactions contain deeply sensitive trauma and atrocity details.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468112" y="5385816"/>
            <a:ext cx="320040" cy="274320"/>
          </a:xfrm>
          <a:prstGeom prst="rightArrow">
            <a:avLst/>
          </a:prstGeom>
          <a:solidFill>
            <a:srgbClr val="007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852160" y="5202936"/>
            <a:ext cx="5788152" cy="658368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5239512"/>
            <a:ext cx="56235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10B981"/>
                </a:solidFill>
              </a:defRPr>
            </a:pPr>
            <a:r>
              <a:t>🛡️ MITIGATION &amp; SAFEGUARD</a:t>
            </a:r>
          </a:p>
          <a:p>
            <a:pPr>
              <a:spcBef>
                <a:spcPts val="100"/>
              </a:spcBef>
              <a:defRPr sz="850">
                <a:solidFill>
                  <a:srgbClr val="0F172A"/>
                </a:solidFill>
              </a:defRPr>
            </a:pPr>
            <a:r>
              <a:t>Consent gate, end-to-end encryption, ephemeral audio, zero raw voice retention (DPDP Act).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952744"/>
            <a:ext cx="4846320" cy="658368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989320"/>
            <a:ext cx="46634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EF4444"/>
                </a:solidFill>
              </a:defRPr>
            </a:pPr>
            <a:r>
              <a:t>⚠️ Adversarial / Incomplete Data</a:t>
            </a:r>
          </a:p>
          <a:p>
            <a:pPr>
              <a:spcBef>
                <a:spcPts val="100"/>
              </a:spcBef>
              <a:defRPr sz="850">
                <a:solidFill>
                  <a:srgbClr val="475569"/>
                </a:solidFill>
              </a:defRPr>
            </a:pPr>
            <a:r>
              <a:t>Complainants may be unable or reluctant to articulate full details.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468112" y="6135624"/>
            <a:ext cx="320040" cy="274320"/>
          </a:xfrm>
          <a:prstGeom prst="rightArrow">
            <a:avLst/>
          </a:prstGeom>
          <a:solidFill>
            <a:srgbClr val="007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852160" y="5952744"/>
            <a:ext cx="5788152" cy="658368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0" y="5989320"/>
            <a:ext cx="56235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10B981"/>
                </a:solidFill>
              </a:defRPr>
            </a:pPr>
            <a:r>
              <a:t>🛡️ MITIGATION &amp; SAFEGUARD</a:t>
            </a:r>
          </a:p>
          <a:p>
            <a:pPr>
              <a:spcBef>
                <a:spcPts val="100"/>
              </a:spcBef>
              <a:defRPr sz="850">
                <a:solidFill>
                  <a:srgbClr val="0F172A"/>
                </a:solidFill>
              </a:defRPr>
            </a:pPr>
            <a:r>
              <a:t>Multi-signal cross-validation (vocal acoustics + semantic context + confidence scoring).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"/>
            <a:ext cx="1680293" cy="566928"/>
          </a:xfrm>
          <a:prstGeom prst="rect">
            <a:avLst/>
          </a:prstGeom>
        </p:spPr>
      </p:pic>
      <p:pic>
        <p:nvPicPr>
          <p:cNvPr id="5" name="Picture 4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09728"/>
            <a:ext cx="91798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73152"/>
            <a:ext cx="749807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A2540"/>
                </a:solidFill>
                <a:latin typeface="Arial"/>
              </a:defRPr>
            </a:pPr>
            <a:r>
              <a:t>IMPACT AND BENEFITS</a:t>
            </a:r>
          </a:p>
          <a:p>
            <a:pPr algn="ctr">
              <a:spcBef>
                <a:spcPts val="2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Transforming Victim Support Across India with Measurable 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43891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972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072EF"/>
                </a:solidFill>
              </a:defRPr>
            </a:pPr>
            <a:r>
              <a:t>THE IMPACT CHAIN (END-TO-END FLOW)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4023360" cy="56692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007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90472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0072EF"/>
                </a:solidFill>
              </a:defRPr>
            </a:pPr>
            <a:r>
              <a:t>1. Interaction Inception</a:t>
            </a:r>
          </a:p>
          <a:p>
            <a:pPr>
              <a:spcBef>
                <a:spcPts val="100"/>
              </a:spcBef>
              <a:defRPr sz="800">
                <a:solidFill>
                  <a:srgbClr val="475569"/>
                </a:solidFill>
              </a:defRPr>
            </a:pPr>
            <a:r>
              <a:t>Victim reaches out via 14566, Web Portal, Chatbot or IVRS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651760" y="2048256"/>
            <a:ext cx="182880" cy="128016"/>
          </a:xfrm>
          <a:prstGeom prst="downArrow">
            <a:avLst/>
          </a:prstGeom>
          <a:solidFill>
            <a:srgbClr val="007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194560"/>
            <a:ext cx="4023360" cy="566928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221992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6D28D9"/>
                </a:solidFill>
              </a:defRPr>
            </a:pPr>
            <a:r>
              <a:t>2. Real-Time AI Triage</a:t>
            </a:r>
          </a:p>
          <a:p>
            <a:pPr>
              <a:spcBef>
                <a:spcPts val="100"/>
              </a:spcBef>
              <a:defRPr sz="800">
                <a:solidFill>
                  <a:srgbClr val="475569"/>
                </a:solidFill>
              </a:defRPr>
            </a:pPr>
            <a:r>
              <a:t>Instant multimodal detection of distress, anxiety &amp; trauma indicators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651760" y="2779776"/>
            <a:ext cx="182880" cy="128016"/>
          </a:xfrm>
          <a:prstGeom prst="downArrow">
            <a:avLst/>
          </a:prstGeom>
          <a:solidFill>
            <a:srgbClr val="007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4023360" cy="56692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953512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F59E0B"/>
                </a:solidFill>
              </a:defRPr>
            </a:pPr>
            <a:r>
              <a:t>3. Risk Stratification</a:t>
            </a:r>
          </a:p>
          <a:p>
            <a:pPr>
              <a:spcBef>
                <a:spcPts val="100"/>
              </a:spcBef>
              <a:defRPr sz="800">
                <a:solidFill>
                  <a:srgbClr val="475569"/>
                </a:solidFill>
              </a:defRPr>
            </a:pPr>
            <a:r>
              <a:t>Dynamic severity classification: Low • Moderate • High/Critical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651760" y="3511296"/>
            <a:ext cx="182880" cy="128016"/>
          </a:xfrm>
          <a:prstGeom prst="downArrow">
            <a:avLst/>
          </a:prstGeom>
          <a:solidFill>
            <a:srgbClr val="007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4023360" cy="566928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85032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EF4444"/>
                </a:solidFill>
              </a:defRPr>
            </a:pPr>
            <a:r>
              <a:t>4. Prioritized Human Alert</a:t>
            </a:r>
          </a:p>
          <a:p>
            <a:pPr>
              <a:spcBef>
                <a:spcPts val="100"/>
              </a:spcBef>
              <a:defRPr sz="800">
                <a:solidFill>
                  <a:srgbClr val="475569"/>
                </a:solidFill>
              </a:defRPr>
            </a:pPr>
            <a:r>
              <a:t>Immediate alert with live telemetry sent to certified counsellor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651760" y="4242816"/>
            <a:ext cx="182880" cy="128016"/>
          </a:xfrm>
          <a:prstGeom prst="downArrow">
            <a:avLst/>
          </a:prstGeom>
          <a:solidFill>
            <a:srgbClr val="007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389120"/>
            <a:ext cx="4023360" cy="566928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416552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10B981"/>
                </a:solidFill>
              </a:defRPr>
            </a:pPr>
            <a:r>
              <a:t>5. Tailored Intervention</a:t>
            </a:r>
          </a:p>
          <a:p>
            <a:pPr>
              <a:spcBef>
                <a:spcPts val="100"/>
              </a:spcBef>
              <a:defRPr sz="800">
                <a:solidFill>
                  <a:srgbClr val="475569"/>
                </a:solidFill>
              </a:defRPr>
            </a:pPr>
            <a:r>
              <a:t>Empathetic counselling, legal aid, medical care, or emergency dispatch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2651760" y="4974336"/>
            <a:ext cx="182880" cy="128016"/>
          </a:xfrm>
          <a:prstGeom prst="downArrow">
            <a:avLst/>
          </a:prstGeom>
          <a:solidFill>
            <a:srgbClr val="007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5120640"/>
            <a:ext cx="4023360" cy="56692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007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148072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0072EF"/>
                </a:solidFill>
              </a:defRPr>
            </a:pPr>
            <a:r>
              <a:t>6. Better Recovery &amp; Justice</a:t>
            </a:r>
          </a:p>
          <a:p>
            <a:pPr>
              <a:spcBef>
                <a:spcPts val="100"/>
              </a:spcBef>
              <a:defRPr sz="800">
                <a:solidFill>
                  <a:srgbClr val="475569"/>
                </a:solidFill>
              </a:defRPr>
            </a:pPr>
            <a:r>
              <a:t>Faster crisis de-escalation, justice access, and institutional trust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1051560"/>
            <a:ext cx="6519672" cy="1115568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1124712"/>
            <a:ext cx="624535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72EF"/>
                </a:solidFill>
              </a:defRPr>
            </a:pPr>
            <a:r>
              <a:t>⚡ EARLY DETECTION OF ACUTE DISTRESS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Real-time identification of stress and trauma indicators during complainant interactions enables immediate psychological first-aid and reduces crisis escalation by up to 70%.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0" y="2331720"/>
            <a:ext cx="6519672" cy="1115568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7800" y="2404872"/>
            <a:ext cx="624535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🎯 PRIORITIZED HUMAN RESOURCE ALLOCATION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AI-generated risk scores eliminate manual triage bottlenecks, ensuring specialized counsellors and officers focus their immediate attention on the most vulnerable, high-risk cases.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20640" y="3611880"/>
            <a:ext cx="6519672" cy="1115568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57800" y="3685032"/>
            <a:ext cx="624535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6D28D9"/>
                </a:solidFill>
              </a:defRPr>
            </a:pPr>
            <a:r>
              <a:t>🌐 PAN-INDIA MULTILINGUAL ACCESSIBILITY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Bridges linguistic and digital divides by supporting diverse Indian languages and dialects across both modern smartphones and basic feature phones via low-bandwidth IVRS.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4892040"/>
            <a:ext cx="6519672" cy="1115568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57800" y="4965192"/>
            <a:ext cx="624535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26522"/>
                </a:solidFill>
              </a:defRPr>
            </a:pPr>
            <a:r>
              <a:t>📊 DATA-DRIVEN POLICY &amp; GOVERNANCE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Aggregated, anonymized macro-level trauma analytics empower the Ministry of Social Justice &amp; Empowerment with actionable insights for grievance management and welfare resource planning.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6172200"/>
            <a:ext cx="11091672" cy="50292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6199632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050">
                <a:solidFill>
                  <a:srgbClr val="FFFFFF"/>
                </a:solidFill>
                <a:latin typeface="Arial"/>
              </a:defRPr>
            </a:pPr>
            <a:r>
              <a:t>CORE PILLARS:   Victim-Centric   •   Privacy-First &amp; DPDP Compliant   •   Scalable Architecture   •   Human-in-the-Loop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"/>
            <a:ext cx="1680293" cy="566928"/>
          </a:xfrm>
          <a:prstGeom prst="rect">
            <a:avLst/>
          </a:prstGeom>
        </p:spPr>
      </p:pic>
      <p:pic>
        <p:nvPicPr>
          <p:cNvPr id="5" name="Picture 4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09728"/>
            <a:ext cx="91798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73152"/>
            <a:ext cx="749807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A2540"/>
                </a:solidFill>
                <a:latin typeface="Arial"/>
              </a:defRPr>
            </a:pPr>
            <a:r>
              <a:t>DEMO / PROTOTYPE</a:t>
            </a:r>
          </a:p>
          <a:p>
            <a:pPr algn="ctr">
              <a:spcBef>
                <a:spcPts val="2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Live System Demonstration &amp; Key Interface Walkthrough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35204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072EF"/>
                </a:solidFill>
              </a:defRPr>
            </a:pPr>
            <a:r>
              <a:t>1️⃣ VICTIM INTERACTION PORTAL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63040"/>
            <a:ext cx="3246120" cy="29260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📷</a:t>
            </a:r>
          </a:p>
          <a:p>
            <a:pPr algn="ctr">
              <a:spcBef>
                <a:spcPts val="400"/>
              </a:spcBef>
              <a:defRPr b="1" sz="1200">
                <a:solidFill>
                  <a:srgbClr val="0072EF"/>
                </a:solidFill>
              </a:defRPr>
            </a:pPr>
            <a:r>
              <a:t>PASTE SCREENSHOT HERE</a:t>
            </a:r>
          </a:p>
          <a:p>
            <a:pPr algn="ctr">
              <a:spcBef>
                <a:spcPts val="200"/>
              </a:spcBef>
              <a:defRPr b="1" sz="1000">
                <a:solidFill>
                  <a:srgbClr val="0A2540"/>
                </a:solidFill>
              </a:defRPr>
            </a:pPr>
            <a:r>
              <a:t>VICTIM CHAT &amp; VOICE INTERFACE</a:t>
            </a:r>
          </a:p>
          <a:p>
            <a:pPr algn="ctr">
              <a:spcBef>
                <a:spcPts val="400"/>
              </a:spcBef>
              <a:defRPr sz="850">
                <a:solidFill>
                  <a:srgbClr val="475569"/>
                </a:solidFill>
              </a:defRPr>
            </a:pPr>
            <a:r>
              <a:t>Paste screenshot of the live chat/voice conversation, audio waveform &amp; consent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80560"/>
            <a:ext cx="3246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• Multilingual voice &amp; text input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• Real-time distress feedback meter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• Informed consent &amp; safe exit toggle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051560"/>
            <a:ext cx="35204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1097280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6D28D9"/>
                </a:solidFill>
              </a:defRPr>
            </a:pPr>
            <a:r>
              <a:t>2️⃣ COUNSELLOR TELEMETRY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62272" y="1463040"/>
            <a:ext cx="3246120" cy="292608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C4B5F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2011680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📷</a:t>
            </a:r>
          </a:p>
          <a:p>
            <a:pPr algn="ctr">
              <a:spcBef>
                <a:spcPts val="400"/>
              </a:spcBef>
              <a:defRPr b="1" sz="1200">
                <a:solidFill>
                  <a:srgbClr val="6D28D9"/>
                </a:solidFill>
              </a:defRPr>
            </a:pPr>
            <a:r>
              <a:t>PASTE SCREENSHOT HERE</a:t>
            </a:r>
          </a:p>
          <a:p>
            <a:pPr algn="ctr">
              <a:spcBef>
                <a:spcPts val="200"/>
              </a:spcBef>
              <a:defRPr b="1" sz="1000">
                <a:solidFill>
                  <a:srgbClr val="0A2540"/>
                </a:solidFill>
              </a:defRPr>
            </a:pPr>
            <a:r>
              <a:t>COUNSELLOR LIVE TELEMETRY</a:t>
            </a:r>
          </a:p>
          <a:p>
            <a:pPr algn="ctr">
              <a:spcBef>
                <a:spcPts val="400"/>
              </a:spcBef>
              <a:defRPr sz="850">
                <a:solidFill>
                  <a:srgbClr val="475569"/>
                </a:solidFill>
              </a:defRPr>
            </a:pPr>
            <a:r>
              <a:t>Paste screenshot of the live distress gauge (0-100), acoustic tone/pitch graphs &amp; trauma flags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4480560"/>
            <a:ext cx="3246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• Dynamic Risk Score Gauge (0–100)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• Voice tremor &amp; speech pace graph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• Real-time trauma keyword alerts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1051560"/>
            <a:ext cx="35204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1097280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26522"/>
                </a:solidFill>
              </a:defRPr>
            </a:pPr>
            <a:r>
              <a:t>3️⃣ CASE TRIAGE &amp; ESCALATION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1463040"/>
            <a:ext cx="3246120" cy="292608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DBA7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2011680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📷</a:t>
            </a:r>
          </a:p>
          <a:p>
            <a:pPr algn="ctr">
              <a:spcBef>
                <a:spcPts val="400"/>
              </a:spcBef>
              <a:defRPr b="1" sz="1200">
                <a:solidFill>
                  <a:srgbClr val="F26522"/>
                </a:solidFill>
              </a:defRPr>
            </a:pPr>
            <a:r>
              <a:t>PASTE SCREENSHOT HERE</a:t>
            </a:r>
          </a:p>
          <a:p>
            <a:pPr algn="ctr">
              <a:spcBef>
                <a:spcPts val="200"/>
              </a:spcBef>
              <a:defRPr b="1" sz="1000">
                <a:solidFill>
                  <a:srgbClr val="0A2540"/>
                </a:solidFill>
              </a:defRPr>
            </a:pPr>
            <a:r>
              <a:t>CASE TRIAGE &amp; SUPPORT ACTION</a:t>
            </a:r>
          </a:p>
          <a:p>
            <a:pPr algn="ctr">
              <a:spcBef>
                <a:spcPts val="400"/>
              </a:spcBef>
              <a:defRPr sz="850">
                <a:solidFill>
                  <a:srgbClr val="475569"/>
                </a:solidFill>
              </a:defRPr>
            </a:pPr>
            <a:r>
              <a:t>Paste screenshot of the prioritized case queue, automated summary &amp; referral pathways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4480560"/>
            <a:ext cx="3246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• Dynamic Severity (High/Critical)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• Auto-generated clinical summary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• 1-Click legal/medical referral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833872"/>
            <a:ext cx="11091672" cy="65836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007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87044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72EF"/>
                </a:solidFill>
              </a:defRPr>
            </a:pPr>
            <a:r>
              <a:t>💡 INSTRUCTIONS FOR PRESENTATION:</a:t>
            </a:r>
          </a:p>
          <a:p>
            <a:pPr>
              <a:spcBef>
                <a:spcPts val="100"/>
              </a:spcBef>
              <a:defRPr sz="900">
                <a:solidFill>
                  <a:srgbClr val="0F172A"/>
                </a:solidFill>
              </a:defRPr>
            </a:pPr>
            <a:r>
              <a:t>This slide is pre-configured with 16:9 aspect-ratio screenshot frames. Simply copy your prototype screenshots (Cmd+C) and paste (Cmd+V) directly into the dashed frames above. You can easily resize or adjust each frame in PowerPoint or Google Slides.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
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57200"/>
            <a:ext cx="10972800" cy="731520"/>
          </a:xfrm>
          <a:prstGeom prst="rect">
            <a:avLst/>
          </a:prstGeom>
          <a:noFill/>
        </p:spPr>
        <p:txBody>
          <a:bodyPr wrap="none">
            <a:spAutoFit/>
          </a:bodyPr>
          <a:lstStyle/>
          <a:p>
            <a:pPr>
              <a:defRPr sz="3000" b="1">
                <a:solidFill>
                  <a:srgbClr val="1E3A8A"/>
                </a:solidFill>
              </a:defRPr>
            </a:pPr>
            <a:r>
              <a:t>SMART INDIA HACKATHON 2026</a:t>
            </a:r>
          </a:p>
        </p:txBody>
      </p:sp>
      <p:sp>
        <p:nvSpPr>
          <p:cNvPr id="3" name="TextBox 2"/>
          <p:cNvSpPr txBox="1"/>
          <p:nvPr/>
        </p:nvSpPr>
        <p:spPr>
          <a:xfrm>
            <a:off x="548640" y="1371600"/>
            <a:ext cx="7315200" cy="4754880"/>
          </a:xfrm>
          <a:prstGeom prst="rect">
            <a:avLst/>
          </a:prstGeom>
          <a:noFill/>
        </p:spPr>
        <p:txBody>
          <a:bodyPr wrap="square">
            <a:spAutoFit/>
          </a:bodyPr>
          <a:lstStyle/>
          <a:p>
            <a:pPr>
              <a:spcBef>
                <a:spcPts val="1200"/>
              </a:spcBef>
            </a:pPr>
            <a:r>
              <a:rPr b="1" sz="1500">
                <a:solidFill>
                  <a:srgbClr val="0F172A"/>
                </a:solidFill>
              </a:rPr>
              <a:t>• Problem Statement ID - </a:t>
            </a:r>
            <a:r>
              <a:rPr b="1" sz="1400">
                <a:solidFill>
                  <a:srgbClr val="0F172A"/>
                </a:solidFill>
              </a:rPr>
              <a:t>SIH26093</a:t>
            </a:r>
          </a:p>
          <a:p>
            <a:pPr>
              <a:spcBef>
                <a:spcPts val="1200"/>
              </a:spcBef>
            </a:pPr>
            <a:r>
              <a:rPr b="1" sz="1500">
                <a:solidFill>
                  <a:srgbClr val="0F172A"/>
                </a:solidFill>
              </a:rPr>
              <a:t>• Problem Statement Title - </a:t>
            </a:r>
            <a:r>
              <a:rPr b="0" sz="1400">
                <a:solidFill>
                  <a:srgbClr val="0F172A"/>
                </a:solidFill>
              </a:rPr>
              <a:t>AI-Based Real-Time Stress and Trauma Assessment Module for Victims/Complainants Accessing NHAA (14566) and Integrated Portal</a:t>
            </a:r>
          </a:p>
          <a:p>
            <a:pPr>
              <a:spcBef>
                <a:spcPts val="1200"/>
              </a:spcBef>
            </a:pPr>
            <a:r>
              <a:rPr b="1" sz="1500">
                <a:solidFill>
                  <a:srgbClr val="0F172A"/>
                </a:solidFill>
              </a:rPr>
              <a:t>• Theme - </a:t>
            </a:r>
            <a:r>
              <a:rPr b="1" sz="1400">
                <a:solidFill>
                  <a:srgbClr val="0F172A"/>
                </a:solidFill>
              </a:rPr>
              <a:t>MedTech / BioTech / HealthTech</a:t>
            </a:r>
          </a:p>
          <a:p>
            <a:pPr>
              <a:spcBef>
                <a:spcPts val="1200"/>
              </a:spcBef>
            </a:pPr>
            <a:r>
              <a:rPr b="1" sz="1500">
                <a:solidFill>
                  <a:srgbClr val="0F172A"/>
                </a:solidFill>
              </a:rPr>
              <a:t>• PS Category - </a:t>
            </a:r>
            <a:r>
              <a:rPr b="1" sz="1400">
                <a:solidFill>
                  <a:srgbClr val="0F172A"/>
                </a:solidFill>
              </a:rPr>
              <a:t>Software</a:t>
            </a:r>
          </a:p>
          <a:p>
            <a:pPr>
              <a:spcBef>
                <a:spcPts val="1200"/>
              </a:spcBef>
            </a:pPr>
            <a:r>
              <a:rPr b="1" sz="1500">
                <a:solidFill>
                  <a:srgbClr val="0F172A"/>
                </a:solidFill>
              </a:rPr>
              <a:t>• Team ID - </a:t>
            </a:r>
            <a:r>
              <a:rPr b="1" sz="1400">
                <a:solidFill>
                  <a:srgbClr val="0F172A"/>
                </a:solidFill>
              </a:rPr>
              <a:t>SIH2026-VEOM-093</a:t>
            </a:r>
          </a:p>
          <a:p>
            <a:pPr>
              <a:spcBef>
                <a:spcPts val="1200"/>
              </a:spcBef>
            </a:pPr>
            <a:r>
              <a:rPr b="1" sz="1500">
                <a:solidFill>
                  <a:srgbClr val="0F172A"/>
                </a:solidFill>
              </a:rPr>
              <a:t>• Team Name - </a:t>
            </a:r>
            <a:r>
              <a:rPr b="1" sz="1400">
                <a:solidFill>
                  <a:srgbClr val="0F172A"/>
                </a:solidFill>
              </a:rPr>
              <a:t>Veom Vegas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286000" y="228600"/>
            <a:ext cx="7619695" cy="731520"/>
          </a:xfrm>
          <a:prstGeom prst="rect">
            <a:avLst/>
          </a:prstGeom>
          <a:noFill/>
        </p:spPr>
        <p:txBody>
          <a:bodyPr wrap="square">
            <a:spAutoFit/>
          </a:bodyPr>
          <a:lstStyle/>
          <a:p>
            <a:pPr algn="ctr">
              <a:defRPr sz="2400" b="1">
                <a:solidFill>
                  <a:srgbClr val="0F172A"/>
                </a:solidFill>
                <a:latin typeface="Arial"/>
              </a:defRPr>
            </a:pPr>
            <a:r>
              <a:t>IDEA TITLE</a:t>
            </a:r>
          </a:p>
        </p:txBody>
      </p:sp>
      <p:sp>
        <p:nvSpPr>
          <p:cNvPr id="3" name="Rounded Rectangle 2"/>
          <p:cNvSpPr/>
          <p:nvPr/>
        </p:nvSpPr>
        <p:spPr>
          <a:xfrm>
            <a:off x="457200" y="274320"/>
            <a:ext cx="1828800" cy="502920"/>
          </a:xfrm>
          <a:prstGeom prst="roundRect">
            <a:avLst/>
          </a:prstGeom>
          <a:noFill/>
          <a:ln w="2540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tIns="54864"/>
          <a:lstStyle/>
          <a:p>
            <a:pPr algn="ctr">
              <a:defRPr sz="1100" b="1">
                <a:solidFill>
                  <a:srgbClr val="0F172A"/>
                </a:solidFill>
              </a:defRPr>
            </a:pPr>
            <a:r>
              <a:t>VEOM VEGAS</a:t>
            </a:r>
          </a:p>
        </p:txBody>
      </p:sp>
      <p:sp>
        <p:nvSpPr>
          <p:cNvPr id="4" name="TextBox 3"/>
          <p:cNvSpPr txBox="1"/>
          <p:nvPr/>
        </p:nvSpPr>
        <p:spPr>
          <a:xfrm>
            <a:off x="9875520" y="182880"/>
            <a:ext cx="1828800" cy="640080"/>
          </a:xfrm>
          <a:prstGeom prst="rect">
            <a:avLst/>
          </a:prstGeom>
          <a:noFill/>
        </p:spPr>
        <p:txBody>
          <a:bodyPr wrap="none">
            <a:spAutoFit/>
          </a:bodyPr>
          <a:lstStyle/>
          <a:p>
            <a:pPr algn="r">
              <a:defRPr sz="950" b="1">
                <a:solidFill>
                  <a:srgbClr val="0F172A"/>
                </a:solidFill>
              </a:defRPr>
            </a:pPr>
            <a:r>
              <a:t>SMART INDIA</a:t>
            </a:r>
            <a:br/>
            <a:r>
              <a:t>HACKATHON 2026</a:t>
            </a:r>
          </a:p>
        </p:txBody>
      </p:sp>
      <p:sp>
        <p:nvSpPr>
          <p:cNvPr id="5" name="Rectangle 4"/>
          <p:cNvSpPr/>
          <p:nvPr/>
        </p:nvSpPr>
        <p:spPr>
          <a:xfrm>
            <a:off x="457200" y="868680"/>
            <a:ext cx="1127729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011680" y="365760"/>
            <a:ext cx="548640" cy="365760"/>
          </a:xfrm>
          <a:prstGeom prst="rect">
            <a:avLst/>
          </a:prstGeom>
          <a:noFill/>
        </p:spPr>
        <p:txBody>
          <a:bodyPr wrap="none">
            <a:spAutoFit/>
          </a:bodyPr>
          <a:lstStyle/>
          <a:p>
            <a:pPr>
              <a:defRPr sz="1200" b="1">
                <a:solidFill>
                  <a:srgbClr val="475569"/>
                </a:solidFill>
              </a:defRPr>
            </a:pPr>
            <a:r>
              <a:t>2</a:t>
            </a:r>
          </a:p>
        </p:txBody>
      </p:sp>
      <p:sp>
        <p:nvSpPr>
          <p:cNvPr id="7" name="TextBox 6"/>
          <p:cNvSpPr txBox="1"/>
          <p:nvPr/>
        </p:nvSpPr>
        <p:spPr>
          <a:xfrm>
            <a:off x="548640" y="960120"/>
            <a:ext cx="11094415" cy="548640"/>
          </a:xfrm>
          <a:prstGeom prst="rect">
            <a:avLst/>
          </a:prstGeom>
          <a:noFill/>
        </p:spPr>
        <p:txBody>
          <a:bodyPr wrap="none">
            <a:spAutoFit/>
          </a:bodyPr>
          <a:lstStyle/>
          <a:p>
            <a:pPr algn="ctr">
              <a:defRPr sz="1600" b="1">
                <a:solidFill>
                  <a:srgbClr val="0F172A"/>
                </a:solidFill>
              </a:defRPr>
            </a:pPr>
            <a:r>
              <a:t>SVI – SMART VICTIM INTELLIGENCE</a:t>
            </a:r>
            <a:br/>
            <a:r>
              <a:t>“ From Listening to Meaningful Support ”</a:t>
            </a:r>
          </a:p>
        </p:txBody>
      </p:sp>
      <p:sp>
        <p:nvSpPr>
          <p:cNvPr id="8" name="TextBox 7"/>
          <p:cNvSpPr txBox="1"/>
          <p:nvPr/>
        </p:nvSpPr>
        <p:spPr>
          <a:xfrm>
            <a:off x="548640" y="1600200"/>
            <a:ext cx="5486400" cy="1188720"/>
          </a:xfrm>
          <a:prstGeom prst="rect">
            <a:avLst/>
          </a:prstGeom>
          <a:noFill/>
        </p:spPr>
        <p:txBody>
          <a:bodyPr wrap="square">
            <a:spAutoFit/>
          </a:bodyPr>
          <a:lstStyle/>
          <a:p>
            <a:pPr>
              <a:defRPr sz="1050">
                <a:solidFill>
                  <a:srgbClr val="0F172A"/>
                </a:solidFill>
              </a:defRPr>
            </a:pPr>
            <a:r>
              <a:t>IDEA / SOLUTION: SVI is an AI-powered real-time stress and trauma assessment module integrated with NHAA (14566) and its digital access channels. It analyzes voluntary interactions such as text, voice and user responses to identify indicators of emotional distress and trauma.</a:t>
            </a:r>
          </a:p>
        </p:txBody>
      </p:sp>
      <p:sp>
        <p:nvSpPr>
          <p:cNvPr id="9" name="Rounded Rectangle 8"/>
          <p:cNvSpPr/>
          <p:nvPr/>
        </p:nvSpPr>
        <p:spPr>
          <a:xfrm>
            <a:off x="548640" y="2926080"/>
            <a:ext cx="2651760" cy="3474720"/>
          </a:xfrm>
          <a:prstGeom prst="roundRect">
            <a:avLst/>
          </a:prstGeom>
          <a:solidFill>
            <a:srgbClr val="FFFF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2563EB"/>
                </a:solidFill>
              </a:defRPr>
            </a:pPr>
            <a:r>
              <a:t>❖ Problem Resolution:</a:t>
            </a:r>
          </a:p>
          <a:p>
            <a:pPr>
              <a:spcBef>
                <a:spcPts val="400"/>
              </a:spcBef>
              <a:defRPr sz="850">
                <a:solidFill>
                  <a:srgbClr val="0F172A"/>
                </a:solidFill>
              </a:defRPr>
            </a:pPr>
            <a:r>
              <a:t>➤ Detects emotional distress during the interaction itself.</a:t>
            </a:r>
          </a:p>
          <a:p>
            <a:pPr>
              <a:spcBef>
                <a:spcPts val="400"/>
              </a:spcBef>
              <a:defRPr sz="850">
                <a:solidFill>
                  <a:srgbClr val="0F172A"/>
                </a:solidFill>
              </a:defRPr>
            </a:pPr>
            <a:r>
              <a:t>➤ Helps identify high-risk cases earlier.</a:t>
            </a:r>
          </a:p>
          <a:p>
            <a:pPr>
              <a:spcBef>
                <a:spcPts val="400"/>
              </a:spcBef>
              <a:defRPr sz="850">
                <a:solidFill>
                  <a:srgbClr val="0F172A"/>
                </a:solidFill>
              </a:defRPr>
            </a:pPr>
            <a:r>
              <a:t>➤ Supports prioritization of cases requiring human attention.</a:t>
            </a:r>
          </a:p>
          <a:p>
            <a:pPr>
              <a:spcBef>
                <a:spcPts val="400"/>
              </a:spcBef>
              <a:defRPr sz="850">
                <a:solidFill>
                  <a:srgbClr val="0F172A"/>
                </a:solidFill>
              </a:defRPr>
            </a:pPr>
            <a:r>
              <a:t>➤ Converts unstructured conversations into actionable assessment insights.</a:t>
            </a:r>
          </a:p>
          <a:p>
            <a:pPr>
              <a:spcBef>
                <a:spcPts val="400"/>
              </a:spcBef>
              <a:defRPr sz="850">
                <a:solidFill>
                  <a:srgbClr val="0F172A"/>
                </a:solidFill>
              </a:defRPr>
            </a:pPr>
            <a:r>
              <a:t>➤ Enables consistent assessment across helpline and digital channels.</a:t>
            </a:r>
          </a:p>
        </p:txBody>
      </p:sp>
      <p:sp>
        <p:nvSpPr>
          <p:cNvPr id="10" name="Rounded Rectangle 9"/>
          <p:cNvSpPr/>
          <p:nvPr/>
        </p:nvSpPr>
        <p:spPr>
          <a:xfrm>
            <a:off x="3383280" y="2926080"/>
            <a:ext cx="2651760" cy="3474720"/>
          </a:xfrm>
          <a:prstGeom prst="roundRect">
            <a:avLst/>
          </a:prstGeom>
          <a:solidFill>
            <a:srgbClr val="FFFF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2563EB"/>
                </a:solidFill>
              </a:defRPr>
            </a:pPr>
            <a:r>
              <a:t>❖ Unique Value Propositions:</a:t>
            </a:r>
          </a:p>
          <a:p>
            <a:pPr>
              <a:spcBef>
                <a:spcPts val="400"/>
              </a:spcBef>
              <a:defRPr sz="850">
                <a:solidFill>
                  <a:srgbClr val="0F172A"/>
                </a:solidFill>
              </a:defRPr>
            </a:pPr>
            <a:r>
              <a:t>➤ Real-time AI-assisted assessment.</a:t>
            </a:r>
          </a:p>
          <a:p>
            <a:pPr>
              <a:spcBef>
                <a:spcPts val="400"/>
              </a:spcBef>
              <a:defRPr sz="850">
                <a:solidFill>
                  <a:srgbClr val="0F172A"/>
                </a:solidFill>
              </a:defRPr>
            </a:pPr>
            <a:r>
              <a:t>➤ Multimodal stress &amp; trauma analysis.</a:t>
            </a:r>
          </a:p>
          <a:p>
            <a:pPr>
              <a:spcBef>
                <a:spcPts val="400"/>
              </a:spcBef>
              <a:defRPr sz="850">
                <a:solidFill>
                  <a:srgbClr val="0F172A"/>
                </a:solidFill>
              </a:defRPr>
            </a:pPr>
            <a:r>
              <a:t>➤ Early identification of high-risk cases.</a:t>
            </a:r>
          </a:p>
          <a:p>
            <a:pPr>
              <a:spcBef>
                <a:spcPts val="400"/>
              </a:spcBef>
              <a:defRPr sz="850">
                <a:solidFill>
                  <a:srgbClr val="0F172A"/>
                </a:solidFill>
              </a:defRPr>
            </a:pPr>
            <a:r>
              <a:t>➤ Human-in-the-loop intervention.</a:t>
            </a:r>
          </a:p>
          <a:p>
            <a:pPr>
              <a:spcBef>
                <a:spcPts val="400"/>
              </a:spcBef>
              <a:defRPr sz="850">
                <a:solidFill>
                  <a:srgbClr val="0F172A"/>
                </a:solidFill>
              </a:defRPr>
            </a:pPr>
            <a:r>
              <a:t>➤ Multilingual and accessible design.</a:t>
            </a:r>
          </a:p>
          <a:p>
            <a:pPr>
              <a:spcBef>
                <a:spcPts val="400"/>
              </a:spcBef>
              <a:defRPr sz="850">
                <a:solidFill>
                  <a:srgbClr val="0F172A"/>
                </a:solidFill>
              </a:defRPr>
            </a:pPr>
            <a:r>
              <a:t>➤ Privacy-first and consent-driven architecture.</a:t>
            </a:r>
          </a:p>
        </p:txBody>
      </p:sp>
      <p:sp>
        <p:nvSpPr>
          <p:cNvPr id="11" name="Rounded Rectangle 10"/>
          <p:cNvSpPr/>
          <p:nvPr/>
        </p:nvSpPr>
        <p:spPr>
          <a:xfrm>
            <a:off x="6217920" y="1600200"/>
            <a:ext cx="5394960" cy="4800600"/>
          </a:xfrm>
          <a:prstGeom prst="round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wrap="square" lIns="182880" tIns="182880" rIns="182880" bIns="182880"/>
          <a:lstStyle/>
          <a:p>
            <a:pPr algn="ctr">
              <a:defRPr sz="1100" b="1">
                <a:solidFill>
                  <a:srgbClr val="38BDF8"/>
                </a:solidFill>
              </a:defRPr>
            </a:pPr>
            <a:r>
              <a:t>🏛️ SVI SUPPORT COMPANION DASHBOARD (MOCKUP DIAGRAM)</a:t>
            </a:r>
          </a:p>
          <a:p>
            <a:pPr>
              <a:spcBef>
                <a:spcPts val="1000"/>
              </a:spcBef>
              <a:defRPr sz="900">
                <a:solidFill>
                  <a:srgbClr val="34D399"/>
                </a:solidFill>
              </a:defRPr>
            </a:pPr>
            <a:r>
              <a:t>🔒 DPDP 2023 Explicit Dual Consent Gate  |  Anonymous Session</a:t>
            </a:r>
          </a:p>
          <a:p>
            <a:pPr>
              <a:spcBef>
                <a:spcPts val="1600"/>
              </a:spcBef>
              <a:defRPr sz="950" b="1">
                <a:solidFill>
                  <a:srgbClr val="FCA5A5"/>
                </a:solidFill>
              </a:defRPr>
            </a:pPr>
            <a:r>
              <a:t>🚨 Emergency Escalation Triggered:</a:t>
            </a:r>
            <a:br/>
            <a:r>
              <a:t>'Call 112 or Tele-MANAS 14416 directly for immediate danger.'</a:t>
            </a:r>
          </a:p>
          <a:p>
            <a:pPr>
              <a:spcBef>
                <a:spcPts val="3600"/>
              </a:spcBef>
              <a:defRPr sz="950" b="1">
                <a:solidFill>
                  <a:srgbClr val="93C5FD"/>
                </a:solidFill>
              </a:defRPr>
            </a:pPr>
            <a:r>
              <a:t>🔗 CONCEPTUAL DIAGRAM: Victim / Complainant  ➔  NHAA 14566 Portal  ➔  SVI AI Assessment Support Layer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